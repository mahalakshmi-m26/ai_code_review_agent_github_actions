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scope: this is the P1 proof of concept and migration story. The deck describes the implementation in the central reviewer repository; it does not claim production certification. P2 is future work and is not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business need as consistency and workflow fit: review happens when a PR changes, the policy is centralized, and results return to GitHub. Avoid claiming measured productivity, defect reduction, or quality improvement; no such metrics are captured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paths. The earlier architecture was provided as context and is not implemented in this repository. The new path uses the GitHub PR event, Actions, a reusable workflow, the central reviewer, the model endpoint, validation, and a PR-level review. GitHub REST is used directly by the Python reviewer; the current P1 has no GitHub MCP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these as architectural challenges motivating the change, not measured incidents or costs. GitHub Actions removes the need for the separately running listener and tunnel in this workflow. It still requires secure secret handling, correct permissions, and workflow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actual workflow. It checks out the central repository at main and the target PR head, sets up Python 3.12, installs requirements, and runs reviewer.main. The job grants contents read and pull-requests write. GEP_API_KEY is required; the GitHub API token is github.token passed as GITHUB_TOKEN.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repository holds the reusable workflow, Python reviewer, enterprise policy, models, and tests. Repo A and Repo B are the requested consumer examples; their actual caller workflow files are not present in this workspace. Each consumer needs a minimal caller workflow plus configured secret and cross-repository workflow access. The current reusable YAML checks out this central repo at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trigger names are configured in the README caller workflow example. Opened and reopened initiate review; synchronize reruns review after the PR branch receives new commits. All follow the same reusable workflow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implemented pipeline. The reviewer obtains changed-file patches from the GitHub REST API, filters generated/build paths, lockfiles, binary extensions, and patchless files, then enforces the configured caps. It loads enterprise_review.md and sends a bounded prompt to the Capgemini OpenAI-compatible chat completions endpoint. It parses the model JSON, validates the Pydantic model, formats the review, and posts a COMMENT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demonstrated code-level outcomes, not business metrics. The tests cover file filtering and truncation, policy loading, prompt untrusted-data language, Markdown rendering, malformed JSON handling, schema validation, severity rejection, and a nullable line. They mock the model endpoint and do not prove a live PR run or model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requested presentation calls for Python, JavaScript, and Java. Be precise: the review code treats patches as text and uses the same model prompt for all. Python-style examples occur in unit tests, but there are no dedicated JavaScript or Java fixtures and no language-specific analyzer. Propose a small controlled PR for each language as a follow-up validation demo; do not present this matrix as completed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the shape and tone of a finding. These examples are explicitly illustrative and are not copied from a live model response or PR. Both show Line unknown because P1 allows line to be null and has no deterministic mapping to diff hunks. The actual renderer includes severity, category, file, issue, recommendation, and suggested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practical benefits in scope: no FastAPI listener or ngrok tunnel is required in this P1 execution path; a reusable workflow centralizes behavior; and validated structured output is returned to the PR. Also state what remains: secret configuration, GitHub permissions, external service availability, and human review still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line mapping: the output may say Line unknown; a numeric model-supplied line is not validated either. The review is a single PR summary, with no inline comments, duplicate handling, or resolved thread lifecycle. Language-specific checks and recorded live end-to-end evidence are absent. These are known P1 boundaries, not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 is roadmap only. First map model findings deterministically to the actual changed diff, validate GitHub review-comment positions, and test edge cases such as deleted lines, multiple hunks, renames, and invalid locations. Only then create inline comments for findings with valid mappings, preserving a PR-level summary fallback. This deck does not implement P2.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summarizing the implemented P1 path and its key boundary. GitHub Actions replaces the separate listener and tunnel in this flow; reusable code and policy return a Pydantic-validated advisory review. The next engineering step is deterministic finding-to-diff mapping, which unlocks safe inline placement. Invite questions about permissions, trust boundaries, language evidence, and line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421"/>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C7ED65"/>
          </a:solidFill>
          <a:ln w="12700">
            <a:solidFill>
              <a:srgbClr val="C7ED65">
                <a:alpha val="0"/>
              </a:srgbClr>
            </a:solidFill>
            <a:prstDash val="solid"/>
          </a:ln>
        </p:spPr>
      </p:sp>
      <p:sp>
        <p:nvSpPr>
          <p:cNvPr id="3" name="Text 1"/>
          <p:cNvSpPr txBox="1"/>
          <p:nvPr/>
        </p:nvSpPr>
        <p:spPr>
          <a:xfrm>
            <a:off x="804672" y="749808"/>
            <a:ext cx="5029200"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C7ED65"/>
                </a:solidFill>
                <a:latin typeface="Aptos" pitchFamily="34" charset="0"/>
                <a:ea typeface="Aptos" pitchFamily="34" charset="-122"/>
                <a:cs typeface="Aptos" pitchFamily="34" charset="-120"/>
              </a:rPr>
              <a:t>PROOF OF CONCEPT  /  P1</a:t>
            </a:r>
            <a:endParaRPr lang="en-US" sz="1100" dirty="0"/>
          </a:p>
        </p:txBody>
      </p:sp>
      <p:sp>
        <p:nvSpPr>
          <p:cNvPr id="4" name="Text 2"/>
          <p:cNvSpPr txBox="1"/>
          <p:nvPr/>
        </p:nvSpPr>
        <p:spPr>
          <a:xfrm>
            <a:off x="804672" y="1481328"/>
            <a:ext cx="9966960" cy="713232"/>
          </a:xfrm>
          <a:prstGeom prst="rect">
            <a:avLst/>
          </a:prstGeom>
          <a:noFill/>
          <a:ln/>
        </p:spPr>
        <p:txBody>
          <a:bodyPr wrap="square" lIns="0" tIns="0" rIns="0" bIns="0" rtlCol="0" anchor="ctr">
            <a:normAutofit/>
          </a:bodyPr>
          <a:lstStyle/>
          <a:p>
            <a:pPr algn="l" indent="0" marL="0">
              <a:buNone/>
            </a:pPr>
            <a:r>
              <a:rPr lang="en-US" sz="3800" b="1" dirty="0">
                <a:solidFill>
                  <a:srgbClr val="FFFFFF"/>
                </a:solidFill>
                <a:latin typeface="Aptos Display" pitchFamily="34" charset="0"/>
                <a:ea typeface="Aptos Display" pitchFamily="34" charset="-122"/>
                <a:cs typeface="Aptos Display" pitchFamily="34" charset="-120"/>
              </a:rPr>
              <a:t>AI Code Review Agent</a:t>
            </a:r>
            <a:endParaRPr lang="en-US" sz="3800" dirty="0"/>
          </a:p>
        </p:txBody>
      </p:sp>
      <p:sp>
        <p:nvSpPr>
          <p:cNvPr id="5" name="Text 3"/>
          <p:cNvSpPr txBox="1"/>
          <p:nvPr/>
        </p:nvSpPr>
        <p:spPr>
          <a:xfrm>
            <a:off x="822960" y="2331720"/>
            <a:ext cx="9601200" cy="502920"/>
          </a:xfrm>
          <a:prstGeom prst="rect">
            <a:avLst/>
          </a:prstGeom>
          <a:noFill/>
          <a:ln/>
        </p:spPr>
        <p:txBody>
          <a:bodyPr wrap="square" lIns="0" tIns="0" rIns="0" bIns="0" rtlCol="0" anchor="ctr">
            <a:normAutofit/>
          </a:bodyPr>
          <a:lstStyle/>
          <a:p>
            <a:pPr algn="l" indent="0" marL="0">
              <a:buNone/>
            </a:pPr>
            <a:r>
              <a:rPr lang="en-US" sz="2500" dirty="0">
                <a:solidFill>
                  <a:srgbClr val="C9D9D1"/>
                </a:solidFill>
                <a:latin typeface="Aptos" pitchFamily="34" charset="0"/>
                <a:ea typeface="Aptos" pitchFamily="34" charset="-122"/>
                <a:cs typeface="Aptos" pitchFamily="34" charset="-120"/>
              </a:rPr>
              <a:t>GitHub Actions Migration</a:t>
            </a:r>
            <a:endParaRPr lang="en-US" sz="2500" dirty="0"/>
          </a:p>
        </p:txBody>
      </p:sp>
      <p:sp>
        <p:nvSpPr>
          <p:cNvPr id="6" name="Shape 4"/>
          <p:cNvSpPr/>
          <p:nvPr/>
        </p:nvSpPr>
        <p:spPr>
          <a:xfrm>
            <a:off x="822960" y="3163824"/>
            <a:ext cx="4206240" cy="22860"/>
          </a:xfrm>
          <a:prstGeom prst="line">
            <a:avLst/>
          </a:prstGeom>
          <a:solidFill>
            <a:srgbClr val="28715F"/>
          </a:solidFill>
          <a:ln w="12700">
            <a:solidFill>
              <a:srgbClr val="28715F">
                <a:alpha val="0"/>
              </a:srgbClr>
            </a:solidFill>
            <a:prstDash val="solid"/>
          </a:ln>
        </p:spPr>
      </p:sp>
      <p:sp>
        <p:nvSpPr>
          <p:cNvPr id="7" name="Text 5"/>
          <p:cNvSpPr txBox="1"/>
          <p:nvPr/>
        </p:nvSpPr>
        <p:spPr>
          <a:xfrm>
            <a:off x="822960" y="3474720"/>
            <a:ext cx="8869680" cy="502920"/>
          </a:xfrm>
          <a:prstGeom prst="rect">
            <a:avLst/>
          </a:prstGeom>
          <a:noFill/>
          <a:ln/>
        </p:spPr>
        <p:txBody>
          <a:bodyPr wrap="square" lIns="0" tIns="0" rIns="0" bIns="0" rtlCol="0" anchor="ctr">
            <a:normAutofit/>
          </a:bodyPr>
          <a:lstStyle/>
          <a:p>
            <a:pPr algn="l" indent="0" marL="0">
              <a:buNone/>
            </a:pPr>
            <a:r>
              <a:rPr lang="en-US" sz="1700" dirty="0">
                <a:solidFill>
                  <a:srgbClr val="FFFFFF"/>
                </a:solidFill>
                <a:latin typeface="Aptos" pitchFamily="34" charset="0"/>
                <a:ea typeface="Aptos" pitchFamily="34" charset="-122"/>
                <a:cs typeface="Aptos" pitchFamily="34" charset="-120"/>
              </a:rPr>
              <a:t>From webhook-hosted review to a reusable, event-driven PR workflow</a:t>
            </a:r>
            <a:endParaRPr lang="en-US" sz="1700" dirty="0"/>
          </a:p>
        </p:txBody>
      </p:sp>
      <p:sp>
        <p:nvSpPr>
          <p:cNvPr id="8" name="Text 6"/>
          <p:cNvSpPr txBox="1"/>
          <p:nvPr/>
        </p:nvSpPr>
        <p:spPr>
          <a:xfrm>
            <a:off x="822960" y="5760720"/>
            <a:ext cx="2011680" cy="228600"/>
          </a:xfrm>
          <a:prstGeom prst="rect">
            <a:avLst/>
          </a:prstGeom>
          <a:noFill/>
          <a:ln/>
        </p:spPr>
        <p:txBody>
          <a:bodyPr wrap="square" lIns="0" tIns="0" rIns="0" bIns="0" rtlCol="0" anchor="ctr">
            <a:normAutofit/>
          </a:bodyPr>
          <a:lstStyle/>
          <a:p>
            <a:pPr algn="l" indent="0" marL="0">
              <a:buNone/>
            </a:pPr>
            <a:r>
              <a:rPr lang="en-US" sz="1100" b="1" dirty="0">
                <a:solidFill>
                  <a:srgbClr val="C7ED65"/>
                </a:solidFill>
                <a:latin typeface="Aptos" pitchFamily="34" charset="0"/>
                <a:ea typeface="Aptos" pitchFamily="34" charset="-122"/>
                <a:cs typeface="Aptos" pitchFamily="34" charset="-120"/>
              </a:rPr>
              <a:t>P1 completed path</a:t>
            </a:r>
            <a:endParaRPr lang="en-US" sz="1100" dirty="0"/>
          </a:p>
        </p:txBody>
      </p:sp>
      <p:sp>
        <p:nvSpPr>
          <p:cNvPr id="9" name="Text 7"/>
          <p:cNvSpPr txBox="1"/>
          <p:nvPr/>
        </p:nvSpPr>
        <p:spPr>
          <a:xfrm>
            <a:off x="2926080" y="5760720"/>
            <a:ext cx="5394960" cy="228600"/>
          </a:xfrm>
          <a:prstGeom prst="rect">
            <a:avLst/>
          </a:prstGeom>
          <a:noFill/>
          <a:ln/>
        </p:spPr>
        <p:txBody>
          <a:bodyPr wrap="square" lIns="0" tIns="0" rIns="0" bIns="0" rtlCol="0" anchor="ctr">
            <a:normAutofit/>
          </a:bodyPr>
          <a:lstStyle/>
          <a:p>
            <a:pPr algn="l" indent="0" marL="0">
              <a:buNone/>
            </a:pPr>
            <a:r>
              <a:rPr lang="en-US" sz="1100" dirty="0">
                <a:solidFill>
                  <a:srgbClr val="C9D9D1"/>
                </a:solidFill>
                <a:latin typeface="Aptos" pitchFamily="34" charset="0"/>
                <a:ea typeface="Aptos" pitchFamily="34" charset="-122"/>
                <a:cs typeface="Aptos" pitchFamily="34" charset="-120"/>
              </a:rPr>
              <a:t>P2: deterministic diff mapping + inline comments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66928" y="246888"/>
            <a:ext cx="585216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8715F"/>
                </a:solidFill>
                <a:latin typeface="Aptos" pitchFamily="34" charset="0"/>
                <a:ea typeface="Aptos" pitchFamily="34" charset="-122"/>
                <a:cs typeface="Aptos" pitchFamily="34" charset="-120"/>
              </a:rPr>
              <a:t>WHY THE MIGRATION</a:t>
            </a:r>
            <a:endParaRPr lang="en-US" sz="900" dirty="0"/>
          </a:p>
        </p:txBody>
      </p:sp>
      <p:sp>
        <p:nvSpPr>
          <p:cNvPr id="3" name="Text 1"/>
          <p:cNvSpPr txBox="1"/>
          <p:nvPr/>
        </p:nvSpPr>
        <p:spPr>
          <a:xfrm>
            <a:off x="566928" y="55778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42421"/>
                </a:solidFill>
                <a:latin typeface="Aptos Display" pitchFamily="34" charset="0"/>
                <a:ea typeface="Aptos Display" pitchFamily="34" charset="-122"/>
                <a:cs typeface="Aptos Display" pitchFamily="34" charset="-120"/>
              </a:rPr>
              <a:t>Business Need</a:t>
            </a:r>
            <a:endParaRPr lang="en-US" sz="2700" dirty="0"/>
          </a:p>
        </p:txBody>
      </p:sp>
      <p:sp>
        <p:nvSpPr>
          <p:cNvPr id="4" name="Shape 2"/>
          <p:cNvSpPr/>
          <p:nvPr/>
        </p:nvSpPr>
        <p:spPr>
          <a:xfrm>
            <a:off x="566928" y="1197864"/>
            <a:ext cx="11045952" cy="10973"/>
          </a:xfrm>
          <a:prstGeom prst="line">
            <a:avLst/>
          </a:prstGeom>
          <a:solidFill>
            <a:srgbClr val="D4DDD6"/>
          </a:solidFill>
          <a:ln w="12700">
            <a:solidFill>
              <a:srgbClr val="D4DDD6">
                <a:alpha val="0"/>
              </a:srgbClr>
            </a:solidFill>
            <a:prstDash val="solid"/>
          </a:ln>
        </p:spPr>
      </p:sp>
      <p:sp>
        <p:nvSpPr>
          <p:cNvPr id="5" name="Text 3"/>
          <p:cNvSpPr txBox="1"/>
          <p:nvPr/>
        </p:nvSpPr>
        <p:spPr>
          <a:xfrm>
            <a:off x="566928" y="6537960"/>
            <a:ext cx="7315200" cy="146304"/>
          </a:xfrm>
          <a:prstGeom prst="rect">
            <a:avLst/>
          </a:prstGeom>
          <a:noFill/>
          <a:ln/>
        </p:spPr>
        <p:txBody>
          <a:bodyPr wrap="square" lIns="0" tIns="0" rIns="0" bIns="0" rtlCol="0" anchor="ctr">
            <a:normAutofit/>
          </a:bodyPr>
          <a:lstStyle/>
          <a:p>
            <a:pPr algn="l" indent="0" marL="0">
              <a:buNone/>
            </a:pPr>
            <a:r>
              <a:rPr lang="en-US" sz="800" spc="40" kern="0" dirty="0">
                <a:solidFill>
                  <a:srgbClr val="63736D"/>
                </a:solidFill>
                <a:latin typeface="Aptos" pitchFamily="34" charset="0"/>
                <a:ea typeface="Aptos" pitchFamily="34" charset="-122"/>
                <a:cs typeface="Aptos" pitchFamily="34" charset="-120"/>
              </a:rPr>
              <a:t>AI CODE REVIEW AGENT  /  MENTOR DEMO</a:t>
            </a:r>
            <a:endParaRPr lang="en-US" sz="800" dirty="0"/>
          </a:p>
        </p:txBody>
      </p:sp>
      <p:sp>
        <p:nvSpPr>
          <p:cNvPr id="6" name="Text 4"/>
          <p:cNvSpPr txBox="1"/>
          <p:nvPr/>
        </p:nvSpPr>
        <p:spPr>
          <a:xfrm>
            <a:off x="11018520" y="6510528"/>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28715F"/>
                </a:solidFill>
                <a:latin typeface="Aptos" pitchFamily="34" charset="0"/>
                <a:ea typeface="Aptos" pitchFamily="34" charset="-122"/>
                <a:cs typeface="Aptos" pitchFamily="34" charset="-120"/>
              </a:rPr>
              <a:t>02</a:t>
            </a:r>
            <a:endParaRPr lang="en-US" sz="900" dirty="0"/>
          </a:p>
        </p:txBody>
      </p:sp>
      <p:sp>
        <p:nvSpPr>
          <p:cNvPr id="7" name="Text 5"/>
          <p:cNvSpPr txBox="1"/>
          <p:nvPr/>
        </p:nvSpPr>
        <p:spPr>
          <a:xfrm>
            <a:off x="731520" y="1572768"/>
            <a:ext cx="2011680" cy="182880"/>
          </a:xfrm>
          <a:prstGeom prst="rect">
            <a:avLst/>
          </a:prstGeom>
          <a:noFill/>
          <a:ln/>
        </p:spPr>
        <p:txBody>
          <a:bodyPr wrap="square" lIns="0" tIns="0" rIns="0" bIns="0" rtlCol="0" anchor="ctr">
            <a:normAutofit/>
          </a:bodyPr>
          <a:lstStyle/>
          <a:p>
            <a:pPr algn="l" indent="0" marL="0">
              <a:buNone/>
            </a:pPr>
            <a:r>
              <a:rPr lang="en-US" sz="900" b="1" spc="60" kern="0" dirty="0">
                <a:solidFill>
                  <a:srgbClr val="28715F"/>
                </a:solidFill>
                <a:latin typeface="Aptos" pitchFamily="34" charset="0"/>
                <a:ea typeface="Aptos" pitchFamily="34" charset="-122"/>
                <a:cs typeface="Aptos" pitchFamily="34" charset="-120"/>
              </a:rPr>
              <a:t>REVIEW NEED</a:t>
            </a:r>
            <a:endParaRPr lang="en-US" sz="900" dirty="0"/>
          </a:p>
        </p:txBody>
      </p:sp>
      <p:sp>
        <p:nvSpPr>
          <p:cNvPr id="8" name="Text 6"/>
          <p:cNvSpPr txBox="1"/>
          <p:nvPr/>
        </p:nvSpPr>
        <p:spPr>
          <a:xfrm>
            <a:off x="731520" y="1920240"/>
            <a:ext cx="4800600" cy="1024128"/>
          </a:xfrm>
          <a:prstGeom prst="rect">
            <a:avLst/>
          </a:prstGeom>
          <a:noFill/>
          <a:ln/>
        </p:spPr>
        <p:txBody>
          <a:bodyPr wrap="square" lIns="0" tIns="0" rIns="0" bIns="0" rtlCol="0" anchor="t">
            <a:normAutofit/>
          </a:bodyPr>
          <a:lstStyle/>
          <a:p>
            <a:pPr algn="l" indent="0" marL="0">
              <a:buNone/>
            </a:pPr>
            <a:r>
              <a:rPr lang="en-US" sz="2400" b="1" dirty="0">
                <a:solidFill>
                  <a:srgbClr val="142421"/>
                </a:solidFill>
                <a:latin typeface="Aptos Display" pitchFamily="34" charset="0"/>
                <a:ea typeface="Aptos Display" pitchFamily="34" charset="-122"/>
                <a:cs typeface="Aptos Display" pitchFamily="34" charset="-120"/>
              </a:rPr>
              <a:t>Give pull requests a consistent, policy-guided first-pass review.</a:t>
            </a:r>
            <a:endParaRPr lang="en-US" sz="2400" dirty="0"/>
          </a:p>
        </p:txBody>
      </p:sp>
      <p:sp>
        <p:nvSpPr>
          <p:cNvPr id="9" name="Text 7"/>
          <p:cNvSpPr txBox="1"/>
          <p:nvPr/>
        </p:nvSpPr>
        <p:spPr>
          <a:xfrm>
            <a:off x="731520" y="3136392"/>
            <a:ext cx="4754880" cy="777240"/>
          </a:xfrm>
          <a:prstGeom prst="rect">
            <a:avLst/>
          </a:prstGeom>
          <a:noFill/>
          <a:ln/>
        </p:spPr>
        <p:txBody>
          <a:bodyPr wrap="square" lIns="0" tIns="0" rIns="0" bIns="0" rtlCol="0" anchor="t">
            <a:normAutofit/>
          </a:bodyPr>
          <a:lstStyle/>
          <a:p>
            <a:pPr algn="l" indent="0" marL="0">
              <a:buNone/>
            </a:pPr>
            <a:r>
              <a:rPr lang="en-US" sz="1500" dirty="0">
                <a:solidFill>
                  <a:srgbClr val="63736D"/>
                </a:solidFill>
                <a:latin typeface="Aptos" pitchFamily="34" charset="0"/>
                <a:ea typeface="Aptos" pitchFamily="34" charset="-122"/>
                <a:cs typeface="Aptos" pitchFamily="34" charset="-120"/>
              </a:rPr>
              <a:t>Keep the reviewer, policy, and output contract in one place while using the PR lifecycle already managed by GitHub.</a:t>
            </a:r>
            <a:endParaRPr lang="en-US" sz="1500" dirty="0"/>
          </a:p>
        </p:txBody>
      </p:sp>
      <p:sp>
        <p:nvSpPr>
          <p:cNvPr id="10" name="Shape 8"/>
          <p:cNvSpPr/>
          <p:nvPr/>
        </p:nvSpPr>
        <p:spPr>
          <a:xfrm>
            <a:off x="5961888" y="1645920"/>
            <a:ext cx="16459" cy="4251960"/>
          </a:xfrm>
          <a:prstGeom prst="line">
            <a:avLst/>
          </a:prstGeom>
          <a:solidFill>
            <a:srgbClr val="D4DDD6"/>
          </a:solidFill>
          <a:ln w="12700">
            <a:solidFill>
              <a:srgbClr val="D4DDD6">
                <a:alpha val="0"/>
              </a:srgbClr>
            </a:solidFill>
            <a:prstDash val="solid"/>
          </a:ln>
        </p:spPr>
      </p:sp>
      <p:sp>
        <p:nvSpPr>
          <p:cNvPr id="11" name="Shape 9"/>
          <p:cNvSpPr/>
          <p:nvPr/>
        </p:nvSpPr>
        <p:spPr>
          <a:xfrm>
            <a:off x="6446520" y="1828800"/>
            <a:ext cx="82296" cy="82296"/>
          </a:xfrm>
          <a:prstGeom prst="ellipse">
            <a:avLst/>
          </a:prstGeom>
          <a:solidFill>
            <a:srgbClr val="28715F"/>
          </a:solidFill>
          <a:ln w="12700">
            <a:solidFill>
              <a:srgbClr val="28715F">
                <a:alpha val="0"/>
              </a:srgbClr>
            </a:solidFill>
            <a:prstDash val="solid"/>
          </a:ln>
        </p:spPr>
      </p:sp>
      <p:sp>
        <p:nvSpPr>
          <p:cNvPr id="12" name="Text 10"/>
          <p:cNvSpPr txBox="1"/>
          <p:nvPr/>
        </p:nvSpPr>
        <p:spPr>
          <a:xfrm>
            <a:off x="6647688" y="1755648"/>
            <a:ext cx="4462272" cy="246888"/>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Central policy</a:t>
            </a:r>
            <a:endParaRPr lang="en-US" sz="1500" dirty="0"/>
          </a:p>
        </p:txBody>
      </p:sp>
      <p:sp>
        <p:nvSpPr>
          <p:cNvPr id="13" name="Text 11"/>
          <p:cNvSpPr txBox="1"/>
          <p:nvPr/>
        </p:nvSpPr>
        <p:spPr>
          <a:xfrm>
            <a:off x="6647688" y="2057400"/>
            <a:ext cx="4462272" cy="438912"/>
          </a:xfrm>
          <a:prstGeom prst="rect">
            <a:avLst/>
          </a:prstGeom>
          <a:noFill/>
          <a:ln/>
        </p:spPr>
        <p:txBody>
          <a:bodyPr wrap="square" lIns="0" tIns="0" rIns="0" bIns="0" rtlCol="0" anchor="t">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Apply the same enterprise review instructions across consumer repositories.</a:t>
            </a:r>
            <a:endParaRPr lang="en-US" sz="1100" dirty="0"/>
          </a:p>
        </p:txBody>
      </p:sp>
      <p:sp>
        <p:nvSpPr>
          <p:cNvPr id="14" name="Shape 12"/>
          <p:cNvSpPr/>
          <p:nvPr/>
        </p:nvSpPr>
        <p:spPr>
          <a:xfrm>
            <a:off x="6446520" y="2871216"/>
            <a:ext cx="82296" cy="82296"/>
          </a:xfrm>
          <a:prstGeom prst="ellipse">
            <a:avLst/>
          </a:prstGeom>
          <a:solidFill>
            <a:srgbClr val="54809A"/>
          </a:solidFill>
          <a:ln w="12700">
            <a:solidFill>
              <a:srgbClr val="54809A">
                <a:alpha val="0"/>
              </a:srgbClr>
            </a:solidFill>
            <a:prstDash val="solid"/>
          </a:ln>
        </p:spPr>
      </p:sp>
      <p:sp>
        <p:nvSpPr>
          <p:cNvPr id="15" name="Text 13"/>
          <p:cNvSpPr txBox="1"/>
          <p:nvPr/>
        </p:nvSpPr>
        <p:spPr>
          <a:xfrm>
            <a:off x="6647688" y="2798064"/>
            <a:ext cx="4462272" cy="246888"/>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PR-timed execution</a:t>
            </a:r>
            <a:endParaRPr lang="en-US" sz="1500" dirty="0"/>
          </a:p>
        </p:txBody>
      </p:sp>
      <p:sp>
        <p:nvSpPr>
          <p:cNvPr id="16" name="Text 14"/>
          <p:cNvSpPr txBox="1"/>
          <p:nvPr/>
        </p:nvSpPr>
        <p:spPr>
          <a:xfrm>
            <a:off x="6647688" y="3099816"/>
            <a:ext cx="4462272" cy="438912"/>
          </a:xfrm>
          <a:prstGeom prst="rect">
            <a:avLst/>
          </a:prstGeom>
          <a:noFill/>
          <a:ln/>
        </p:spPr>
        <p:txBody>
          <a:bodyPr wrap="square" lIns="0" tIns="0" rIns="0" bIns="0" rtlCol="0" anchor="t">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Start review on opened, reopened, and synchronize events.</a:t>
            </a:r>
            <a:endParaRPr lang="en-US" sz="1100" dirty="0"/>
          </a:p>
        </p:txBody>
      </p:sp>
      <p:sp>
        <p:nvSpPr>
          <p:cNvPr id="17" name="Shape 15"/>
          <p:cNvSpPr/>
          <p:nvPr/>
        </p:nvSpPr>
        <p:spPr>
          <a:xfrm>
            <a:off x="6446520" y="3913632"/>
            <a:ext cx="82296" cy="82296"/>
          </a:xfrm>
          <a:prstGeom prst="ellipse">
            <a:avLst/>
          </a:prstGeom>
          <a:solidFill>
            <a:srgbClr val="D36B56"/>
          </a:solidFill>
          <a:ln w="12700">
            <a:solidFill>
              <a:srgbClr val="D36B56">
                <a:alpha val="0"/>
              </a:srgbClr>
            </a:solidFill>
            <a:prstDash val="solid"/>
          </a:ln>
        </p:spPr>
      </p:sp>
      <p:sp>
        <p:nvSpPr>
          <p:cNvPr id="18" name="Text 16"/>
          <p:cNvSpPr txBox="1"/>
          <p:nvPr/>
        </p:nvSpPr>
        <p:spPr>
          <a:xfrm>
            <a:off x="6647688" y="3840480"/>
            <a:ext cx="4462272" cy="246888"/>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Actionable feedback</a:t>
            </a:r>
            <a:endParaRPr lang="en-US" sz="1500" dirty="0"/>
          </a:p>
        </p:txBody>
      </p:sp>
      <p:sp>
        <p:nvSpPr>
          <p:cNvPr id="19" name="Text 17"/>
          <p:cNvSpPr txBox="1"/>
          <p:nvPr/>
        </p:nvSpPr>
        <p:spPr>
          <a:xfrm>
            <a:off x="6647688" y="4142232"/>
            <a:ext cx="4462272" cy="438912"/>
          </a:xfrm>
          <a:prstGeom prst="rect">
            <a:avLst/>
          </a:prstGeom>
          <a:noFill/>
          <a:ln/>
        </p:spPr>
        <p:txBody>
          <a:bodyPr wrap="square" lIns="0" tIns="0" rIns="0" bIns="0" rtlCol="0" anchor="t">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Post one structured advisory summary to the pull request.</a:t>
            </a:r>
            <a:endParaRPr lang="en-US" sz="1100" dirty="0"/>
          </a:p>
        </p:txBody>
      </p:sp>
      <p:sp>
        <p:nvSpPr>
          <p:cNvPr id="20" name="Text 18"/>
          <p:cNvSpPr txBox="1"/>
          <p:nvPr/>
        </p:nvSpPr>
        <p:spPr>
          <a:xfrm>
            <a:off x="6647688" y="5084064"/>
            <a:ext cx="4206240" cy="292608"/>
          </a:xfrm>
          <a:prstGeom prst="rect">
            <a:avLst/>
          </a:prstGeom>
          <a:noFill/>
          <a:ln/>
        </p:spPr>
        <p:txBody>
          <a:bodyPr wrap="square" lIns="0" tIns="0" rIns="0" bIns="0" rtlCol="0" anchor="ctr">
            <a:normAutofit/>
          </a:bodyPr>
          <a:lstStyle/>
          <a:p>
            <a:pPr algn="l" indent="0" marL="0">
              <a:buNone/>
            </a:pPr>
            <a:r>
              <a:rPr lang="en-US" sz="1300" b="1" dirty="0">
                <a:solidFill>
                  <a:srgbClr val="183D35"/>
                </a:solidFill>
                <a:latin typeface="Aptos" pitchFamily="34" charset="0"/>
                <a:ea typeface="Aptos" pitchFamily="34" charset="-122"/>
                <a:cs typeface="Aptos" pitchFamily="34" charset="-120"/>
              </a:rPr>
              <a:t>Human approval remains required.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66928" y="246888"/>
            <a:ext cx="585216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8715F"/>
                </a:solidFill>
                <a:latin typeface="Aptos" pitchFamily="34" charset="0"/>
                <a:ea typeface="Aptos" pitchFamily="34" charset="-122"/>
                <a:cs typeface="Aptos" pitchFamily="34" charset="-120"/>
              </a:rPr>
              <a:t>ARCHITECTURE COMPARISON</a:t>
            </a:r>
            <a:endParaRPr lang="en-US" sz="900" dirty="0"/>
          </a:p>
        </p:txBody>
      </p:sp>
      <p:sp>
        <p:nvSpPr>
          <p:cNvPr id="3" name="Text 1"/>
          <p:cNvSpPr txBox="1"/>
          <p:nvPr/>
        </p:nvSpPr>
        <p:spPr>
          <a:xfrm>
            <a:off x="566928" y="55778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42421"/>
                </a:solidFill>
                <a:latin typeface="Aptos Display" pitchFamily="34" charset="0"/>
                <a:ea typeface="Aptos Display" pitchFamily="34" charset="-122"/>
                <a:cs typeface="Aptos Display" pitchFamily="34" charset="-120"/>
              </a:rPr>
              <a:t>Webhook POC vs. GitHub Actions</a:t>
            </a:r>
            <a:endParaRPr lang="en-US" sz="2700" dirty="0"/>
          </a:p>
        </p:txBody>
      </p:sp>
      <p:sp>
        <p:nvSpPr>
          <p:cNvPr id="4" name="Shape 2"/>
          <p:cNvSpPr/>
          <p:nvPr/>
        </p:nvSpPr>
        <p:spPr>
          <a:xfrm>
            <a:off x="566928" y="1197864"/>
            <a:ext cx="11045952" cy="10973"/>
          </a:xfrm>
          <a:prstGeom prst="line">
            <a:avLst/>
          </a:prstGeom>
          <a:solidFill>
            <a:srgbClr val="D4DDD6"/>
          </a:solidFill>
          <a:ln w="12700">
            <a:solidFill>
              <a:srgbClr val="D4DDD6">
                <a:alpha val="0"/>
              </a:srgbClr>
            </a:solidFill>
            <a:prstDash val="solid"/>
          </a:ln>
        </p:spPr>
      </p:sp>
      <p:sp>
        <p:nvSpPr>
          <p:cNvPr id="5" name="Text 3"/>
          <p:cNvSpPr txBox="1"/>
          <p:nvPr/>
        </p:nvSpPr>
        <p:spPr>
          <a:xfrm>
            <a:off x="566928" y="6537960"/>
            <a:ext cx="7315200" cy="146304"/>
          </a:xfrm>
          <a:prstGeom prst="rect">
            <a:avLst/>
          </a:prstGeom>
          <a:noFill/>
          <a:ln/>
        </p:spPr>
        <p:txBody>
          <a:bodyPr wrap="square" lIns="0" tIns="0" rIns="0" bIns="0" rtlCol="0" anchor="ctr">
            <a:normAutofit/>
          </a:bodyPr>
          <a:lstStyle/>
          <a:p>
            <a:pPr algn="l" indent="0" marL="0">
              <a:buNone/>
            </a:pPr>
            <a:r>
              <a:rPr lang="en-US" sz="800" spc="40" kern="0" dirty="0">
                <a:solidFill>
                  <a:srgbClr val="63736D"/>
                </a:solidFill>
                <a:latin typeface="Aptos" pitchFamily="34" charset="0"/>
                <a:ea typeface="Aptos" pitchFamily="34" charset="-122"/>
                <a:cs typeface="Aptos" pitchFamily="34" charset="-120"/>
              </a:rPr>
              <a:t>AI CODE REVIEW AGENT  /  MENTOR DEMO</a:t>
            </a:r>
            <a:endParaRPr lang="en-US" sz="800" dirty="0"/>
          </a:p>
        </p:txBody>
      </p:sp>
      <p:sp>
        <p:nvSpPr>
          <p:cNvPr id="6" name="Text 4"/>
          <p:cNvSpPr txBox="1"/>
          <p:nvPr/>
        </p:nvSpPr>
        <p:spPr>
          <a:xfrm>
            <a:off x="11018520" y="6510528"/>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28715F"/>
                </a:solidFill>
                <a:latin typeface="Aptos" pitchFamily="34" charset="0"/>
                <a:ea typeface="Aptos" pitchFamily="34" charset="-122"/>
                <a:cs typeface="Aptos" pitchFamily="34" charset="-120"/>
              </a:rPr>
              <a:t>03</a:t>
            </a:r>
            <a:endParaRPr lang="en-US" sz="900" dirty="0"/>
          </a:p>
        </p:txBody>
      </p:sp>
      <p:sp>
        <p:nvSpPr>
          <p:cNvPr id="7" name="Text 5"/>
          <p:cNvSpPr txBox="1"/>
          <p:nvPr/>
        </p:nvSpPr>
        <p:spPr>
          <a:xfrm>
            <a:off x="804672" y="1435608"/>
            <a:ext cx="4480560" cy="219456"/>
          </a:xfrm>
          <a:prstGeom prst="rect">
            <a:avLst/>
          </a:prstGeom>
          <a:noFill/>
          <a:ln/>
        </p:spPr>
        <p:txBody>
          <a:bodyPr wrap="square" lIns="0" tIns="0" rIns="0" bIns="0" rtlCol="0" anchor="ctr">
            <a:normAutofit/>
          </a:bodyPr>
          <a:lstStyle/>
          <a:p>
            <a:pPr algn="l" indent="0" marL="0">
              <a:buNone/>
            </a:pPr>
            <a:r>
              <a:rPr lang="en-US" sz="1000" b="1" spc="50" kern="0" dirty="0">
                <a:solidFill>
                  <a:srgbClr val="D36B56"/>
                </a:solidFill>
                <a:latin typeface="Aptos" pitchFamily="34" charset="0"/>
                <a:ea typeface="Aptos" pitchFamily="34" charset="-122"/>
                <a:cs typeface="Aptos" pitchFamily="34" charset="-120"/>
              </a:rPr>
              <a:t>PREVIOUS WEBHOOK PATH</a:t>
            </a:r>
            <a:endParaRPr lang="en-US" sz="1000" dirty="0"/>
          </a:p>
        </p:txBody>
      </p:sp>
      <p:sp>
        <p:nvSpPr>
          <p:cNvPr id="8" name="Text 6"/>
          <p:cNvSpPr txBox="1"/>
          <p:nvPr/>
        </p:nvSpPr>
        <p:spPr>
          <a:xfrm>
            <a:off x="6455664" y="1435608"/>
            <a:ext cx="4480560" cy="219456"/>
          </a:xfrm>
          <a:prstGeom prst="rect">
            <a:avLst/>
          </a:prstGeom>
          <a:noFill/>
          <a:ln/>
        </p:spPr>
        <p:txBody>
          <a:bodyPr wrap="square" lIns="0" tIns="0" rIns="0" bIns="0" rtlCol="0" anchor="ctr">
            <a:normAutofit/>
          </a:bodyPr>
          <a:lstStyle/>
          <a:p>
            <a:pPr algn="l" indent="0" marL="0">
              <a:buNone/>
            </a:pPr>
            <a:r>
              <a:rPr lang="en-US" sz="1000" b="1" spc="50" kern="0" dirty="0">
                <a:solidFill>
                  <a:srgbClr val="28715F"/>
                </a:solidFill>
                <a:latin typeface="Aptos" pitchFamily="34" charset="0"/>
                <a:ea typeface="Aptos" pitchFamily="34" charset="-122"/>
                <a:cs typeface="Aptos" pitchFamily="34" charset="-120"/>
              </a:rPr>
              <a:t>P1 ACTIONS PATH</a:t>
            </a:r>
            <a:endParaRPr lang="en-US" sz="1000" dirty="0"/>
          </a:p>
        </p:txBody>
      </p:sp>
      <p:sp>
        <p:nvSpPr>
          <p:cNvPr id="9" name="Shape 7"/>
          <p:cNvSpPr/>
          <p:nvPr/>
        </p:nvSpPr>
        <p:spPr>
          <a:xfrm>
            <a:off x="822960" y="1810512"/>
            <a:ext cx="4297680" cy="603504"/>
          </a:xfrm>
          <a:prstGeom prst="roundRect">
            <a:avLst>
              <a:gd name="adj" fmla="val 12121"/>
            </a:avLst>
          </a:prstGeom>
          <a:solidFill>
            <a:srgbClr val="FFFFFF"/>
          </a:solidFill>
          <a:ln w="12700">
            <a:solidFill>
              <a:srgbClr val="D4DDD6"/>
            </a:solidFill>
            <a:prstDash val="solid"/>
          </a:ln>
        </p:spPr>
      </p:sp>
      <p:sp>
        <p:nvSpPr>
          <p:cNvPr id="10" name="Text 8"/>
          <p:cNvSpPr txBox="1"/>
          <p:nvPr/>
        </p:nvSpPr>
        <p:spPr>
          <a:xfrm>
            <a:off x="969264" y="1901952"/>
            <a:ext cx="4005072" cy="164592"/>
          </a:xfrm>
          <a:prstGeom prst="rect">
            <a:avLst/>
          </a:prstGeom>
          <a:noFill/>
          <a:ln/>
        </p:spPr>
        <p:txBody>
          <a:bodyPr wrap="square" lIns="0" tIns="0" rIns="0" bIns="0" rtlCol="0" anchor="ctr">
            <a:normAutofit/>
          </a:bodyPr>
          <a:lstStyle/>
          <a:p>
            <a:pPr algn="l" indent="0" marL="0">
              <a:buNone/>
            </a:pPr>
            <a:r>
              <a:rPr lang="en-US" sz="900" b="1" dirty="0">
                <a:solidFill>
                  <a:srgbClr val="D36B56"/>
                </a:solidFill>
                <a:latin typeface="Aptos" pitchFamily="34" charset="0"/>
                <a:ea typeface="Aptos" pitchFamily="34" charset="-122"/>
                <a:cs typeface="Aptos" pitchFamily="34" charset="-120"/>
              </a:rPr>
              <a:t>01</a:t>
            </a:r>
            <a:endParaRPr lang="en-US" sz="900" dirty="0"/>
          </a:p>
        </p:txBody>
      </p:sp>
      <p:sp>
        <p:nvSpPr>
          <p:cNvPr id="11" name="Text 9"/>
          <p:cNvSpPr txBox="1"/>
          <p:nvPr/>
        </p:nvSpPr>
        <p:spPr>
          <a:xfrm>
            <a:off x="969264" y="2121408"/>
            <a:ext cx="4005072" cy="310896"/>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GitHub PR</a:t>
            </a:r>
            <a:endParaRPr lang="en-US" sz="1300" dirty="0"/>
          </a:p>
        </p:txBody>
      </p:sp>
      <p:sp>
        <p:nvSpPr>
          <p:cNvPr id="12" name="Text 10"/>
          <p:cNvSpPr txBox="1"/>
          <p:nvPr/>
        </p:nvSpPr>
        <p:spPr>
          <a:xfrm>
            <a:off x="969264" y="2514600"/>
            <a:ext cx="4005072" cy="-20116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Webhook event</a:t>
            </a:r>
            <a:endParaRPr lang="en-US" sz="1000" dirty="0"/>
          </a:p>
        </p:txBody>
      </p:sp>
      <p:sp>
        <p:nvSpPr>
          <p:cNvPr id="13" name="Shape 11"/>
          <p:cNvSpPr/>
          <p:nvPr/>
        </p:nvSpPr>
        <p:spPr>
          <a:xfrm>
            <a:off x="2971800" y="2432304"/>
            <a:ext cx="0" cy="137160"/>
          </a:xfrm>
          <a:prstGeom prst="line">
            <a:avLst/>
          </a:prstGeom>
          <a:noFill/>
          <a:ln w="15240">
            <a:solidFill>
              <a:srgbClr val="D36B56"/>
            </a:solidFill>
            <a:prstDash val="solid"/>
            <a:tailEnd type="triangle"/>
          </a:ln>
        </p:spPr>
      </p:sp>
      <p:sp>
        <p:nvSpPr>
          <p:cNvPr id="14" name="Shape 12"/>
          <p:cNvSpPr/>
          <p:nvPr/>
        </p:nvSpPr>
        <p:spPr>
          <a:xfrm>
            <a:off x="822960" y="2606040"/>
            <a:ext cx="4297680" cy="603504"/>
          </a:xfrm>
          <a:prstGeom prst="roundRect">
            <a:avLst>
              <a:gd name="adj" fmla="val 12121"/>
            </a:avLst>
          </a:prstGeom>
          <a:solidFill>
            <a:srgbClr val="FFFFFF"/>
          </a:solidFill>
          <a:ln w="12700">
            <a:solidFill>
              <a:srgbClr val="D4DDD6"/>
            </a:solidFill>
            <a:prstDash val="solid"/>
          </a:ln>
        </p:spPr>
      </p:sp>
      <p:sp>
        <p:nvSpPr>
          <p:cNvPr id="15" name="Text 13"/>
          <p:cNvSpPr txBox="1"/>
          <p:nvPr/>
        </p:nvSpPr>
        <p:spPr>
          <a:xfrm>
            <a:off x="969264" y="2697480"/>
            <a:ext cx="4005072" cy="164592"/>
          </a:xfrm>
          <a:prstGeom prst="rect">
            <a:avLst/>
          </a:prstGeom>
          <a:noFill/>
          <a:ln/>
        </p:spPr>
        <p:txBody>
          <a:bodyPr wrap="square" lIns="0" tIns="0" rIns="0" bIns="0" rtlCol="0" anchor="ctr">
            <a:normAutofit/>
          </a:bodyPr>
          <a:lstStyle/>
          <a:p>
            <a:pPr algn="l" indent="0" marL="0">
              <a:buNone/>
            </a:pPr>
            <a:r>
              <a:rPr lang="en-US" sz="900" b="1" dirty="0">
                <a:solidFill>
                  <a:srgbClr val="D36B56"/>
                </a:solidFill>
                <a:latin typeface="Aptos" pitchFamily="34" charset="0"/>
                <a:ea typeface="Aptos" pitchFamily="34" charset="-122"/>
                <a:cs typeface="Aptos" pitchFamily="34" charset="-120"/>
              </a:rPr>
              <a:t>02</a:t>
            </a:r>
            <a:endParaRPr lang="en-US" sz="900" dirty="0"/>
          </a:p>
        </p:txBody>
      </p:sp>
      <p:sp>
        <p:nvSpPr>
          <p:cNvPr id="16" name="Text 14"/>
          <p:cNvSpPr txBox="1"/>
          <p:nvPr/>
        </p:nvSpPr>
        <p:spPr>
          <a:xfrm>
            <a:off x="969264" y="2916936"/>
            <a:ext cx="4005072" cy="310896"/>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ngrok</a:t>
            </a:r>
            <a:endParaRPr lang="en-US" sz="1300" dirty="0"/>
          </a:p>
        </p:txBody>
      </p:sp>
      <p:sp>
        <p:nvSpPr>
          <p:cNvPr id="17" name="Text 15"/>
          <p:cNvSpPr txBox="1"/>
          <p:nvPr/>
        </p:nvSpPr>
        <p:spPr>
          <a:xfrm>
            <a:off x="969264" y="3310128"/>
            <a:ext cx="4005072" cy="-20116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Tunnel forwarding</a:t>
            </a:r>
            <a:endParaRPr lang="en-US" sz="1000" dirty="0"/>
          </a:p>
        </p:txBody>
      </p:sp>
      <p:sp>
        <p:nvSpPr>
          <p:cNvPr id="18" name="Shape 16"/>
          <p:cNvSpPr/>
          <p:nvPr/>
        </p:nvSpPr>
        <p:spPr>
          <a:xfrm>
            <a:off x="2971800" y="3227832"/>
            <a:ext cx="0" cy="137160"/>
          </a:xfrm>
          <a:prstGeom prst="line">
            <a:avLst/>
          </a:prstGeom>
          <a:noFill/>
          <a:ln w="15240">
            <a:solidFill>
              <a:srgbClr val="D36B56"/>
            </a:solidFill>
            <a:prstDash val="solid"/>
            <a:tailEnd type="triangle"/>
          </a:ln>
        </p:spPr>
      </p:sp>
      <p:sp>
        <p:nvSpPr>
          <p:cNvPr id="19" name="Shape 17"/>
          <p:cNvSpPr/>
          <p:nvPr/>
        </p:nvSpPr>
        <p:spPr>
          <a:xfrm>
            <a:off x="822960" y="3401568"/>
            <a:ext cx="4297680" cy="603504"/>
          </a:xfrm>
          <a:prstGeom prst="roundRect">
            <a:avLst>
              <a:gd name="adj" fmla="val 12121"/>
            </a:avLst>
          </a:prstGeom>
          <a:solidFill>
            <a:srgbClr val="FFFFFF"/>
          </a:solidFill>
          <a:ln w="12700">
            <a:solidFill>
              <a:srgbClr val="D4DDD6"/>
            </a:solidFill>
            <a:prstDash val="solid"/>
          </a:ln>
        </p:spPr>
      </p:sp>
      <p:sp>
        <p:nvSpPr>
          <p:cNvPr id="20" name="Text 18"/>
          <p:cNvSpPr txBox="1"/>
          <p:nvPr/>
        </p:nvSpPr>
        <p:spPr>
          <a:xfrm>
            <a:off x="969264" y="3493008"/>
            <a:ext cx="4005072" cy="164592"/>
          </a:xfrm>
          <a:prstGeom prst="rect">
            <a:avLst/>
          </a:prstGeom>
          <a:noFill/>
          <a:ln/>
        </p:spPr>
        <p:txBody>
          <a:bodyPr wrap="square" lIns="0" tIns="0" rIns="0" bIns="0" rtlCol="0" anchor="ctr">
            <a:normAutofit/>
          </a:bodyPr>
          <a:lstStyle/>
          <a:p>
            <a:pPr algn="l" indent="0" marL="0">
              <a:buNone/>
            </a:pPr>
            <a:r>
              <a:rPr lang="en-US" sz="900" b="1" dirty="0">
                <a:solidFill>
                  <a:srgbClr val="D36B56"/>
                </a:solidFill>
                <a:latin typeface="Aptos" pitchFamily="34" charset="0"/>
                <a:ea typeface="Aptos" pitchFamily="34" charset="-122"/>
                <a:cs typeface="Aptos" pitchFamily="34" charset="-120"/>
              </a:rPr>
              <a:t>03</a:t>
            </a:r>
            <a:endParaRPr lang="en-US" sz="900" dirty="0"/>
          </a:p>
        </p:txBody>
      </p:sp>
      <p:sp>
        <p:nvSpPr>
          <p:cNvPr id="21" name="Text 19"/>
          <p:cNvSpPr txBox="1"/>
          <p:nvPr/>
        </p:nvSpPr>
        <p:spPr>
          <a:xfrm>
            <a:off x="969264" y="3712464"/>
            <a:ext cx="4005072" cy="310896"/>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FastAPI</a:t>
            </a:r>
            <a:endParaRPr lang="en-US" sz="1300" dirty="0"/>
          </a:p>
        </p:txBody>
      </p:sp>
      <p:sp>
        <p:nvSpPr>
          <p:cNvPr id="22" name="Text 20"/>
          <p:cNvSpPr txBox="1"/>
          <p:nvPr/>
        </p:nvSpPr>
        <p:spPr>
          <a:xfrm>
            <a:off x="969264" y="4105656"/>
            <a:ext cx="4005072" cy="-20116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Always-on listener</a:t>
            </a:r>
            <a:endParaRPr lang="en-US" sz="1000" dirty="0"/>
          </a:p>
        </p:txBody>
      </p:sp>
      <p:sp>
        <p:nvSpPr>
          <p:cNvPr id="23" name="Shape 21"/>
          <p:cNvSpPr/>
          <p:nvPr/>
        </p:nvSpPr>
        <p:spPr>
          <a:xfrm>
            <a:off x="2971800" y="4023360"/>
            <a:ext cx="0" cy="137160"/>
          </a:xfrm>
          <a:prstGeom prst="line">
            <a:avLst/>
          </a:prstGeom>
          <a:noFill/>
          <a:ln w="15240">
            <a:solidFill>
              <a:srgbClr val="D36B56"/>
            </a:solidFill>
            <a:prstDash val="solid"/>
            <a:tailEnd type="triangle"/>
          </a:ln>
        </p:spPr>
      </p:sp>
      <p:sp>
        <p:nvSpPr>
          <p:cNvPr id="24" name="Shape 22"/>
          <p:cNvSpPr/>
          <p:nvPr/>
        </p:nvSpPr>
        <p:spPr>
          <a:xfrm>
            <a:off x="822960" y="4197096"/>
            <a:ext cx="4297680" cy="603504"/>
          </a:xfrm>
          <a:prstGeom prst="roundRect">
            <a:avLst>
              <a:gd name="adj" fmla="val 12121"/>
            </a:avLst>
          </a:prstGeom>
          <a:solidFill>
            <a:srgbClr val="FFFFFF"/>
          </a:solidFill>
          <a:ln w="12700">
            <a:solidFill>
              <a:srgbClr val="D4DDD6"/>
            </a:solidFill>
            <a:prstDash val="solid"/>
          </a:ln>
        </p:spPr>
      </p:sp>
      <p:sp>
        <p:nvSpPr>
          <p:cNvPr id="25" name="Text 23"/>
          <p:cNvSpPr txBox="1"/>
          <p:nvPr/>
        </p:nvSpPr>
        <p:spPr>
          <a:xfrm>
            <a:off x="969264" y="4288536"/>
            <a:ext cx="4005072" cy="164592"/>
          </a:xfrm>
          <a:prstGeom prst="rect">
            <a:avLst/>
          </a:prstGeom>
          <a:noFill/>
          <a:ln/>
        </p:spPr>
        <p:txBody>
          <a:bodyPr wrap="square" lIns="0" tIns="0" rIns="0" bIns="0" rtlCol="0" anchor="ctr">
            <a:normAutofit/>
          </a:bodyPr>
          <a:lstStyle/>
          <a:p>
            <a:pPr algn="l" indent="0" marL="0">
              <a:buNone/>
            </a:pPr>
            <a:r>
              <a:rPr lang="en-US" sz="900" b="1" dirty="0">
                <a:solidFill>
                  <a:srgbClr val="D36B56"/>
                </a:solidFill>
                <a:latin typeface="Aptos" pitchFamily="34" charset="0"/>
                <a:ea typeface="Aptos" pitchFamily="34" charset="-122"/>
                <a:cs typeface="Aptos" pitchFamily="34" charset="-120"/>
              </a:rPr>
              <a:t>04</a:t>
            </a:r>
            <a:endParaRPr lang="en-US" sz="900" dirty="0"/>
          </a:p>
        </p:txBody>
      </p:sp>
      <p:sp>
        <p:nvSpPr>
          <p:cNvPr id="26" name="Text 24"/>
          <p:cNvSpPr txBox="1"/>
          <p:nvPr/>
        </p:nvSpPr>
        <p:spPr>
          <a:xfrm>
            <a:off x="969264" y="4507992"/>
            <a:ext cx="4005072" cy="310896"/>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GitHub MCP</a:t>
            </a:r>
            <a:endParaRPr lang="en-US" sz="1300" dirty="0"/>
          </a:p>
        </p:txBody>
      </p:sp>
      <p:sp>
        <p:nvSpPr>
          <p:cNvPr id="27" name="Text 25"/>
          <p:cNvSpPr txBox="1"/>
          <p:nvPr/>
        </p:nvSpPr>
        <p:spPr>
          <a:xfrm>
            <a:off x="969264" y="4901184"/>
            <a:ext cx="4005072" cy="-20116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PR context access</a:t>
            </a:r>
            <a:endParaRPr lang="en-US" sz="1000" dirty="0"/>
          </a:p>
        </p:txBody>
      </p:sp>
      <p:sp>
        <p:nvSpPr>
          <p:cNvPr id="28" name="Shape 26"/>
          <p:cNvSpPr/>
          <p:nvPr/>
        </p:nvSpPr>
        <p:spPr>
          <a:xfrm>
            <a:off x="2971800" y="4818888"/>
            <a:ext cx="0" cy="137160"/>
          </a:xfrm>
          <a:prstGeom prst="line">
            <a:avLst/>
          </a:prstGeom>
          <a:noFill/>
          <a:ln w="15240">
            <a:solidFill>
              <a:srgbClr val="D36B56"/>
            </a:solidFill>
            <a:prstDash val="solid"/>
            <a:tailEnd type="triangle"/>
          </a:ln>
        </p:spPr>
      </p:sp>
      <p:sp>
        <p:nvSpPr>
          <p:cNvPr id="29" name="Shape 27"/>
          <p:cNvSpPr/>
          <p:nvPr/>
        </p:nvSpPr>
        <p:spPr>
          <a:xfrm>
            <a:off x="822960" y="4992624"/>
            <a:ext cx="4297680" cy="603504"/>
          </a:xfrm>
          <a:prstGeom prst="roundRect">
            <a:avLst>
              <a:gd name="adj" fmla="val 12121"/>
            </a:avLst>
          </a:prstGeom>
          <a:solidFill>
            <a:srgbClr val="FFFFFF"/>
          </a:solidFill>
          <a:ln w="12700">
            <a:solidFill>
              <a:srgbClr val="D4DDD6"/>
            </a:solidFill>
            <a:prstDash val="solid"/>
          </a:ln>
        </p:spPr>
      </p:sp>
      <p:sp>
        <p:nvSpPr>
          <p:cNvPr id="30" name="Text 28"/>
          <p:cNvSpPr txBox="1"/>
          <p:nvPr/>
        </p:nvSpPr>
        <p:spPr>
          <a:xfrm>
            <a:off x="969264" y="5084064"/>
            <a:ext cx="4005072" cy="164592"/>
          </a:xfrm>
          <a:prstGeom prst="rect">
            <a:avLst/>
          </a:prstGeom>
          <a:noFill/>
          <a:ln/>
        </p:spPr>
        <p:txBody>
          <a:bodyPr wrap="square" lIns="0" tIns="0" rIns="0" bIns="0" rtlCol="0" anchor="ctr">
            <a:normAutofit/>
          </a:bodyPr>
          <a:lstStyle/>
          <a:p>
            <a:pPr algn="l" indent="0" marL="0">
              <a:buNone/>
            </a:pPr>
            <a:r>
              <a:rPr lang="en-US" sz="900" b="1" dirty="0">
                <a:solidFill>
                  <a:srgbClr val="D36B56"/>
                </a:solidFill>
                <a:latin typeface="Aptos" pitchFamily="34" charset="0"/>
                <a:ea typeface="Aptos" pitchFamily="34" charset="-122"/>
                <a:cs typeface="Aptos" pitchFamily="34" charset="-120"/>
              </a:rPr>
              <a:t>05</a:t>
            </a:r>
            <a:endParaRPr lang="en-US" sz="900" dirty="0"/>
          </a:p>
        </p:txBody>
      </p:sp>
      <p:sp>
        <p:nvSpPr>
          <p:cNvPr id="31" name="Text 29"/>
          <p:cNvSpPr txBox="1"/>
          <p:nvPr/>
        </p:nvSpPr>
        <p:spPr>
          <a:xfrm>
            <a:off x="969264" y="5303520"/>
            <a:ext cx="4005072" cy="310896"/>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AI review</a:t>
            </a:r>
            <a:endParaRPr lang="en-US" sz="1300" dirty="0"/>
          </a:p>
        </p:txBody>
      </p:sp>
      <p:sp>
        <p:nvSpPr>
          <p:cNvPr id="32" name="Text 30"/>
          <p:cNvSpPr txBox="1"/>
          <p:nvPr/>
        </p:nvSpPr>
        <p:spPr>
          <a:xfrm>
            <a:off x="969264" y="5696712"/>
            <a:ext cx="4005072" cy="-20116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Return findings</a:t>
            </a:r>
            <a:endParaRPr lang="en-US" sz="1000" dirty="0"/>
          </a:p>
        </p:txBody>
      </p:sp>
      <p:sp>
        <p:nvSpPr>
          <p:cNvPr id="33" name="Shape 31"/>
          <p:cNvSpPr/>
          <p:nvPr/>
        </p:nvSpPr>
        <p:spPr>
          <a:xfrm>
            <a:off x="5888736" y="1709928"/>
            <a:ext cx="12802" cy="630936"/>
          </a:xfrm>
          <a:prstGeom prst="line">
            <a:avLst/>
          </a:prstGeom>
          <a:solidFill>
            <a:srgbClr val="D4DDD6"/>
          </a:solidFill>
          <a:ln w="12700">
            <a:solidFill>
              <a:srgbClr val="D4DDD6">
                <a:alpha val="0"/>
              </a:srgbClr>
            </a:solidFill>
            <a:prstDash val="solid"/>
          </a:ln>
        </p:spPr>
      </p:sp>
      <p:sp>
        <p:nvSpPr>
          <p:cNvPr id="34" name="Shape 32"/>
          <p:cNvSpPr/>
          <p:nvPr/>
        </p:nvSpPr>
        <p:spPr>
          <a:xfrm>
            <a:off x="5888736" y="2505456"/>
            <a:ext cx="12802" cy="630936"/>
          </a:xfrm>
          <a:prstGeom prst="line">
            <a:avLst/>
          </a:prstGeom>
          <a:solidFill>
            <a:srgbClr val="D4DDD6"/>
          </a:solidFill>
          <a:ln w="12700">
            <a:solidFill>
              <a:srgbClr val="D4DDD6">
                <a:alpha val="0"/>
              </a:srgbClr>
            </a:solidFill>
            <a:prstDash val="solid"/>
          </a:ln>
        </p:spPr>
      </p:sp>
      <p:sp>
        <p:nvSpPr>
          <p:cNvPr id="35" name="Shape 33"/>
          <p:cNvSpPr/>
          <p:nvPr/>
        </p:nvSpPr>
        <p:spPr>
          <a:xfrm>
            <a:off x="5888736" y="3300984"/>
            <a:ext cx="12802" cy="630936"/>
          </a:xfrm>
          <a:prstGeom prst="line">
            <a:avLst/>
          </a:prstGeom>
          <a:solidFill>
            <a:srgbClr val="D4DDD6"/>
          </a:solidFill>
          <a:ln w="12700">
            <a:solidFill>
              <a:srgbClr val="D4DDD6">
                <a:alpha val="0"/>
              </a:srgbClr>
            </a:solidFill>
            <a:prstDash val="solid"/>
          </a:ln>
        </p:spPr>
      </p:sp>
      <p:sp>
        <p:nvSpPr>
          <p:cNvPr id="36" name="Shape 34"/>
          <p:cNvSpPr/>
          <p:nvPr/>
        </p:nvSpPr>
        <p:spPr>
          <a:xfrm>
            <a:off x="5888736" y="4096512"/>
            <a:ext cx="12802" cy="630936"/>
          </a:xfrm>
          <a:prstGeom prst="line">
            <a:avLst/>
          </a:prstGeom>
          <a:solidFill>
            <a:srgbClr val="D4DDD6"/>
          </a:solidFill>
          <a:ln w="12700">
            <a:solidFill>
              <a:srgbClr val="D4DDD6">
                <a:alpha val="0"/>
              </a:srgbClr>
            </a:solidFill>
            <a:prstDash val="solid"/>
          </a:ln>
        </p:spPr>
      </p:sp>
      <p:sp>
        <p:nvSpPr>
          <p:cNvPr id="37" name="Shape 35"/>
          <p:cNvSpPr/>
          <p:nvPr/>
        </p:nvSpPr>
        <p:spPr>
          <a:xfrm>
            <a:off x="5888736" y="4892040"/>
            <a:ext cx="12802" cy="630936"/>
          </a:xfrm>
          <a:prstGeom prst="line">
            <a:avLst/>
          </a:prstGeom>
          <a:solidFill>
            <a:srgbClr val="D4DDD6"/>
          </a:solidFill>
          <a:ln w="12700">
            <a:solidFill>
              <a:srgbClr val="D4DDD6">
                <a:alpha val="0"/>
              </a:srgbClr>
            </a:solidFill>
            <a:prstDash val="solid"/>
          </a:ln>
        </p:spPr>
      </p:sp>
      <p:sp>
        <p:nvSpPr>
          <p:cNvPr id="38" name="Shape 36"/>
          <p:cNvSpPr/>
          <p:nvPr/>
        </p:nvSpPr>
        <p:spPr>
          <a:xfrm>
            <a:off x="6400800" y="1810512"/>
            <a:ext cx="4800600" cy="603504"/>
          </a:xfrm>
          <a:prstGeom prst="roundRect">
            <a:avLst>
              <a:gd name="adj" fmla="val 12121"/>
            </a:avLst>
          </a:prstGeom>
          <a:solidFill>
            <a:srgbClr val="FFFFFF"/>
          </a:solidFill>
          <a:ln w="12700">
            <a:solidFill>
              <a:srgbClr val="D4DDD6"/>
            </a:solidFill>
            <a:prstDash val="solid"/>
          </a:ln>
        </p:spPr>
      </p:sp>
      <p:sp>
        <p:nvSpPr>
          <p:cNvPr id="39" name="Text 37"/>
          <p:cNvSpPr txBox="1"/>
          <p:nvPr/>
        </p:nvSpPr>
        <p:spPr>
          <a:xfrm>
            <a:off x="6547104" y="1901952"/>
            <a:ext cx="4507992" cy="164592"/>
          </a:xfrm>
          <a:prstGeom prst="rect">
            <a:avLst/>
          </a:prstGeom>
          <a:noFill/>
          <a:ln/>
        </p:spPr>
        <p:txBody>
          <a:bodyPr wrap="square" lIns="0" tIns="0" rIns="0" bIns="0" rtlCol="0" anchor="ctr">
            <a:normAutofit/>
          </a:bodyPr>
          <a:lstStyle/>
          <a:p>
            <a:pPr algn="l" indent="0" marL="0">
              <a:buNone/>
            </a:pPr>
            <a:r>
              <a:rPr lang="en-US" sz="900" b="1" dirty="0">
                <a:solidFill>
                  <a:srgbClr val="28715F"/>
                </a:solidFill>
                <a:latin typeface="Aptos" pitchFamily="34" charset="0"/>
                <a:ea typeface="Aptos" pitchFamily="34" charset="-122"/>
                <a:cs typeface="Aptos" pitchFamily="34" charset="-120"/>
              </a:rPr>
              <a:t>01</a:t>
            </a:r>
            <a:endParaRPr lang="en-US" sz="900" dirty="0"/>
          </a:p>
        </p:txBody>
      </p:sp>
      <p:sp>
        <p:nvSpPr>
          <p:cNvPr id="40" name="Text 38"/>
          <p:cNvSpPr txBox="1"/>
          <p:nvPr/>
        </p:nvSpPr>
        <p:spPr>
          <a:xfrm>
            <a:off x="6547104" y="2121408"/>
            <a:ext cx="4507992" cy="310896"/>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GitHub PR</a:t>
            </a:r>
            <a:endParaRPr lang="en-US" sz="1300" dirty="0"/>
          </a:p>
        </p:txBody>
      </p:sp>
      <p:sp>
        <p:nvSpPr>
          <p:cNvPr id="41" name="Text 39"/>
          <p:cNvSpPr txBox="1"/>
          <p:nvPr/>
        </p:nvSpPr>
        <p:spPr>
          <a:xfrm>
            <a:off x="6547104" y="2514600"/>
            <a:ext cx="4507992" cy="-20116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pull_request event</a:t>
            </a:r>
            <a:endParaRPr lang="en-US" sz="1000" dirty="0"/>
          </a:p>
        </p:txBody>
      </p:sp>
      <p:sp>
        <p:nvSpPr>
          <p:cNvPr id="42" name="Shape 40"/>
          <p:cNvSpPr/>
          <p:nvPr/>
        </p:nvSpPr>
        <p:spPr>
          <a:xfrm>
            <a:off x="8805672" y="2432304"/>
            <a:ext cx="0" cy="137160"/>
          </a:xfrm>
          <a:prstGeom prst="line">
            <a:avLst/>
          </a:prstGeom>
          <a:noFill/>
          <a:ln w="15240">
            <a:solidFill>
              <a:srgbClr val="28715F"/>
            </a:solidFill>
            <a:prstDash val="solid"/>
            <a:tailEnd type="triangle"/>
          </a:ln>
        </p:spPr>
      </p:sp>
      <p:sp>
        <p:nvSpPr>
          <p:cNvPr id="43" name="Shape 41"/>
          <p:cNvSpPr/>
          <p:nvPr/>
        </p:nvSpPr>
        <p:spPr>
          <a:xfrm>
            <a:off x="6400800" y="2606040"/>
            <a:ext cx="4800600" cy="603504"/>
          </a:xfrm>
          <a:prstGeom prst="roundRect">
            <a:avLst>
              <a:gd name="adj" fmla="val 12121"/>
            </a:avLst>
          </a:prstGeom>
          <a:solidFill>
            <a:srgbClr val="FFFFFF"/>
          </a:solidFill>
          <a:ln w="12700">
            <a:solidFill>
              <a:srgbClr val="D4DDD6"/>
            </a:solidFill>
            <a:prstDash val="solid"/>
          </a:ln>
        </p:spPr>
      </p:sp>
      <p:sp>
        <p:nvSpPr>
          <p:cNvPr id="44" name="Text 42"/>
          <p:cNvSpPr txBox="1"/>
          <p:nvPr/>
        </p:nvSpPr>
        <p:spPr>
          <a:xfrm>
            <a:off x="6547104" y="2697480"/>
            <a:ext cx="4507992" cy="164592"/>
          </a:xfrm>
          <a:prstGeom prst="rect">
            <a:avLst/>
          </a:prstGeom>
          <a:noFill/>
          <a:ln/>
        </p:spPr>
        <p:txBody>
          <a:bodyPr wrap="square" lIns="0" tIns="0" rIns="0" bIns="0" rtlCol="0" anchor="ctr">
            <a:normAutofit/>
          </a:bodyPr>
          <a:lstStyle/>
          <a:p>
            <a:pPr algn="l" indent="0" marL="0">
              <a:buNone/>
            </a:pPr>
            <a:r>
              <a:rPr lang="en-US" sz="900" b="1" dirty="0">
                <a:solidFill>
                  <a:srgbClr val="28715F"/>
                </a:solidFill>
                <a:latin typeface="Aptos" pitchFamily="34" charset="0"/>
                <a:ea typeface="Aptos" pitchFamily="34" charset="-122"/>
                <a:cs typeface="Aptos" pitchFamily="34" charset="-120"/>
              </a:rPr>
              <a:t>02</a:t>
            </a:r>
            <a:endParaRPr lang="en-US" sz="900" dirty="0"/>
          </a:p>
        </p:txBody>
      </p:sp>
      <p:sp>
        <p:nvSpPr>
          <p:cNvPr id="45" name="Text 43"/>
          <p:cNvSpPr txBox="1"/>
          <p:nvPr/>
        </p:nvSpPr>
        <p:spPr>
          <a:xfrm>
            <a:off x="6547104" y="2916936"/>
            <a:ext cx="4507992" cy="310896"/>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GitHub Actions</a:t>
            </a:r>
            <a:endParaRPr lang="en-US" sz="1300" dirty="0"/>
          </a:p>
        </p:txBody>
      </p:sp>
      <p:sp>
        <p:nvSpPr>
          <p:cNvPr id="46" name="Text 44"/>
          <p:cNvSpPr txBox="1"/>
          <p:nvPr/>
        </p:nvSpPr>
        <p:spPr>
          <a:xfrm>
            <a:off x="6547104" y="3310128"/>
            <a:ext cx="4507992" cy="-20116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Runner lifecycle</a:t>
            </a:r>
            <a:endParaRPr lang="en-US" sz="1000" dirty="0"/>
          </a:p>
        </p:txBody>
      </p:sp>
      <p:sp>
        <p:nvSpPr>
          <p:cNvPr id="47" name="Shape 45"/>
          <p:cNvSpPr/>
          <p:nvPr/>
        </p:nvSpPr>
        <p:spPr>
          <a:xfrm>
            <a:off x="8805672" y="3227832"/>
            <a:ext cx="0" cy="137160"/>
          </a:xfrm>
          <a:prstGeom prst="line">
            <a:avLst/>
          </a:prstGeom>
          <a:noFill/>
          <a:ln w="15240">
            <a:solidFill>
              <a:srgbClr val="28715F"/>
            </a:solidFill>
            <a:prstDash val="solid"/>
            <a:tailEnd type="triangle"/>
          </a:ln>
        </p:spPr>
      </p:sp>
      <p:sp>
        <p:nvSpPr>
          <p:cNvPr id="48" name="Shape 46"/>
          <p:cNvSpPr/>
          <p:nvPr/>
        </p:nvSpPr>
        <p:spPr>
          <a:xfrm>
            <a:off x="6400800" y="3401568"/>
            <a:ext cx="4800600" cy="603504"/>
          </a:xfrm>
          <a:prstGeom prst="roundRect">
            <a:avLst>
              <a:gd name="adj" fmla="val 12121"/>
            </a:avLst>
          </a:prstGeom>
          <a:solidFill>
            <a:srgbClr val="FFFFFF"/>
          </a:solidFill>
          <a:ln w="12700">
            <a:solidFill>
              <a:srgbClr val="D4DDD6"/>
            </a:solidFill>
            <a:prstDash val="solid"/>
          </a:ln>
        </p:spPr>
      </p:sp>
      <p:sp>
        <p:nvSpPr>
          <p:cNvPr id="49" name="Text 47"/>
          <p:cNvSpPr txBox="1"/>
          <p:nvPr/>
        </p:nvSpPr>
        <p:spPr>
          <a:xfrm>
            <a:off x="6547104" y="3493008"/>
            <a:ext cx="4507992" cy="164592"/>
          </a:xfrm>
          <a:prstGeom prst="rect">
            <a:avLst/>
          </a:prstGeom>
          <a:noFill/>
          <a:ln/>
        </p:spPr>
        <p:txBody>
          <a:bodyPr wrap="square" lIns="0" tIns="0" rIns="0" bIns="0" rtlCol="0" anchor="ctr">
            <a:normAutofit/>
          </a:bodyPr>
          <a:lstStyle/>
          <a:p>
            <a:pPr algn="l" indent="0" marL="0">
              <a:buNone/>
            </a:pPr>
            <a:r>
              <a:rPr lang="en-US" sz="900" b="1" dirty="0">
                <a:solidFill>
                  <a:srgbClr val="28715F"/>
                </a:solidFill>
                <a:latin typeface="Aptos" pitchFamily="34" charset="0"/>
                <a:ea typeface="Aptos" pitchFamily="34" charset="-122"/>
                <a:cs typeface="Aptos" pitchFamily="34" charset="-120"/>
              </a:rPr>
              <a:t>03</a:t>
            </a:r>
            <a:endParaRPr lang="en-US" sz="900" dirty="0"/>
          </a:p>
        </p:txBody>
      </p:sp>
      <p:sp>
        <p:nvSpPr>
          <p:cNvPr id="50" name="Text 48"/>
          <p:cNvSpPr txBox="1"/>
          <p:nvPr/>
        </p:nvSpPr>
        <p:spPr>
          <a:xfrm>
            <a:off x="6547104" y="3712464"/>
            <a:ext cx="4507992" cy="310896"/>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Reusable workflow</a:t>
            </a:r>
            <a:endParaRPr lang="en-US" sz="1300" dirty="0"/>
          </a:p>
        </p:txBody>
      </p:sp>
      <p:sp>
        <p:nvSpPr>
          <p:cNvPr id="51" name="Text 49"/>
          <p:cNvSpPr txBox="1"/>
          <p:nvPr/>
        </p:nvSpPr>
        <p:spPr>
          <a:xfrm>
            <a:off x="6547104" y="4105656"/>
            <a:ext cx="4507992" cy="-20116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Central code + policy</a:t>
            </a:r>
            <a:endParaRPr lang="en-US" sz="1000" dirty="0"/>
          </a:p>
        </p:txBody>
      </p:sp>
      <p:sp>
        <p:nvSpPr>
          <p:cNvPr id="52" name="Shape 50"/>
          <p:cNvSpPr/>
          <p:nvPr/>
        </p:nvSpPr>
        <p:spPr>
          <a:xfrm>
            <a:off x="8805672" y="4023360"/>
            <a:ext cx="0" cy="137160"/>
          </a:xfrm>
          <a:prstGeom prst="line">
            <a:avLst/>
          </a:prstGeom>
          <a:noFill/>
          <a:ln w="15240">
            <a:solidFill>
              <a:srgbClr val="28715F"/>
            </a:solidFill>
            <a:prstDash val="solid"/>
            <a:tailEnd type="triangle"/>
          </a:ln>
        </p:spPr>
      </p:sp>
      <p:sp>
        <p:nvSpPr>
          <p:cNvPr id="53" name="Shape 51"/>
          <p:cNvSpPr/>
          <p:nvPr/>
        </p:nvSpPr>
        <p:spPr>
          <a:xfrm>
            <a:off x="6400800" y="4197096"/>
            <a:ext cx="4800600" cy="603504"/>
          </a:xfrm>
          <a:prstGeom prst="roundRect">
            <a:avLst>
              <a:gd name="adj" fmla="val 12121"/>
            </a:avLst>
          </a:prstGeom>
          <a:solidFill>
            <a:srgbClr val="FFFFFF"/>
          </a:solidFill>
          <a:ln w="12700">
            <a:solidFill>
              <a:srgbClr val="D4DDD6"/>
            </a:solidFill>
            <a:prstDash val="solid"/>
          </a:ln>
        </p:spPr>
      </p:sp>
      <p:sp>
        <p:nvSpPr>
          <p:cNvPr id="54" name="Text 52"/>
          <p:cNvSpPr txBox="1"/>
          <p:nvPr/>
        </p:nvSpPr>
        <p:spPr>
          <a:xfrm>
            <a:off x="6547104" y="4288536"/>
            <a:ext cx="4507992" cy="164592"/>
          </a:xfrm>
          <a:prstGeom prst="rect">
            <a:avLst/>
          </a:prstGeom>
          <a:noFill/>
          <a:ln/>
        </p:spPr>
        <p:txBody>
          <a:bodyPr wrap="square" lIns="0" tIns="0" rIns="0" bIns="0" rtlCol="0" anchor="ctr">
            <a:normAutofit/>
          </a:bodyPr>
          <a:lstStyle/>
          <a:p>
            <a:pPr algn="l" indent="0" marL="0">
              <a:buNone/>
            </a:pPr>
            <a:r>
              <a:rPr lang="en-US" sz="900" b="1" dirty="0">
                <a:solidFill>
                  <a:srgbClr val="28715F"/>
                </a:solidFill>
                <a:latin typeface="Aptos" pitchFamily="34" charset="0"/>
                <a:ea typeface="Aptos" pitchFamily="34" charset="-122"/>
                <a:cs typeface="Aptos" pitchFamily="34" charset="-120"/>
              </a:rPr>
              <a:t>04</a:t>
            </a:r>
            <a:endParaRPr lang="en-US" sz="900" dirty="0"/>
          </a:p>
        </p:txBody>
      </p:sp>
      <p:sp>
        <p:nvSpPr>
          <p:cNvPr id="55" name="Text 53"/>
          <p:cNvSpPr txBox="1"/>
          <p:nvPr/>
        </p:nvSpPr>
        <p:spPr>
          <a:xfrm>
            <a:off x="6547104" y="4507992"/>
            <a:ext cx="4507992" cy="310896"/>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Generative Engine</a:t>
            </a:r>
            <a:endParaRPr lang="en-US" sz="1300" dirty="0"/>
          </a:p>
        </p:txBody>
      </p:sp>
      <p:sp>
        <p:nvSpPr>
          <p:cNvPr id="56" name="Text 54"/>
          <p:cNvSpPr txBox="1"/>
          <p:nvPr/>
        </p:nvSpPr>
        <p:spPr>
          <a:xfrm>
            <a:off x="6547104" y="4901184"/>
            <a:ext cx="4507992" cy="-20116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Structured response</a:t>
            </a:r>
            <a:endParaRPr lang="en-US" sz="1000" dirty="0"/>
          </a:p>
        </p:txBody>
      </p:sp>
      <p:sp>
        <p:nvSpPr>
          <p:cNvPr id="57" name="Shape 55"/>
          <p:cNvSpPr/>
          <p:nvPr/>
        </p:nvSpPr>
        <p:spPr>
          <a:xfrm>
            <a:off x="8805672" y="4818888"/>
            <a:ext cx="0" cy="137160"/>
          </a:xfrm>
          <a:prstGeom prst="line">
            <a:avLst/>
          </a:prstGeom>
          <a:noFill/>
          <a:ln w="15240">
            <a:solidFill>
              <a:srgbClr val="28715F"/>
            </a:solidFill>
            <a:prstDash val="solid"/>
            <a:tailEnd type="triangle"/>
          </a:ln>
        </p:spPr>
      </p:sp>
      <p:sp>
        <p:nvSpPr>
          <p:cNvPr id="58" name="Shape 56"/>
          <p:cNvSpPr/>
          <p:nvPr/>
        </p:nvSpPr>
        <p:spPr>
          <a:xfrm>
            <a:off x="6400800" y="4992624"/>
            <a:ext cx="4800600" cy="603504"/>
          </a:xfrm>
          <a:prstGeom prst="roundRect">
            <a:avLst>
              <a:gd name="adj" fmla="val 12121"/>
            </a:avLst>
          </a:prstGeom>
          <a:solidFill>
            <a:srgbClr val="FFFFFF"/>
          </a:solidFill>
          <a:ln w="12700">
            <a:solidFill>
              <a:srgbClr val="D4DDD6"/>
            </a:solidFill>
            <a:prstDash val="solid"/>
          </a:ln>
        </p:spPr>
      </p:sp>
      <p:sp>
        <p:nvSpPr>
          <p:cNvPr id="59" name="Text 57"/>
          <p:cNvSpPr txBox="1"/>
          <p:nvPr/>
        </p:nvSpPr>
        <p:spPr>
          <a:xfrm>
            <a:off x="6547104" y="5084064"/>
            <a:ext cx="4507992" cy="164592"/>
          </a:xfrm>
          <a:prstGeom prst="rect">
            <a:avLst/>
          </a:prstGeom>
          <a:noFill/>
          <a:ln/>
        </p:spPr>
        <p:txBody>
          <a:bodyPr wrap="square" lIns="0" tIns="0" rIns="0" bIns="0" rtlCol="0" anchor="ctr">
            <a:normAutofit/>
          </a:bodyPr>
          <a:lstStyle/>
          <a:p>
            <a:pPr algn="l" indent="0" marL="0">
              <a:buNone/>
            </a:pPr>
            <a:r>
              <a:rPr lang="en-US" sz="900" b="1" dirty="0">
                <a:solidFill>
                  <a:srgbClr val="28715F"/>
                </a:solidFill>
                <a:latin typeface="Aptos" pitchFamily="34" charset="0"/>
                <a:ea typeface="Aptos" pitchFamily="34" charset="-122"/>
                <a:cs typeface="Aptos" pitchFamily="34" charset="-120"/>
              </a:rPr>
              <a:t>05</a:t>
            </a:r>
            <a:endParaRPr lang="en-US" sz="900" dirty="0"/>
          </a:p>
        </p:txBody>
      </p:sp>
      <p:sp>
        <p:nvSpPr>
          <p:cNvPr id="60" name="Text 58"/>
          <p:cNvSpPr txBox="1"/>
          <p:nvPr/>
        </p:nvSpPr>
        <p:spPr>
          <a:xfrm>
            <a:off x="6547104" y="5303520"/>
            <a:ext cx="4507992" cy="310896"/>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GitHub review</a:t>
            </a:r>
            <a:endParaRPr lang="en-US" sz="1300" dirty="0"/>
          </a:p>
        </p:txBody>
      </p:sp>
      <p:sp>
        <p:nvSpPr>
          <p:cNvPr id="61" name="Text 59"/>
          <p:cNvSpPr txBox="1"/>
          <p:nvPr/>
        </p:nvSpPr>
        <p:spPr>
          <a:xfrm>
            <a:off x="6547104" y="5696712"/>
            <a:ext cx="4507992" cy="-20116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PR-level COMMENT</a:t>
            </a:r>
            <a:endParaRPr lang="en-US" sz="1000" dirty="0"/>
          </a:p>
        </p:txBody>
      </p:sp>
      <p:sp>
        <p:nvSpPr>
          <p:cNvPr id="62" name="Text 60"/>
          <p:cNvSpPr txBox="1"/>
          <p:nvPr/>
        </p:nvSpPr>
        <p:spPr>
          <a:xfrm>
            <a:off x="822960" y="5961888"/>
            <a:ext cx="10698480" cy="274320"/>
          </a:xfrm>
          <a:prstGeom prst="rect">
            <a:avLst/>
          </a:prstGeom>
          <a:noFill/>
          <a:ln/>
        </p:spPr>
        <p:txBody>
          <a:bodyPr wrap="square" lIns="0" tIns="0" rIns="0" bIns="0" rtlCol="0" anchor="ctr">
            <a:normAutofit/>
          </a:bodyPr>
          <a:lstStyle/>
          <a:p>
            <a:pPr algn="l" indent="0" marL="0">
              <a:buNone/>
            </a:pPr>
            <a:r>
              <a:rPr lang="en-US" sz="1100" i="1" dirty="0">
                <a:solidFill>
                  <a:srgbClr val="63736D"/>
                </a:solidFill>
                <a:latin typeface="Aptos" pitchFamily="34" charset="0"/>
                <a:ea typeface="Aptos" pitchFamily="34" charset="-122"/>
                <a:cs typeface="Aptos" pitchFamily="34" charset="-120"/>
              </a:rPr>
              <a:t>The webhook diagram is historical context; these services are not part of the current repository.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66928" y="246888"/>
            <a:ext cx="585216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8715F"/>
                </a:solidFill>
                <a:latin typeface="Aptos" pitchFamily="34" charset="0"/>
                <a:ea typeface="Aptos" pitchFamily="34" charset="-122"/>
                <a:cs typeface="Aptos" pitchFamily="34" charset="-120"/>
              </a:rPr>
              <a:t>MIGRATION DRIVER</a:t>
            </a:r>
            <a:endParaRPr lang="en-US" sz="900" dirty="0"/>
          </a:p>
        </p:txBody>
      </p:sp>
      <p:sp>
        <p:nvSpPr>
          <p:cNvPr id="3" name="Text 1"/>
          <p:cNvSpPr txBox="1"/>
          <p:nvPr/>
        </p:nvSpPr>
        <p:spPr>
          <a:xfrm>
            <a:off x="566928" y="55778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42421"/>
                </a:solidFill>
                <a:latin typeface="Aptos Display" pitchFamily="34" charset="0"/>
                <a:ea typeface="Aptos Display" pitchFamily="34" charset="-122"/>
                <a:cs typeface="Aptos Display" pitchFamily="34" charset="-120"/>
              </a:rPr>
              <a:t>Challenges in the Previous Architecture</a:t>
            </a:r>
            <a:endParaRPr lang="en-US" sz="2700" dirty="0"/>
          </a:p>
        </p:txBody>
      </p:sp>
      <p:sp>
        <p:nvSpPr>
          <p:cNvPr id="4" name="Shape 2"/>
          <p:cNvSpPr/>
          <p:nvPr/>
        </p:nvSpPr>
        <p:spPr>
          <a:xfrm>
            <a:off x="566928" y="1197864"/>
            <a:ext cx="11045952" cy="10973"/>
          </a:xfrm>
          <a:prstGeom prst="line">
            <a:avLst/>
          </a:prstGeom>
          <a:solidFill>
            <a:srgbClr val="D4DDD6"/>
          </a:solidFill>
          <a:ln w="12700">
            <a:solidFill>
              <a:srgbClr val="D4DDD6">
                <a:alpha val="0"/>
              </a:srgbClr>
            </a:solidFill>
            <a:prstDash val="solid"/>
          </a:ln>
        </p:spPr>
      </p:sp>
      <p:sp>
        <p:nvSpPr>
          <p:cNvPr id="5" name="Text 3"/>
          <p:cNvSpPr txBox="1"/>
          <p:nvPr/>
        </p:nvSpPr>
        <p:spPr>
          <a:xfrm>
            <a:off x="566928" y="6537960"/>
            <a:ext cx="7315200" cy="146304"/>
          </a:xfrm>
          <a:prstGeom prst="rect">
            <a:avLst/>
          </a:prstGeom>
          <a:noFill/>
          <a:ln/>
        </p:spPr>
        <p:txBody>
          <a:bodyPr wrap="square" lIns="0" tIns="0" rIns="0" bIns="0" rtlCol="0" anchor="ctr">
            <a:normAutofit/>
          </a:bodyPr>
          <a:lstStyle/>
          <a:p>
            <a:pPr algn="l" indent="0" marL="0">
              <a:buNone/>
            </a:pPr>
            <a:r>
              <a:rPr lang="en-US" sz="800" spc="40" kern="0" dirty="0">
                <a:solidFill>
                  <a:srgbClr val="63736D"/>
                </a:solidFill>
                <a:latin typeface="Aptos" pitchFamily="34" charset="0"/>
                <a:ea typeface="Aptos" pitchFamily="34" charset="-122"/>
                <a:cs typeface="Aptos" pitchFamily="34" charset="-120"/>
              </a:rPr>
              <a:t>AI CODE REVIEW AGENT  /  MENTOR DEMO</a:t>
            </a:r>
            <a:endParaRPr lang="en-US" sz="800" dirty="0"/>
          </a:p>
        </p:txBody>
      </p:sp>
      <p:sp>
        <p:nvSpPr>
          <p:cNvPr id="6" name="Text 4"/>
          <p:cNvSpPr txBox="1"/>
          <p:nvPr/>
        </p:nvSpPr>
        <p:spPr>
          <a:xfrm>
            <a:off x="11018520" y="6510528"/>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28715F"/>
                </a:solidFill>
                <a:latin typeface="Aptos" pitchFamily="34" charset="0"/>
                <a:ea typeface="Aptos" pitchFamily="34" charset="-122"/>
                <a:cs typeface="Aptos" pitchFamily="34" charset="-120"/>
              </a:rPr>
              <a:t>04</a:t>
            </a:r>
            <a:endParaRPr lang="en-US" sz="900" dirty="0"/>
          </a:p>
        </p:txBody>
      </p:sp>
      <p:sp>
        <p:nvSpPr>
          <p:cNvPr id="7" name="Shape 5"/>
          <p:cNvSpPr/>
          <p:nvPr/>
        </p:nvSpPr>
        <p:spPr>
          <a:xfrm>
            <a:off x="777240" y="1572768"/>
            <a:ext cx="10652760" cy="786384"/>
          </a:xfrm>
          <a:prstGeom prst="roundRect">
            <a:avLst/>
          </a:prstGeom>
          <a:solidFill>
            <a:srgbClr val="FFFFFF"/>
          </a:solidFill>
          <a:ln w="12700">
            <a:solidFill>
              <a:srgbClr val="D4DDD6"/>
            </a:solidFill>
            <a:prstDash val="solid"/>
          </a:ln>
        </p:spPr>
      </p:sp>
      <p:sp>
        <p:nvSpPr>
          <p:cNvPr id="8" name="Shape 6"/>
          <p:cNvSpPr/>
          <p:nvPr/>
        </p:nvSpPr>
        <p:spPr>
          <a:xfrm>
            <a:off x="777240" y="1572768"/>
            <a:ext cx="82296" cy="786384"/>
          </a:xfrm>
          <a:prstGeom prst="rect">
            <a:avLst/>
          </a:prstGeom>
          <a:solidFill>
            <a:srgbClr val="D36B56"/>
          </a:solidFill>
          <a:ln w="12700">
            <a:solidFill>
              <a:srgbClr val="D36B56">
                <a:alpha val="0"/>
              </a:srgbClr>
            </a:solidFill>
            <a:prstDash val="solid"/>
          </a:ln>
        </p:spPr>
      </p:sp>
      <p:sp>
        <p:nvSpPr>
          <p:cNvPr id="9" name="Text 7"/>
          <p:cNvSpPr txBox="1"/>
          <p:nvPr/>
        </p:nvSpPr>
        <p:spPr>
          <a:xfrm>
            <a:off x="1033272" y="1773936"/>
            <a:ext cx="411480" cy="228600"/>
          </a:xfrm>
          <a:prstGeom prst="rect">
            <a:avLst/>
          </a:prstGeom>
          <a:noFill/>
          <a:ln/>
        </p:spPr>
        <p:txBody>
          <a:bodyPr wrap="square" lIns="0" tIns="0" rIns="0" bIns="0" rtlCol="0" anchor="ctr">
            <a:normAutofit/>
          </a:bodyPr>
          <a:lstStyle/>
          <a:p>
            <a:pPr algn="l" indent="0" marL="0">
              <a:buNone/>
            </a:pPr>
            <a:r>
              <a:rPr lang="en-US" sz="1100" b="1" dirty="0">
                <a:solidFill>
                  <a:srgbClr val="D36B56"/>
                </a:solidFill>
                <a:latin typeface="Aptos" pitchFamily="34" charset="0"/>
                <a:ea typeface="Aptos" pitchFamily="34" charset="-122"/>
                <a:cs typeface="Aptos" pitchFamily="34" charset="-120"/>
              </a:rPr>
              <a:t>01</a:t>
            </a:r>
            <a:endParaRPr lang="en-US" sz="1100" dirty="0"/>
          </a:p>
        </p:txBody>
      </p:sp>
      <p:sp>
        <p:nvSpPr>
          <p:cNvPr id="10" name="Text 8"/>
          <p:cNvSpPr txBox="1"/>
          <p:nvPr/>
        </p:nvSpPr>
        <p:spPr>
          <a:xfrm>
            <a:off x="1664208" y="1709928"/>
            <a:ext cx="2834640" cy="246888"/>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Always-running service</a:t>
            </a:r>
            <a:endParaRPr lang="en-US" sz="1500" dirty="0"/>
          </a:p>
        </p:txBody>
      </p:sp>
      <p:sp>
        <p:nvSpPr>
          <p:cNvPr id="11" name="Text 9"/>
          <p:cNvSpPr txBox="1"/>
          <p:nvPr/>
        </p:nvSpPr>
        <p:spPr>
          <a:xfrm>
            <a:off x="4645152" y="1691640"/>
            <a:ext cx="6355080" cy="438912"/>
          </a:xfrm>
          <a:prstGeom prst="rect">
            <a:avLst/>
          </a:prstGeom>
          <a:noFill/>
          <a:ln/>
        </p:spPr>
        <p:txBody>
          <a:bodyPr wrap="square" lIns="0" tIns="0" rIns="0" bIns="0" rtlCol="0" anchor="ctr">
            <a:normAutofit/>
          </a:bodyPr>
          <a:lstStyle/>
          <a:p>
            <a:pPr algn="l" indent="0" marL="0">
              <a:buNone/>
            </a:pPr>
            <a:r>
              <a:rPr lang="en-US" sz="1200" dirty="0">
                <a:solidFill>
                  <a:srgbClr val="63736D"/>
                </a:solidFill>
                <a:latin typeface="Aptos" pitchFamily="34" charset="0"/>
                <a:ea typeface="Aptos" pitchFamily="34" charset="-122"/>
                <a:cs typeface="Aptos" pitchFamily="34" charset="-120"/>
              </a:rPr>
              <a:t>A listener must be available when GitHub sends a webhook.</a:t>
            </a:r>
            <a:endParaRPr lang="en-US" sz="1200" dirty="0"/>
          </a:p>
        </p:txBody>
      </p:sp>
      <p:sp>
        <p:nvSpPr>
          <p:cNvPr id="12" name="Shape 10"/>
          <p:cNvSpPr/>
          <p:nvPr/>
        </p:nvSpPr>
        <p:spPr>
          <a:xfrm>
            <a:off x="777240" y="2587752"/>
            <a:ext cx="10652760" cy="786384"/>
          </a:xfrm>
          <a:prstGeom prst="roundRect">
            <a:avLst/>
          </a:prstGeom>
          <a:solidFill>
            <a:srgbClr val="FFFFFF"/>
          </a:solidFill>
          <a:ln w="12700">
            <a:solidFill>
              <a:srgbClr val="D4DDD6"/>
            </a:solidFill>
            <a:prstDash val="solid"/>
          </a:ln>
        </p:spPr>
      </p:sp>
      <p:sp>
        <p:nvSpPr>
          <p:cNvPr id="13" name="Shape 11"/>
          <p:cNvSpPr/>
          <p:nvPr/>
        </p:nvSpPr>
        <p:spPr>
          <a:xfrm>
            <a:off x="777240" y="2587752"/>
            <a:ext cx="82296" cy="786384"/>
          </a:xfrm>
          <a:prstGeom prst="rect">
            <a:avLst/>
          </a:prstGeom>
          <a:solidFill>
            <a:srgbClr val="E4AE45"/>
          </a:solidFill>
          <a:ln w="12700">
            <a:solidFill>
              <a:srgbClr val="E4AE45">
                <a:alpha val="0"/>
              </a:srgbClr>
            </a:solidFill>
            <a:prstDash val="solid"/>
          </a:ln>
        </p:spPr>
      </p:sp>
      <p:sp>
        <p:nvSpPr>
          <p:cNvPr id="14" name="Text 12"/>
          <p:cNvSpPr txBox="1"/>
          <p:nvPr/>
        </p:nvSpPr>
        <p:spPr>
          <a:xfrm>
            <a:off x="1033272" y="2788920"/>
            <a:ext cx="411480" cy="228600"/>
          </a:xfrm>
          <a:prstGeom prst="rect">
            <a:avLst/>
          </a:prstGeom>
          <a:noFill/>
          <a:ln/>
        </p:spPr>
        <p:txBody>
          <a:bodyPr wrap="square" lIns="0" tIns="0" rIns="0" bIns="0" rtlCol="0" anchor="ctr">
            <a:normAutofit/>
          </a:bodyPr>
          <a:lstStyle/>
          <a:p>
            <a:pPr algn="l" indent="0" marL="0">
              <a:buNone/>
            </a:pPr>
            <a:r>
              <a:rPr lang="en-US" sz="1100" b="1" dirty="0">
                <a:solidFill>
                  <a:srgbClr val="E4AE45"/>
                </a:solidFill>
                <a:latin typeface="Aptos" pitchFamily="34" charset="0"/>
                <a:ea typeface="Aptos" pitchFamily="34" charset="-122"/>
                <a:cs typeface="Aptos" pitchFamily="34" charset="-120"/>
              </a:rPr>
              <a:t>02</a:t>
            </a:r>
            <a:endParaRPr lang="en-US" sz="1100" dirty="0"/>
          </a:p>
        </p:txBody>
      </p:sp>
      <p:sp>
        <p:nvSpPr>
          <p:cNvPr id="15" name="Text 13"/>
          <p:cNvSpPr txBox="1"/>
          <p:nvPr/>
        </p:nvSpPr>
        <p:spPr>
          <a:xfrm>
            <a:off x="1664208" y="2724912"/>
            <a:ext cx="2834640" cy="246888"/>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ngrok dependency</a:t>
            </a:r>
            <a:endParaRPr lang="en-US" sz="1500" dirty="0"/>
          </a:p>
        </p:txBody>
      </p:sp>
      <p:sp>
        <p:nvSpPr>
          <p:cNvPr id="16" name="Text 14"/>
          <p:cNvSpPr txBox="1"/>
          <p:nvPr/>
        </p:nvSpPr>
        <p:spPr>
          <a:xfrm>
            <a:off x="4645152" y="2706624"/>
            <a:ext cx="6355080" cy="438912"/>
          </a:xfrm>
          <a:prstGeom prst="rect">
            <a:avLst/>
          </a:prstGeom>
          <a:noFill/>
          <a:ln/>
        </p:spPr>
        <p:txBody>
          <a:bodyPr wrap="square" lIns="0" tIns="0" rIns="0" bIns="0" rtlCol="0" anchor="ctr">
            <a:normAutofit/>
          </a:bodyPr>
          <a:lstStyle/>
          <a:p>
            <a:pPr algn="l" indent="0" marL="0">
              <a:buNone/>
            </a:pPr>
            <a:r>
              <a:rPr lang="en-US" sz="1200" dirty="0">
                <a:solidFill>
                  <a:srgbClr val="63736D"/>
                </a:solidFill>
                <a:latin typeface="Aptos" pitchFamily="34" charset="0"/>
                <a:ea typeface="Aptos" pitchFamily="34" charset="-122"/>
                <a:cs typeface="Aptos" pitchFamily="34" charset="-120"/>
              </a:rPr>
              <a:t>A tunnel and reachable endpoint add setup and configuration steps.</a:t>
            </a:r>
            <a:endParaRPr lang="en-US" sz="1200" dirty="0"/>
          </a:p>
        </p:txBody>
      </p:sp>
      <p:sp>
        <p:nvSpPr>
          <p:cNvPr id="17" name="Shape 15"/>
          <p:cNvSpPr/>
          <p:nvPr/>
        </p:nvSpPr>
        <p:spPr>
          <a:xfrm>
            <a:off x="777240" y="3602736"/>
            <a:ext cx="10652760" cy="786384"/>
          </a:xfrm>
          <a:prstGeom prst="roundRect">
            <a:avLst/>
          </a:prstGeom>
          <a:solidFill>
            <a:srgbClr val="FFFFFF"/>
          </a:solidFill>
          <a:ln w="12700">
            <a:solidFill>
              <a:srgbClr val="D4DDD6"/>
            </a:solidFill>
            <a:prstDash val="solid"/>
          </a:ln>
        </p:spPr>
      </p:sp>
      <p:sp>
        <p:nvSpPr>
          <p:cNvPr id="18" name="Shape 16"/>
          <p:cNvSpPr/>
          <p:nvPr/>
        </p:nvSpPr>
        <p:spPr>
          <a:xfrm>
            <a:off x="777240" y="3602736"/>
            <a:ext cx="82296" cy="786384"/>
          </a:xfrm>
          <a:prstGeom prst="rect">
            <a:avLst/>
          </a:prstGeom>
          <a:solidFill>
            <a:srgbClr val="54809A"/>
          </a:solidFill>
          <a:ln w="12700">
            <a:solidFill>
              <a:srgbClr val="54809A">
                <a:alpha val="0"/>
              </a:srgbClr>
            </a:solidFill>
            <a:prstDash val="solid"/>
          </a:ln>
        </p:spPr>
      </p:sp>
      <p:sp>
        <p:nvSpPr>
          <p:cNvPr id="19" name="Text 17"/>
          <p:cNvSpPr txBox="1"/>
          <p:nvPr/>
        </p:nvSpPr>
        <p:spPr>
          <a:xfrm>
            <a:off x="1033272" y="3803904"/>
            <a:ext cx="411480" cy="228600"/>
          </a:xfrm>
          <a:prstGeom prst="rect">
            <a:avLst/>
          </a:prstGeom>
          <a:noFill/>
          <a:ln/>
        </p:spPr>
        <p:txBody>
          <a:bodyPr wrap="square" lIns="0" tIns="0" rIns="0" bIns="0" rtlCol="0" anchor="ctr">
            <a:normAutofit/>
          </a:bodyPr>
          <a:lstStyle/>
          <a:p>
            <a:pPr algn="l" indent="0" marL="0">
              <a:buNone/>
            </a:pPr>
            <a:r>
              <a:rPr lang="en-US" sz="1100" b="1" dirty="0">
                <a:solidFill>
                  <a:srgbClr val="54809A"/>
                </a:solidFill>
                <a:latin typeface="Aptos" pitchFamily="34" charset="0"/>
                <a:ea typeface="Aptos" pitchFamily="34" charset="-122"/>
                <a:cs typeface="Aptos" pitchFamily="34" charset="-120"/>
              </a:rPr>
              <a:t>03</a:t>
            </a:r>
            <a:endParaRPr lang="en-US" sz="1100" dirty="0"/>
          </a:p>
        </p:txBody>
      </p:sp>
      <p:sp>
        <p:nvSpPr>
          <p:cNvPr id="20" name="Text 18"/>
          <p:cNvSpPr txBox="1"/>
          <p:nvPr/>
        </p:nvSpPr>
        <p:spPr>
          <a:xfrm>
            <a:off x="1664208" y="3739896"/>
            <a:ext cx="2834640" cy="246888"/>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Webhook maintenance</a:t>
            </a:r>
            <a:endParaRPr lang="en-US" sz="1500" dirty="0"/>
          </a:p>
        </p:txBody>
      </p:sp>
      <p:sp>
        <p:nvSpPr>
          <p:cNvPr id="21" name="Text 19"/>
          <p:cNvSpPr txBox="1"/>
          <p:nvPr/>
        </p:nvSpPr>
        <p:spPr>
          <a:xfrm>
            <a:off x="4645152" y="3721608"/>
            <a:ext cx="6355080" cy="438912"/>
          </a:xfrm>
          <a:prstGeom prst="rect">
            <a:avLst/>
          </a:prstGeom>
          <a:noFill/>
          <a:ln/>
        </p:spPr>
        <p:txBody>
          <a:bodyPr wrap="square" lIns="0" tIns="0" rIns="0" bIns="0" rtlCol="0" anchor="ctr">
            <a:normAutofit/>
          </a:bodyPr>
          <a:lstStyle/>
          <a:p>
            <a:pPr algn="l" indent="0" marL="0">
              <a:buNone/>
            </a:pPr>
            <a:r>
              <a:rPr lang="en-US" sz="1200" dirty="0">
                <a:solidFill>
                  <a:srgbClr val="63736D"/>
                </a:solidFill>
                <a:latin typeface="Aptos" pitchFamily="34" charset="0"/>
                <a:ea typeface="Aptos" pitchFamily="34" charset="-122"/>
                <a:cs typeface="Aptos" pitchFamily="34" charset="-120"/>
              </a:rPr>
              <a:t>Endpoint setup and failed deliveries require operational attention.</a:t>
            </a:r>
            <a:endParaRPr lang="en-US" sz="1200" dirty="0"/>
          </a:p>
        </p:txBody>
      </p:sp>
      <p:sp>
        <p:nvSpPr>
          <p:cNvPr id="22" name="Shape 20"/>
          <p:cNvSpPr/>
          <p:nvPr/>
        </p:nvSpPr>
        <p:spPr>
          <a:xfrm>
            <a:off x="777240" y="4617720"/>
            <a:ext cx="10652760" cy="786384"/>
          </a:xfrm>
          <a:prstGeom prst="roundRect">
            <a:avLst/>
          </a:prstGeom>
          <a:solidFill>
            <a:srgbClr val="FFFFFF"/>
          </a:solidFill>
          <a:ln w="12700">
            <a:solidFill>
              <a:srgbClr val="D4DDD6"/>
            </a:solidFill>
            <a:prstDash val="solid"/>
          </a:ln>
        </p:spPr>
      </p:sp>
      <p:sp>
        <p:nvSpPr>
          <p:cNvPr id="23" name="Shape 21"/>
          <p:cNvSpPr/>
          <p:nvPr/>
        </p:nvSpPr>
        <p:spPr>
          <a:xfrm>
            <a:off x="777240" y="4617720"/>
            <a:ext cx="82296" cy="786384"/>
          </a:xfrm>
          <a:prstGeom prst="rect">
            <a:avLst/>
          </a:prstGeom>
          <a:solidFill>
            <a:srgbClr val="28715F"/>
          </a:solidFill>
          <a:ln w="12700">
            <a:solidFill>
              <a:srgbClr val="28715F">
                <a:alpha val="0"/>
              </a:srgbClr>
            </a:solidFill>
            <a:prstDash val="solid"/>
          </a:ln>
        </p:spPr>
      </p:sp>
      <p:sp>
        <p:nvSpPr>
          <p:cNvPr id="24" name="Text 22"/>
          <p:cNvSpPr txBox="1"/>
          <p:nvPr/>
        </p:nvSpPr>
        <p:spPr>
          <a:xfrm>
            <a:off x="1033272" y="4818888"/>
            <a:ext cx="411480" cy="228600"/>
          </a:xfrm>
          <a:prstGeom prst="rect">
            <a:avLst/>
          </a:prstGeom>
          <a:noFill/>
          <a:ln/>
        </p:spPr>
        <p:txBody>
          <a:bodyPr wrap="square" lIns="0" tIns="0" rIns="0" bIns="0" rtlCol="0" anchor="ctr">
            <a:normAutofit/>
          </a:bodyPr>
          <a:lstStyle/>
          <a:p>
            <a:pPr algn="l" indent="0" marL="0">
              <a:buNone/>
            </a:pPr>
            <a:r>
              <a:rPr lang="en-US" sz="1100" b="1" dirty="0">
                <a:solidFill>
                  <a:srgbClr val="28715F"/>
                </a:solidFill>
                <a:latin typeface="Aptos" pitchFamily="34" charset="0"/>
                <a:ea typeface="Aptos" pitchFamily="34" charset="-122"/>
                <a:cs typeface="Aptos" pitchFamily="34" charset="-120"/>
              </a:rPr>
              <a:t>04</a:t>
            </a:r>
            <a:endParaRPr lang="en-US" sz="1100" dirty="0"/>
          </a:p>
        </p:txBody>
      </p:sp>
      <p:sp>
        <p:nvSpPr>
          <p:cNvPr id="25" name="Text 23"/>
          <p:cNvSpPr txBox="1"/>
          <p:nvPr/>
        </p:nvSpPr>
        <p:spPr>
          <a:xfrm>
            <a:off x="1664208" y="4754880"/>
            <a:ext cx="2834640" cy="246888"/>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Operational overhead</a:t>
            </a:r>
            <a:endParaRPr lang="en-US" sz="1500" dirty="0"/>
          </a:p>
        </p:txBody>
      </p:sp>
      <p:sp>
        <p:nvSpPr>
          <p:cNvPr id="26" name="Text 24"/>
          <p:cNvSpPr txBox="1"/>
          <p:nvPr/>
        </p:nvSpPr>
        <p:spPr>
          <a:xfrm>
            <a:off x="4645152" y="4736592"/>
            <a:ext cx="6355080" cy="438912"/>
          </a:xfrm>
          <a:prstGeom prst="rect">
            <a:avLst/>
          </a:prstGeom>
          <a:noFill/>
          <a:ln/>
        </p:spPr>
        <p:txBody>
          <a:bodyPr wrap="square" lIns="0" tIns="0" rIns="0" bIns="0" rtlCol="0" anchor="ctr">
            <a:normAutofit/>
          </a:bodyPr>
          <a:lstStyle/>
          <a:p>
            <a:pPr algn="l" indent="0" marL="0">
              <a:buNone/>
            </a:pPr>
            <a:r>
              <a:rPr lang="en-US" sz="1200" dirty="0">
                <a:solidFill>
                  <a:srgbClr val="63736D"/>
                </a:solidFill>
                <a:latin typeface="Aptos" pitchFamily="34" charset="0"/>
                <a:ea typeface="Aptos" pitchFamily="34" charset="-122"/>
                <a:cs typeface="Aptos" pitchFamily="34" charset="-120"/>
              </a:rPr>
              <a:t>Service lifecycle, networking, and logs sit outside the PR workflow.</a:t>
            </a:r>
            <a:endParaRPr lang="en-US" sz="1200" dirty="0"/>
          </a:p>
        </p:txBody>
      </p:sp>
      <p:sp>
        <p:nvSpPr>
          <p:cNvPr id="27" name="Text 25"/>
          <p:cNvSpPr txBox="1"/>
          <p:nvPr/>
        </p:nvSpPr>
        <p:spPr>
          <a:xfrm>
            <a:off x="804672" y="5852160"/>
            <a:ext cx="5212080" cy="246888"/>
          </a:xfrm>
          <a:prstGeom prst="rect">
            <a:avLst/>
          </a:prstGeom>
          <a:noFill/>
          <a:ln/>
        </p:spPr>
        <p:txBody>
          <a:bodyPr wrap="square" lIns="0" tIns="0" rIns="0" bIns="0" rtlCol="0" anchor="ctr">
            <a:normAutofit/>
          </a:bodyPr>
          <a:lstStyle/>
          <a:p>
            <a:pPr algn="l" indent="0" marL="0">
              <a:buNone/>
            </a:pPr>
            <a:r>
              <a:rPr lang="en-US" sz="1000" i="1" dirty="0">
                <a:solidFill>
                  <a:srgbClr val="63736D"/>
                </a:solidFill>
                <a:latin typeface="Aptos" pitchFamily="34" charset="0"/>
                <a:ea typeface="Aptos" pitchFamily="34" charset="-122"/>
                <a:cs typeface="Aptos" pitchFamily="34" charset="-120"/>
              </a:rPr>
              <a:t>Motivation, not measured incident or cost data.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66928" y="246888"/>
            <a:ext cx="585216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8715F"/>
                </a:solidFill>
                <a:latin typeface="Aptos" pitchFamily="34" charset="0"/>
                <a:ea typeface="Aptos" pitchFamily="34" charset="-122"/>
                <a:cs typeface="Aptos" pitchFamily="34" charset="-120"/>
              </a:rPr>
              <a:t>P1 REQUEST-TO-REVIEW</a:t>
            </a:r>
            <a:endParaRPr lang="en-US" sz="900" dirty="0"/>
          </a:p>
        </p:txBody>
      </p:sp>
      <p:sp>
        <p:nvSpPr>
          <p:cNvPr id="3" name="Text 1"/>
          <p:cNvSpPr txBox="1"/>
          <p:nvPr/>
        </p:nvSpPr>
        <p:spPr>
          <a:xfrm>
            <a:off x="566928" y="55778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42421"/>
                </a:solidFill>
                <a:latin typeface="Aptos Display" pitchFamily="34" charset="0"/>
                <a:ea typeface="Aptos Display" pitchFamily="34" charset="-122"/>
                <a:cs typeface="Aptos Display" pitchFamily="34" charset="-120"/>
              </a:rPr>
              <a:t>GitHub Actions Architecture</a:t>
            </a:r>
            <a:endParaRPr lang="en-US" sz="2700" dirty="0"/>
          </a:p>
        </p:txBody>
      </p:sp>
      <p:sp>
        <p:nvSpPr>
          <p:cNvPr id="4" name="Shape 2"/>
          <p:cNvSpPr/>
          <p:nvPr/>
        </p:nvSpPr>
        <p:spPr>
          <a:xfrm>
            <a:off x="566928" y="1197864"/>
            <a:ext cx="11045952" cy="10973"/>
          </a:xfrm>
          <a:prstGeom prst="line">
            <a:avLst/>
          </a:prstGeom>
          <a:solidFill>
            <a:srgbClr val="D4DDD6"/>
          </a:solidFill>
          <a:ln w="12700">
            <a:solidFill>
              <a:srgbClr val="D4DDD6">
                <a:alpha val="0"/>
              </a:srgbClr>
            </a:solidFill>
            <a:prstDash val="solid"/>
          </a:ln>
        </p:spPr>
      </p:sp>
      <p:sp>
        <p:nvSpPr>
          <p:cNvPr id="5" name="Text 3"/>
          <p:cNvSpPr txBox="1"/>
          <p:nvPr/>
        </p:nvSpPr>
        <p:spPr>
          <a:xfrm>
            <a:off x="566928" y="6537960"/>
            <a:ext cx="7315200" cy="146304"/>
          </a:xfrm>
          <a:prstGeom prst="rect">
            <a:avLst/>
          </a:prstGeom>
          <a:noFill/>
          <a:ln/>
        </p:spPr>
        <p:txBody>
          <a:bodyPr wrap="square" lIns="0" tIns="0" rIns="0" bIns="0" rtlCol="0" anchor="ctr">
            <a:normAutofit/>
          </a:bodyPr>
          <a:lstStyle/>
          <a:p>
            <a:pPr algn="l" indent="0" marL="0">
              <a:buNone/>
            </a:pPr>
            <a:r>
              <a:rPr lang="en-US" sz="800" spc="40" kern="0" dirty="0">
                <a:solidFill>
                  <a:srgbClr val="63736D"/>
                </a:solidFill>
                <a:latin typeface="Aptos" pitchFamily="34" charset="0"/>
                <a:ea typeface="Aptos" pitchFamily="34" charset="-122"/>
                <a:cs typeface="Aptos" pitchFamily="34" charset="-120"/>
              </a:rPr>
              <a:t>AI CODE REVIEW AGENT  /  MENTOR DEMO</a:t>
            </a:r>
            <a:endParaRPr lang="en-US" sz="800" dirty="0"/>
          </a:p>
        </p:txBody>
      </p:sp>
      <p:sp>
        <p:nvSpPr>
          <p:cNvPr id="6" name="Text 4"/>
          <p:cNvSpPr txBox="1"/>
          <p:nvPr/>
        </p:nvSpPr>
        <p:spPr>
          <a:xfrm>
            <a:off x="11018520" y="6510528"/>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28715F"/>
                </a:solidFill>
                <a:latin typeface="Aptos" pitchFamily="34" charset="0"/>
                <a:ea typeface="Aptos" pitchFamily="34" charset="-122"/>
                <a:cs typeface="Aptos" pitchFamily="34" charset="-120"/>
              </a:rPr>
              <a:t>05</a:t>
            </a:r>
            <a:endParaRPr lang="en-US" sz="900" dirty="0"/>
          </a:p>
        </p:txBody>
      </p:sp>
      <p:sp>
        <p:nvSpPr>
          <p:cNvPr id="7" name="Shape 5"/>
          <p:cNvSpPr/>
          <p:nvPr/>
        </p:nvSpPr>
        <p:spPr>
          <a:xfrm>
            <a:off x="640080" y="2112264"/>
            <a:ext cx="1700784" cy="1417320"/>
          </a:xfrm>
          <a:prstGeom prst="roundRect">
            <a:avLst>
              <a:gd name="adj" fmla="val 5161"/>
            </a:avLst>
          </a:prstGeom>
          <a:solidFill>
            <a:srgbClr val="E6EEE8"/>
          </a:solidFill>
          <a:ln w="12700">
            <a:solidFill>
              <a:srgbClr val="D4DDD6"/>
            </a:solidFill>
            <a:prstDash val="solid"/>
          </a:ln>
        </p:spPr>
      </p:sp>
      <p:sp>
        <p:nvSpPr>
          <p:cNvPr id="8" name="Text 6"/>
          <p:cNvSpPr txBox="1"/>
          <p:nvPr/>
        </p:nvSpPr>
        <p:spPr>
          <a:xfrm>
            <a:off x="786384" y="2267712"/>
            <a:ext cx="1408176" cy="1124712"/>
          </a:xfrm>
          <a:prstGeom prst="rect">
            <a:avLst/>
          </a:prstGeom>
          <a:noFill/>
          <a:ln/>
        </p:spPr>
        <p:txBody>
          <a:bodyPr wrap="square" lIns="0" tIns="0" rIns="0" bIns="0" rtlCol="0" anchor="ctr">
            <a:normAutofit/>
          </a:bodyPr>
          <a:lstStyle/>
          <a:p>
            <a:pPr algn="l" indent="0" marL="0">
              <a:buNone/>
            </a:pPr>
            <a:r>
              <a:rPr lang="en-US" sz="1400" b="1" dirty="0">
                <a:solidFill>
                  <a:srgbClr val="142421"/>
                </a:solidFill>
                <a:latin typeface="Aptos" pitchFamily="34" charset="0"/>
                <a:ea typeface="Aptos" pitchFamily="34" charset="-122"/>
                <a:cs typeface="Aptos" pitchFamily="34" charset="-120"/>
              </a:rPr>
              <a:t>GitHub PR</a:t>
            </a:r>
            <a:endParaRPr lang="en-US" sz="1400" dirty="0"/>
          </a:p>
        </p:txBody>
      </p:sp>
      <p:sp>
        <p:nvSpPr>
          <p:cNvPr id="9" name="Text 7"/>
          <p:cNvSpPr txBox="1"/>
          <p:nvPr/>
        </p:nvSpPr>
        <p:spPr>
          <a:xfrm>
            <a:off x="786384" y="2816352"/>
            <a:ext cx="1408176" cy="61264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opened / reopened / synchronize</a:t>
            </a:r>
            <a:endParaRPr lang="en-US" sz="1000" dirty="0"/>
          </a:p>
        </p:txBody>
      </p:sp>
      <p:sp>
        <p:nvSpPr>
          <p:cNvPr id="10" name="Shape 8"/>
          <p:cNvSpPr/>
          <p:nvPr/>
        </p:nvSpPr>
        <p:spPr>
          <a:xfrm>
            <a:off x="2363724" y="2807208"/>
            <a:ext cx="160020" cy="0"/>
          </a:xfrm>
          <a:prstGeom prst="line">
            <a:avLst/>
          </a:prstGeom>
          <a:noFill/>
          <a:ln w="20320">
            <a:solidFill>
              <a:srgbClr val="28715F"/>
            </a:solidFill>
            <a:prstDash val="solid"/>
            <a:tailEnd type="triangle"/>
          </a:ln>
        </p:spPr>
      </p:sp>
      <p:sp>
        <p:nvSpPr>
          <p:cNvPr id="11" name="Shape 9"/>
          <p:cNvSpPr/>
          <p:nvPr/>
        </p:nvSpPr>
        <p:spPr>
          <a:xfrm>
            <a:off x="2542032" y="2112264"/>
            <a:ext cx="1700784" cy="1417320"/>
          </a:xfrm>
          <a:prstGeom prst="roundRect">
            <a:avLst>
              <a:gd name="adj" fmla="val 5161"/>
            </a:avLst>
          </a:prstGeom>
          <a:solidFill>
            <a:srgbClr val="FFFFFF"/>
          </a:solidFill>
          <a:ln w="12700">
            <a:solidFill>
              <a:srgbClr val="D4DDD6"/>
            </a:solidFill>
            <a:prstDash val="solid"/>
          </a:ln>
        </p:spPr>
      </p:sp>
      <p:sp>
        <p:nvSpPr>
          <p:cNvPr id="12" name="Text 10"/>
          <p:cNvSpPr txBox="1"/>
          <p:nvPr/>
        </p:nvSpPr>
        <p:spPr>
          <a:xfrm>
            <a:off x="2688336" y="2267712"/>
            <a:ext cx="1408176" cy="1124712"/>
          </a:xfrm>
          <a:prstGeom prst="rect">
            <a:avLst/>
          </a:prstGeom>
          <a:noFill/>
          <a:ln/>
        </p:spPr>
        <p:txBody>
          <a:bodyPr wrap="square" lIns="0" tIns="0" rIns="0" bIns="0" rtlCol="0" anchor="ctr">
            <a:normAutofit/>
          </a:bodyPr>
          <a:lstStyle/>
          <a:p>
            <a:pPr algn="l" indent="0" marL="0">
              <a:buNone/>
            </a:pPr>
            <a:r>
              <a:rPr lang="en-US" sz="1400" b="1" dirty="0">
                <a:solidFill>
                  <a:srgbClr val="142421"/>
                </a:solidFill>
                <a:latin typeface="Aptos" pitchFamily="34" charset="0"/>
                <a:ea typeface="Aptos" pitchFamily="34" charset="-122"/>
                <a:cs typeface="Aptos" pitchFamily="34" charset="-120"/>
              </a:rPr>
              <a:t>Reusable workflow</a:t>
            </a:r>
            <a:endParaRPr lang="en-US" sz="1400" dirty="0"/>
          </a:p>
        </p:txBody>
      </p:sp>
      <p:sp>
        <p:nvSpPr>
          <p:cNvPr id="13" name="Text 11"/>
          <p:cNvSpPr txBox="1"/>
          <p:nvPr/>
        </p:nvSpPr>
        <p:spPr>
          <a:xfrm>
            <a:off x="2688336" y="2816352"/>
            <a:ext cx="1408176" cy="61264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workflow_call</a:t>
            </a:r>
            <a:endParaRPr lang="en-US" sz="1000" dirty="0"/>
          </a:p>
        </p:txBody>
      </p:sp>
      <p:sp>
        <p:nvSpPr>
          <p:cNvPr id="14" name="Shape 12"/>
          <p:cNvSpPr/>
          <p:nvPr/>
        </p:nvSpPr>
        <p:spPr>
          <a:xfrm>
            <a:off x="4265676" y="2807208"/>
            <a:ext cx="160020" cy="0"/>
          </a:xfrm>
          <a:prstGeom prst="line">
            <a:avLst/>
          </a:prstGeom>
          <a:noFill/>
          <a:ln w="20320">
            <a:solidFill>
              <a:srgbClr val="28715F"/>
            </a:solidFill>
            <a:prstDash val="solid"/>
            <a:tailEnd type="triangle"/>
          </a:ln>
        </p:spPr>
      </p:sp>
      <p:sp>
        <p:nvSpPr>
          <p:cNvPr id="15" name="Shape 13"/>
          <p:cNvSpPr/>
          <p:nvPr/>
        </p:nvSpPr>
        <p:spPr>
          <a:xfrm>
            <a:off x="4443984" y="2112264"/>
            <a:ext cx="1700784" cy="1417320"/>
          </a:xfrm>
          <a:prstGeom prst="roundRect">
            <a:avLst>
              <a:gd name="adj" fmla="val 5161"/>
            </a:avLst>
          </a:prstGeom>
          <a:solidFill>
            <a:srgbClr val="FFFFFF"/>
          </a:solidFill>
          <a:ln w="12700">
            <a:solidFill>
              <a:srgbClr val="D4DDD6"/>
            </a:solidFill>
            <a:prstDash val="solid"/>
          </a:ln>
        </p:spPr>
      </p:sp>
      <p:sp>
        <p:nvSpPr>
          <p:cNvPr id="16" name="Text 14"/>
          <p:cNvSpPr txBox="1"/>
          <p:nvPr/>
        </p:nvSpPr>
        <p:spPr>
          <a:xfrm>
            <a:off x="4590288" y="2267712"/>
            <a:ext cx="1408176" cy="1124712"/>
          </a:xfrm>
          <a:prstGeom prst="rect">
            <a:avLst/>
          </a:prstGeom>
          <a:noFill/>
          <a:ln/>
        </p:spPr>
        <p:txBody>
          <a:bodyPr wrap="square" lIns="0" tIns="0" rIns="0" bIns="0" rtlCol="0" anchor="ctr">
            <a:normAutofit/>
          </a:bodyPr>
          <a:lstStyle/>
          <a:p>
            <a:pPr algn="l" indent="0" marL="0">
              <a:buNone/>
            </a:pPr>
            <a:r>
              <a:rPr lang="en-US" sz="1400" b="1" dirty="0">
                <a:solidFill>
                  <a:srgbClr val="142421"/>
                </a:solidFill>
                <a:latin typeface="Aptos" pitchFamily="34" charset="0"/>
                <a:ea typeface="Aptos" pitchFamily="34" charset="-122"/>
                <a:cs typeface="Aptos" pitchFamily="34" charset="-120"/>
              </a:rPr>
              <a:t>Central reviewer</a:t>
            </a:r>
            <a:endParaRPr lang="en-US" sz="1400" dirty="0"/>
          </a:p>
        </p:txBody>
      </p:sp>
      <p:sp>
        <p:nvSpPr>
          <p:cNvPr id="17" name="Text 15"/>
          <p:cNvSpPr txBox="1"/>
          <p:nvPr/>
        </p:nvSpPr>
        <p:spPr>
          <a:xfrm>
            <a:off x="4590288" y="2816352"/>
            <a:ext cx="1408176" cy="61264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Python + enterprise policy</a:t>
            </a:r>
            <a:endParaRPr lang="en-US" sz="1000" dirty="0"/>
          </a:p>
        </p:txBody>
      </p:sp>
      <p:sp>
        <p:nvSpPr>
          <p:cNvPr id="18" name="Shape 16"/>
          <p:cNvSpPr/>
          <p:nvPr/>
        </p:nvSpPr>
        <p:spPr>
          <a:xfrm>
            <a:off x="6167628" y="2807208"/>
            <a:ext cx="160020" cy="0"/>
          </a:xfrm>
          <a:prstGeom prst="line">
            <a:avLst/>
          </a:prstGeom>
          <a:noFill/>
          <a:ln w="20320">
            <a:solidFill>
              <a:srgbClr val="28715F"/>
            </a:solidFill>
            <a:prstDash val="solid"/>
            <a:tailEnd type="triangle"/>
          </a:ln>
        </p:spPr>
      </p:sp>
      <p:sp>
        <p:nvSpPr>
          <p:cNvPr id="19" name="Shape 17"/>
          <p:cNvSpPr/>
          <p:nvPr/>
        </p:nvSpPr>
        <p:spPr>
          <a:xfrm>
            <a:off x="6345936" y="2112264"/>
            <a:ext cx="1700784" cy="1417320"/>
          </a:xfrm>
          <a:prstGeom prst="roundRect">
            <a:avLst>
              <a:gd name="adj" fmla="val 5161"/>
            </a:avLst>
          </a:prstGeom>
          <a:solidFill>
            <a:srgbClr val="FFFFFF"/>
          </a:solidFill>
          <a:ln w="12700">
            <a:solidFill>
              <a:srgbClr val="D4DDD6"/>
            </a:solidFill>
            <a:prstDash val="solid"/>
          </a:ln>
        </p:spPr>
      </p:sp>
      <p:sp>
        <p:nvSpPr>
          <p:cNvPr id="20" name="Text 18"/>
          <p:cNvSpPr txBox="1"/>
          <p:nvPr/>
        </p:nvSpPr>
        <p:spPr>
          <a:xfrm>
            <a:off x="6492240" y="2267712"/>
            <a:ext cx="1408176" cy="1124712"/>
          </a:xfrm>
          <a:prstGeom prst="rect">
            <a:avLst/>
          </a:prstGeom>
          <a:noFill/>
          <a:ln/>
        </p:spPr>
        <p:txBody>
          <a:bodyPr wrap="square" lIns="0" tIns="0" rIns="0" bIns="0" rtlCol="0" anchor="ctr">
            <a:normAutofit/>
          </a:bodyPr>
          <a:lstStyle/>
          <a:p>
            <a:pPr algn="l" indent="0" marL="0">
              <a:buNone/>
            </a:pPr>
            <a:r>
              <a:rPr lang="en-US" sz="1400" b="1" dirty="0">
                <a:solidFill>
                  <a:srgbClr val="142421"/>
                </a:solidFill>
                <a:latin typeface="Aptos" pitchFamily="34" charset="0"/>
                <a:ea typeface="Aptos" pitchFamily="34" charset="-122"/>
                <a:cs typeface="Aptos" pitchFamily="34" charset="-120"/>
              </a:rPr>
              <a:t>Generative Engine</a:t>
            </a:r>
            <a:endParaRPr lang="en-US" sz="1400" dirty="0"/>
          </a:p>
        </p:txBody>
      </p:sp>
      <p:sp>
        <p:nvSpPr>
          <p:cNvPr id="21" name="Text 19"/>
          <p:cNvSpPr txBox="1"/>
          <p:nvPr/>
        </p:nvSpPr>
        <p:spPr>
          <a:xfrm>
            <a:off x="6492240" y="2816352"/>
            <a:ext cx="1408176" cy="61264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Capgemini endpoint</a:t>
            </a:r>
            <a:endParaRPr lang="en-US" sz="1000" dirty="0"/>
          </a:p>
        </p:txBody>
      </p:sp>
      <p:sp>
        <p:nvSpPr>
          <p:cNvPr id="22" name="Shape 20"/>
          <p:cNvSpPr/>
          <p:nvPr/>
        </p:nvSpPr>
        <p:spPr>
          <a:xfrm>
            <a:off x="8069580" y="2807208"/>
            <a:ext cx="160020" cy="0"/>
          </a:xfrm>
          <a:prstGeom prst="line">
            <a:avLst/>
          </a:prstGeom>
          <a:noFill/>
          <a:ln w="20320">
            <a:solidFill>
              <a:srgbClr val="28715F"/>
            </a:solidFill>
            <a:prstDash val="solid"/>
            <a:tailEnd type="triangle"/>
          </a:ln>
        </p:spPr>
      </p:sp>
      <p:sp>
        <p:nvSpPr>
          <p:cNvPr id="23" name="Shape 21"/>
          <p:cNvSpPr/>
          <p:nvPr/>
        </p:nvSpPr>
        <p:spPr>
          <a:xfrm>
            <a:off x="8247888" y="2112264"/>
            <a:ext cx="1700784" cy="1417320"/>
          </a:xfrm>
          <a:prstGeom prst="roundRect">
            <a:avLst>
              <a:gd name="adj" fmla="val 5161"/>
            </a:avLst>
          </a:prstGeom>
          <a:solidFill>
            <a:srgbClr val="FFFFFF"/>
          </a:solidFill>
          <a:ln w="12700">
            <a:solidFill>
              <a:srgbClr val="D4DDD6"/>
            </a:solidFill>
            <a:prstDash val="solid"/>
          </a:ln>
        </p:spPr>
      </p:sp>
      <p:sp>
        <p:nvSpPr>
          <p:cNvPr id="24" name="Text 22"/>
          <p:cNvSpPr txBox="1"/>
          <p:nvPr/>
        </p:nvSpPr>
        <p:spPr>
          <a:xfrm>
            <a:off x="8394192" y="2267712"/>
            <a:ext cx="1408176" cy="1124712"/>
          </a:xfrm>
          <a:prstGeom prst="rect">
            <a:avLst/>
          </a:prstGeom>
          <a:noFill/>
          <a:ln/>
        </p:spPr>
        <p:txBody>
          <a:bodyPr wrap="square" lIns="0" tIns="0" rIns="0" bIns="0" rtlCol="0" anchor="ctr">
            <a:normAutofit/>
          </a:bodyPr>
          <a:lstStyle/>
          <a:p>
            <a:pPr algn="l" indent="0" marL="0">
              <a:buNone/>
            </a:pPr>
            <a:r>
              <a:rPr lang="en-US" sz="1400" b="1" dirty="0">
                <a:solidFill>
                  <a:srgbClr val="142421"/>
                </a:solidFill>
                <a:latin typeface="Aptos" pitchFamily="34" charset="0"/>
                <a:ea typeface="Aptos" pitchFamily="34" charset="-122"/>
                <a:cs typeface="Aptos" pitchFamily="34" charset="-120"/>
              </a:rPr>
              <a:t>Pydantic</a:t>
            </a:r>
            <a:endParaRPr lang="en-US" sz="1400" dirty="0"/>
          </a:p>
        </p:txBody>
      </p:sp>
      <p:sp>
        <p:nvSpPr>
          <p:cNvPr id="25" name="Text 23"/>
          <p:cNvSpPr txBox="1"/>
          <p:nvPr/>
        </p:nvSpPr>
        <p:spPr>
          <a:xfrm>
            <a:off x="8394192" y="2816352"/>
            <a:ext cx="1408176" cy="61264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Validate response shape</a:t>
            </a:r>
            <a:endParaRPr lang="en-US" sz="1000" dirty="0"/>
          </a:p>
        </p:txBody>
      </p:sp>
      <p:sp>
        <p:nvSpPr>
          <p:cNvPr id="26" name="Shape 24"/>
          <p:cNvSpPr/>
          <p:nvPr/>
        </p:nvSpPr>
        <p:spPr>
          <a:xfrm>
            <a:off x="9971532" y="2807208"/>
            <a:ext cx="160020" cy="0"/>
          </a:xfrm>
          <a:prstGeom prst="line">
            <a:avLst/>
          </a:prstGeom>
          <a:noFill/>
          <a:ln w="20320">
            <a:solidFill>
              <a:srgbClr val="28715F"/>
            </a:solidFill>
            <a:prstDash val="solid"/>
            <a:tailEnd type="triangle"/>
          </a:ln>
        </p:spPr>
      </p:sp>
      <p:sp>
        <p:nvSpPr>
          <p:cNvPr id="27" name="Shape 25"/>
          <p:cNvSpPr/>
          <p:nvPr/>
        </p:nvSpPr>
        <p:spPr>
          <a:xfrm>
            <a:off x="10149840" y="2112264"/>
            <a:ext cx="1700784" cy="1417320"/>
          </a:xfrm>
          <a:prstGeom prst="roundRect">
            <a:avLst>
              <a:gd name="adj" fmla="val 5161"/>
            </a:avLst>
          </a:prstGeom>
          <a:solidFill>
            <a:srgbClr val="C7ED65"/>
          </a:solidFill>
          <a:ln w="12700">
            <a:solidFill>
              <a:srgbClr val="D4DDD6"/>
            </a:solidFill>
            <a:prstDash val="solid"/>
          </a:ln>
        </p:spPr>
      </p:sp>
      <p:sp>
        <p:nvSpPr>
          <p:cNvPr id="28" name="Text 26"/>
          <p:cNvSpPr txBox="1"/>
          <p:nvPr/>
        </p:nvSpPr>
        <p:spPr>
          <a:xfrm>
            <a:off x="10296144" y="2267712"/>
            <a:ext cx="1408176" cy="1124712"/>
          </a:xfrm>
          <a:prstGeom prst="rect">
            <a:avLst/>
          </a:prstGeom>
          <a:noFill/>
          <a:ln/>
        </p:spPr>
        <p:txBody>
          <a:bodyPr wrap="square" lIns="0" tIns="0" rIns="0" bIns="0" rtlCol="0" anchor="ctr">
            <a:normAutofit/>
          </a:bodyPr>
          <a:lstStyle/>
          <a:p>
            <a:pPr algn="l" indent="0" marL="0">
              <a:buNone/>
            </a:pPr>
            <a:r>
              <a:rPr lang="en-US" sz="1400" b="1" dirty="0">
                <a:solidFill>
                  <a:srgbClr val="142421"/>
                </a:solidFill>
                <a:latin typeface="Aptos" pitchFamily="34" charset="0"/>
                <a:ea typeface="Aptos" pitchFamily="34" charset="-122"/>
                <a:cs typeface="Aptos" pitchFamily="34" charset="-120"/>
              </a:rPr>
              <a:t>GitHub Review</a:t>
            </a:r>
            <a:endParaRPr lang="en-US" sz="1400" dirty="0"/>
          </a:p>
        </p:txBody>
      </p:sp>
      <p:sp>
        <p:nvSpPr>
          <p:cNvPr id="29" name="Text 27"/>
          <p:cNvSpPr txBox="1"/>
          <p:nvPr/>
        </p:nvSpPr>
        <p:spPr>
          <a:xfrm>
            <a:off x="10296144" y="2816352"/>
            <a:ext cx="1408176" cy="61264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63736D"/>
                </a:solidFill>
                <a:latin typeface="Aptos" pitchFamily="34" charset="0"/>
                <a:ea typeface="Aptos" pitchFamily="34" charset="-122"/>
                <a:cs typeface="Aptos" pitchFamily="34" charset="-120"/>
              </a:rPr>
              <a:t>One advisory PR summary</a:t>
            </a:r>
            <a:endParaRPr lang="en-US" sz="1000" dirty="0"/>
          </a:p>
        </p:txBody>
      </p:sp>
      <p:sp>
        <p:nvSpPr>
          <p:cNvPr id="30" name="Shape 28"/>
          <p:cNvSpPr/>
          <p:nvPr/>
        </p:nvSpPr>
        <p:spPr>
          <a:xfrm>
            <a:off x="950976" y="4133088"/>
            <a:ext cx="10287000" cy="960120"/>
          </a:xfrm>
          <a:prstGeom prst="roundRect">
            <a:avLst/>
          </a:prstGeom>
          <a:solidFill>
            <a:srgbClr val="142421"/>
          </a:solidFill>
          <a:ln w="12700">
            <a:solidFill>
              <a:srgbClr val="142421">
                <a:alpha val="0"/>
              </a:srgbClr>
            </a:solidFill>
            <a:prstDash val="solid"/>
          </a:ln>
        </p:spPr>
      </p:sp>
      <p:sp>
        <p:nvSpPr>
          <p:cNvPr id="31" name="Text 29"/>
          <p:cNvSpPr txBox="1"/>
          <p:nvPr/>
        </p:nvSpPr>
        <p:spPr>
          <a:xfrm>
            <a:off x="1243584" y="4370832"/>
            <a:ext cx="1298448" cy="228600"/>
          </a:xfrm>
          <a:prstGeom prst="rect">
            <a:avLst/>
          </a:prstGeom>
          <a:noFill/>
          <a:ln/>
        </p:spPr>
        <p:txBody>
          <a:bodyPr wrap="square" lIns="0" tIns="0" rIns="0" bIns="0" rtlCol="0" anchor="ctr">
            <a:normAutofit/>
          </a:bodyPr>
          <a:lstStyle/>
          <a:p>
            <a:pPr algn="l" indent="0" marL="0">
              <a:buNone/>
            </a:pPr>
            <a:r>
              <a:rPr lang="en-US" sz="1300" b="1" dirty="0">
                <a:solidFill>
                  <a:srgbClr val="C7ED65"/>
                </a:solidFill>
                <a:latin typeface="Aptos" pitchFamily="34" charset="0"/>
                <a:ea typeface="Aptos" pitchFamily="34" charset="-122"/>
                <a:cs typeface="Aptos" pitchFamily="34" charset="-120"/>
              </a:rPr>
              <a:t>Runner setup</a:t>
            </a:r>
            <a:endParaRPr lang="en-US" sz="1300" dirty="0"/>
          </a:p>
        </p:txBody>
      </p:sp>
      <p:sp>
        <p:nvSpPr>
          <p:cNvPr id="32" name="Text 30"/>
          <p:cNvSpPr txBox="1"/>
          <p:nvPr/>
        </p:nvSpPr>
        <p:spPr>
          <a:xfrm>
            <a:off x="2688336" y="4288536"/>
            <a:ext cx="8193024" cy="411480"/>
          </a:xfrm>
          <a:prstGeom prst="rect">
            <a:avLst/>
          </a:prstGeom>
          <a:noFill/>
          <a:ln/>
        </p:spPr>
        <p:txBody>
          <a:bodyPr wrap="square" lIns="0" tIns="0" rIns="0" bIns="0" rtlCol="0" anchor="ctr">
            <a:normAutofit/>
          </a:bodyPr>
          <a:lstStyle/>
          <a:p>
            <a:pPr algn="l" indent="0" marL="0">
              <a:buNone/>
            </a:pPr>
            <a:r>
              <a:rPr lang="en-US" sz="1300" dirty="0">
                <a:solidFill>
                  <a:srgbClr val="FFFFFF"/>
                </a:solidFill>
                <a:latin typeface="Aptos" pitchFamily="34" charset="0"/>
                <a:ea typeface="Aptos" pitchFamily="34" charset="-122"/>
                <a:cs typeface="Aptos" pitchFamily="34" charset="-120"/>
              </a:rPr>
              <a:t>Checkout central + target repos   ·   Python 3.12   ·   Install requirements   ·   Run reviewer.main</a:t>
            </a:r>
            <a:endParaRPr lang="en-US" sz="1300" dirty="0"/>
          </a:p>
        </p:txBody>
      </p:sp>
      <p:sp>
        <p:nvSpPr>
          <p:cNvPr id="33" name="Text 31"/>
          <p:cNvSpPr txBox="1"/>
          <p:nvPr/>
        </p:nvSpPr>
        <p:spPr>
          <a:xfrm>
            <a:off x="960120" y="5486400"/>
            <a:ext cx="5760720" cy="256032"/>
          </a:xfrm>
          <a:prstGeom prst="rect">
            <a:avLst/>
          </a:prstGeom>
          <a:noFill/>
          <a:ln/>
        </p:spPr>
        <p:txBody>
          <a:bodyPr wrap="square" lIns="0" tIns="0" rIns="0" bIns="0" rtlCol="0" anchor="ctr">
            <a:normAutofit/>
          </a:bodyPr>
          <a:lstStyle/>
          <a:p>
            <a:pPr algn="l" indent="0" marL="0">
              <a:buNone/>
            </a:pPr>
            <a:r>
              <a:rPr lang="en-US" sz="1100" b="1" dirty="0">
                <a:solidFill>
                  <a:srgbClr val="183D35"/>
                </a:solidFill>
                <a:latin typeface="Aptos" pitchFamily="34" charset="0"/>
                <a:ea typeface="Aptos" pitchFamily="34" charset="-122"/>
                <a:cs typeface="Aptos" pitchFamily="34" charset="-120"/>
              </a:rPr>
              <a:t>Permissions: contents: read  |  pull-requests: write</a:t>
            </a:r>
            <a:endParaRPr lang="en-US" sz="1100" dirty="0"/>
          </a:p>
        </p:txBody>
      </p:sp>
      <p:sp>
        <p:nvSpPr>
          <p:cNvPr id="34" name="Text 32"/>
          <p:cNvSpPr txBox="1"/>
          <p:nvPr/>
        </p:nvSpPr>
        <p:spPr>
          <a:xfrm>
            <a:off x="960120" y="5806440"/>
            <a:ext cx="7040880" cy="256032"/>
          </a:xfrm>
          <a:prstGeom prst="rect">
            <a:avLst/>
          </a:prstGeom>
          <a:noFill/>
          <a:ln/>
        </p:spPr>
        <p:txBody>
          <a:bodyPr wrap="square" lIns="0" tIns="0" rIns="0" bIns="0" rtlCol="0" anchor="ctr">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Secret: GEP_API_KEY  ·  GitHub API: built-in github.token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66928" y="246888"/>
            <a:ext cx="585216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8715F"/>
                </a:solidFill>
                <a:latin typeface="Aptos" pitchFamily="34" charset="0"/>
                <a:ea typeface="Aptos" pitchFamily="34" charset="-122"/>
                <a:cs typeface="Aptos" pitchFamily="34" charset="-120"/>
              </a:rPr>
              <a:t>ONE CENTRAL REVIEWER</a:t>
            </a:r>
            <a:endParaRPr lang="en-US" sz="900" dirty="0"/>
          </a:p>
        </p:txBody>
      </p:sp>
      <p:sp>
        <p:nvSpPr>
          <p:cNvPr id="3" name="Text 1"/>
          <p:cNvSpPr txBox="1"/>
          <p:nvPr/>
        </p:nvSpPr>
        <p:spPr>
          <a:xfrm>
            <a:off x="566928" y="55778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42421"/>
                </a:solidFill>
                <a:latin typeface="Aptos Display" pitchFamily="34" charset="0"/>
                <a:ea typeface="Aptos Display" pitchFamily="34" charset="-122"/>
                <a:cs typeface="Aptos Display" pitchFamily="34" charset="-120"/>
              </a:rPr>
              <a:t>Reusable Multi-Repository Design</a:t>
            </a:r>
            <a:endParaRPr lang="en-US" sz="2700" dirty="0"/>
          </a:p>
        </p:txBody>
      </p:sp>
      <p:sp>
        <p:nvSpPr>
          <p:cNvPr id="4" name="Shape 2"/>
          <p:cNvSpPr/>
          <p:nvPr/>
        </p:nvSpPr>
        <p:spPr>
          <a:xfrm>
            <a:off x="566928" y="1197864"/>
            <a:ext cx="11045952" cy="10973"/>
          </a:xfrm>
          <a:prstGeom prst="line">
            <a:avLst/>
          </a:prstGeom>
          <a:solidFill>
            <a:srgbClr val="D4DDD6"/>
          </a:solidFill>
          <a:ln w="12700">
            <a:solidFill>
              <a:srgbClr val="D4DDD6">
                <a:alpha val="0"/>
              </a:srgbClr>
            </a:solidFill>
            <a:prstDash val="solid"/>
          </a:ln>
        </p:spPr>
      </p:sp>
      <p:sp>
        <p:nvSpPr>
          <p:cNvPr id="5" name="Text 3"/>
          <p:cNvSpPr txBox="1"/>
          <p:nvPr/>
        </p:nvSpPr>
        <p:spPr>
          <a:xfrm>
            <a:off x="566928" y="6537960"/>
            <a:ext cx="7315200" cy="146304"/>
          </a:xfrm>
          <a:prstGeom prst="rect">
            <a:avLst/>
          </a:prstGeom>
          <a:noFill/>
          <a:ln/>
        </p:spPr>
        <p:txBody>
          <a:bodyPr wrap="square" lIns="0" tIns="0" rIns="0" bIns="0" rtlCol="0" anchor="ctr">
            <a:normAutofit/>
          </a:bodyPr>
          <a:lstStyle/>
          <a:p>
            <a:pPr algn="l" indent="0" marL="0">
              <a:buNone/>
            </a:pPr>
            <a:r>
              <a:rPr lang="en-US" sz="800" spc="40" kern="0" dirty="0">
                <a:solidFill>
                  <a:srgbClr val="63736D"/>
                </a:solidFill>
                <a:latin typeface="Aptos" pitchFamily="34" charset="0"/>
                <a:ea typeface="Aptos" pitchFamily="34" charset="-122"/>
                <a:cs typeface="Aptos" pitchFamily="34" charset="-120"/>
              </a:rPr>
              <a:t>AI CODE REVIEW AGENT  /  MENTOR DEMO</a:t>
            </a:r>
            <a:endParaRPr lang="en-US" sz="800" dirty="0"/>
          </a:p>
        </p:txBody>
      </p:sp>
      <p:sp>
        <p:nvSpPr>
          <p:cNvPr id="6" name="Text 4"/>
          <p:cNvSpPr txBox="1"/>
          <p:nvPr/>
        </p:nvSpPr>
        <p:spPr>
          <a:xfrm>
            <a:off x="11018520" y="6510528"/>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28715F"/>
                </a:solidFill>
                <a:latin typeface="Aptos" pitchFamily="34" charset="0"/>
                <a:ea typeface="Aptos" pitchFamily="34" charset="-122"/>
                <a:cs typeface="Aptos" pitchFamily="34" charset="-120"/>
              </a:rPr>
              <a:t>06</a:t>
            </a:r>
            <a:endParaRPr lang="en-US" sz="900" dirty="0"/>
          </a:p>
        </p:txBody>
      </p:sp>
      <p:sp>
        <p:nvSpPr>
          <p:cNvPr id="7" name="Shape 5"/>
          <p:cNvSpPr/>
          <p:nvPr/>
        </p:nvSpPr>
        <p:spPr>
          <a:xfrm>
            <a:off x="758952" y="1627632"/>
            <a:ext cx="4937760" cy="4251960"/>
          </a:xfrm>
          <a:prstGeom prst="roundRect">
            <a:avLst/>
          </a:prstGeom>
          <a:solidFill>
            <a:srgbClr val="142421"/>
          </a:solidFill>
          <a:ln w="12700">
            <a:solidFill>
              <a:srgbClr val="142421">
                <a:alpha val="0"/>
              </a:srgbClr>
            </a:solidFill>
            <a:prstDash val="solid"/>
          </a:ln>
        </p:spPr>
      </p:sp>
      <p:sp>
        <p:nvSpPr>
          <p:cNvPr id="8" name="Text 6"/>
          <p:cNvSpPr txBox="1"/>
          <p:nvPr/>
        </p:nvSpPr>
        <p:spPr>
          <a:xfrm>
            <a:off x="1078992" y="1901952"/>
            <a:ext cx="4297680" cy="219456"/>
          </a:xfrm>
          <a:prstGeom prst="rect">
            <a:avLst/>
          </a:prstGeom>
          <a:noFill/>
          <a:ln/>
        </p:spPr>
        <p:txBody>
          <a:bodyPr wrap="square" lIns="0" tIns="0" rIns="0" bIns="0" rtlCol="0" anchor="ctr">
            <a:normAutofit/>
          </a:bodyPr>
          <a:lstStyle/>
          <a:p>
            <a:pPr algn="l" indent="0" marL="0">
              <a:buNone/>
            </a:pPr>
            <a:r>
              <a:rPr lang="en-US" sz="1000" b="1" spc="50" kern="0" dirty="0">
                <a:solidFill>
                  <a:srgbClr val="C7ED65"/>
                </a:solidFill>
                <a:latin typeface="Aptos" pitchFamily="34" charset="0"/>
                <a:ea typeface="Aptos" pitchFamily="34" charset="-122"/>
                <a:cs typeface="Aptos" pitchFamily="34" charset="-120"/>
              </a:rPr>
              <a:t>CENTRAL REVIEWER REPOSITORY</a:t>
            </a:r>
            <a:endParaRPr lang="en-US" sz="1000" dirty="0"/>
          </a:p>
        </p:txBody>
      </p:sp>
      <p:sp>
        <p:nvSpPr>
          <p:cNvPr id="9" name="Text 7"/>
          <p:cNvSpPr txBox="1"/>
          <p:nvPr/>
        </p:nvSpPr>
        <p:spPr>
          <a:xfrm>
            <a:off x="1078992" y="2331720"/>
            <a:ext cx="4206240" cy="365760"/>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Aptos" pitchFamily="34" charset="0"/>
                <a:ea typeface="Aptos" pitchFamily="34" charset="-122"/>
                <a:cs typeface="Aptos" pitchFamily="34" charset="-120"/>
              </a:rPr>
              <a:t>Single source of review behavior</a:t>
            </a:r>
            <a:endParaRPr lang="en-US" sz="1900" dirty="0"/>
          </a:p>
        </p:txBody>
      </p:sp>
      <p:sp>
        <p:nvSpPr>
          <p:cNvPr id="10" name="Shape 8"/>
          <p:cNvSpPr/>
          <p:nvPr/>
        </p:nvSpPr>
        <p:spPr>
          <a:xfrm>
            <a:off x="1078992" y="2907792"/>
            <a:ext cx="4160520" cy="420624"/>
          </a:xfrm>
          <a:prstGeom prst="roundRect">
            <a:avLst/>
          </a:prstGeom>
          <a:solidFill>
            <a:srgbClr val="24473F"/>
          </a:solidFill>
          <a:ln w="12700">
            <a:solidFill>
              <a:srgbClr val="365E52"/>
            </a:solidFill>
            <a:prstDash val="solid"/>
          </a:ln>
        </p:spPr>
      </p:sp>
      <p:sp>
        <p:nvSpPr>
          <p:cNvPr id="11" name="Text 9"/>
          <p:cNvSpPr txBox="1"/>
          <p:nvPr/>
        </p:nvSpPr>
        <p:spPr>
          <a:xfrm>
            <a:off x="1271016" y="2990088"/>
            <a:ext cx="3749040" cy="20116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Reusable workflow</a:t>
            </a:r>
            <a:endParaRPr lang="en-US" sz="1200" dirty="0"/>
          </a:p>
        </p:txBody>
      </p:sp>
      <p:sp>
        <p:nvSpPr>
          <p:cNvPr id="12" name="Shape 10"/>
          <p:cNvSpPr/>
          <p:nvPr/>
        </p:nvSpPr>
        <p:spPr>
          <a:xfrm>
            <a:off x="1078992" y="3511296"/>
            <a:ext cx="4160520" cy="420624"/>
          </a:xfrm>
          <a:prstGeom prst="roundRect">
            <a:avLst/>
          </a:prstGeom>
          <a:solidFill>
            <a:srgbClr val="24473F"/>
          </a:solidFill>
          <a:ln w="12700">
            <a:solidFill>
              <a:srgbClr val="365E52"/>
            </a:solidFill>
            <a:prstDash val="solid"/>
          </a:ln>
        </p:spPr>
      </p:sp>
      <p:sp>
        <p:nvSpPr>
          <p:cNvPr id="13" name="Text 11"/>
          <p:cNvSpPr txBox="1"/>
          <p:nvPr/>
        </p:nvSpPr>
        <p:spPr>
          <a:xfrm>
            <a:off x="1271016" y="3593592"/>
            <a:ext cx="3749040" cy="201168"/>
          </a:xfrm>
          <a:prstGeom prst="rect">
            <a:avLst/>
          </a:prstGeom>
          <a:noFill/>
          <a:ln/>
        </p:spPr>
        <p:txBody>
          <a:bodyPr wrap="square" lIns="0" tIns="0" rIns="0" bIns="0" rtlCol="0" anchor="ctr">
            <a:normAutofit/>
          </a:bodyPr>
          <a:lstStyle/>
          <a:p>
            <a:pPr algn="l" indent="0" marL="0">
              <a:buNone/>
            </a:pPr>
            <a:r>
              <a:rPr lang="en-US" sz="1200" dirty="0">
                <a:solidFill>
                  <a:srgbClr val="FFFFFF"/>
                </a:solidFill>
                <a:latin typeface="Aptos" pitchFamily="34" charset="0"/>
                <a:ea typeface="Aptos" pitchFamily="34" charset="-122"/>
                <a:cs typeface="Aptos" pitchFamily="34" charset="-120"/>
              </a:rPr>
              <a:t>Python reviewer</a:t>
            </a:r>
            <a:endParaRPr lang="en-US" sz="1200" dirty="0"/>
          </a:p>
        </p:txBody>
      </p:sp>
      <p:sp>
        <p:nvSpPr>
          <p:cNvPr id="14" name="Shape 12"/>
          <p:cNvSpPr/>
          <p:nvPr/>
        </p:nvSpPr>
        <p:spPr>
          <a:xfrm>
            <a:off x="1078992" y="4114800"/>
            <a:ext cx="4160520" cy="420624"/>
          </a:xfrm>
          <a:prstGeom prst="roundRect">
            <a:avLst/>
          </a:prstGeom>
          <a:solidFill>
            <a:srgbClr val="24473F"/>
          </a:solidFill>
          <a:ln w="12700">
            <a:solidFill>
              <a:srgbClr val="365E52"/>
            </a:solidFill>
            <a:prstDash val="solid"/>
          </a:ln>
        </p:spPr>
      </p:sp>
      <p:sp>
        <p:nvSpPr>
          <p:cNvPr id="15" name="Text 13"/>
          <p:cNvSpPr txBox="1"/>
          <p:nvPr/>
        </p:nvSpPr>
        <p:spPr>
          <a:xfrm>
            <a:off x="1271016" y="4197096"/>
            <a:ext cx="3749040" cy="201168"/>
          </a:xfrm>
          <a:prstGeom prst="rect">
            <a:avLst/>
          </a:prstGeom>
          <a:noFill/>
          <a:ln/>
        </p:spPr>
        <p:txBody>
          <a:bodyPr wrap="square" lIns="0" tIns="0" rIns="0" bIns="0" rtlCol="0" anchor="ctr">
            <a:normAutofit/>
          </a:bodyPr>
          <a:lstStyle/>
          <a:p>
            <a:pPr algn="l" indent="0" marL="0">
              <a:buNone/>
            </a:pPr>
            <a:r>
              <a:rPr lang="en-US" sz="1200" dirty="0">
                <a:solidFill>
                  <a:srgbClr val="FFFFFF"/>
                </a:solidFill>
                <a:latin typeface="Aptos" pitchFamily="34" charset="0"/>
                <a:ea typeface="Aptos" pitchFamily="34" charset="-122"/>
                <a:cs typeface="Aptos" pitchFamily="34" charset="-120"/>
              </a:rPr>
              <a:t>Enterprise policy</a:t>
            </a:r>
            <a:endParaRPr lang="en-US" sz="1200" dirty="0"/>
          </a:p>
        </p:txBody>
      </p:sp>
      <p:sp>
        <p:nvSpPr>
          <p:cNvPr id="16" name="Shape 14"/>
          <p:cNvSpPr/>
          <p:nvPr/>
        </p:nvSpPr>
        <p:spPr>
          <a:xfrm>
            <a:off x="1078992" y="4718304"/>
            <a:ext cx="4160520" cy="420624"/>
          </a:xfrm>
          <a:prstGeom prst="roundRect">
            <a:avLst/>
          </a:prstGeom>
          <a:solidFill>
            <a:srgbClr val="24473F"/>
          </a:solidFill>
          <a:ln w="12700">
            <a:solidFill>
              <a:srgbClr val="365E52"/>
            </a:solidFill>
            <a:prstDash val="solid"/>
          </a:ln>
        </p:spPr>
      </p:sp>
      <p:sp>
        <p:nvSpPr>
          <p:cNvPr id="17" name="Text 15"/>
          <p:cNvSpPr txBox="1"/>
          <p:nvPr/>
        </p:nvSpPr>
        <p:spPr>
          <a:xfrm>
            <a:off x="1271016" y="4800600"/>
            <a:ext cx="3749040" cy="201168"/>
          </a:xfrm>
          <a:prstGeom prst="rect">
            <a:avLst/>
          </a:prstGeom>
          <a:noFill/>
          <a:ln/>
        </p:spPr>
        <p:txBody>
          <a:bodyPr wrap="square" lIns="0" tIns="0" rIns="0" bIns="0" rtlCol="0" anchor="ctr">
            <a:normAutofit/>
          </a:bodyPr>
          <a:lstStyle/>
          <a:p>
            <a:pPr algn="l" indent="0" marL="0">
              <a:buNone/>
            </a:pPr>
            <a:r>
              <a:rPr lang="en-US" sz="1200" dirty="0">
                <a:solidFill>
                  <a:srgbClr val="FFFFFF"/>
                </a:solidFill>
                <a:latin typeface="Aptos" pitchFamily="34" charset="0"/>
                <a:ea typeface="Aptos" pitchFamily="34" charset="-122"/>
                <a:cs typeface="Aptos" pitchFamily="34" charset="-120"/>
              </a:rPr>
              <a:t>Pydantic models + tests</a:t>
            </a:r>
            <a:endParaRPr lang="en-US" sz="1200" dirty="0"/>
          </a:p>
        </p:txBody>
      </p:sp>
      <p:sp>
        <p:nvSpPr>
          <p:cNvPr id="18" name="Shape 16"/>
          <p:cNvSpPr/>
          <p:nvPr/>
        </p:nvSpPr>
        <p:spPr>
          <a:xfrm>
            <a:off x="7571232" y="1938528"/>
            <a:ext cx="3246120" cy="1197864"/>
          </a:xfrm>
          <a:prstGeom prst="roundRect">
            <a:avLst>
              <a:gd name="adj" fmla="val 6107"/>
            </a:avLst>
          </a:prstGeom>
          <a:solidFill>
            <a:srgbClr val="FFFFFF"/>
          </a:solidFill>
          <a:ln w="12700">
            <a:solidFill>
              <a:srgbClr val="D4DDD6"/>
            </a:solidFill>
            <a:prstDash val="solid"/>
          </a:ln>
        </p:spPr>
      </p:sp>
      <p:sp>
        <p:nvSpPr>
          <p:cNvPr id="19" name="Text 17"/>
          <p:cNvSpPr txBox="1"/>
          <p:nvPr/>
        </p:nvSpPr>
        <p:spPr>
          <a:xfrm>
            <a:off x="7717536" y="2029968"/>
            <a:ext cx="2953512" cy="164592"/>
          </a:xfrm>
          <a:prstGeom prst="rect">
            <a:avLst/>
          </a:prstGeom>
          <a:noFill/>
          <a:ln/>
        </p:spPr>
        <p:txBody>
          <a:bodyPr wrap="square" lIns="0" tIns="0" rIns="0" bIns="0" rtlCol="0" anchor="ctr">
            <a:normAutofit/>
          </a:bodyPr>
          <a:lstStyle/>
          <a:p>
            <a:pPr algn="l" indent="0" marL="0">
              <a:buNone/>
            </a:pPr>
            <a:r>
              <a:rPr lang="en-US" sz="900" b="1" dirty="0">
                <a:solidFill>
                  <a:srgbClr val="54809A"/>
                </a:solidFill>
                <a:latin typeface="Aptos" pitchFamily="34" charset="0"/>
                <a:ea typeface="Aptos" pitchFamily="34" charset="-122"/>
                <a:cs typeface="Aptos" pitchFamily="34" charset="-120"/>
              </a:rPr>
              <a:t>CONSUMER</a:t>
            </a:r>
            <a:endParaRPr lang="en-US" sz="900" dirty="0"/>
          </a:p>
        </p:txBody>
      </p:sp>
      <p:sp>
        <p:nvSpPr>
          <p:cNvPr id="20" name="Text 18"/>
          <p:cNvSpPr txBox="1"/>
          <p:nvPr/>
        </p:nvSpPr>
        <p:spPr>
          <a:xfrm>
            <a:off x="7717536" y="2249424"/>
            <a:ext cx="2953512" cy="905256"/>
          </a:xfrm>
          <a:prstGeom prst="rect">
            <a:avLst/>
          </a:prstGeom>
          <a:noFill/>
          <a:ln/>
        </p:spPr>
        <p:txBody>
          <a:bodyPr wrap="square" lIns="0" tIns="0" rIns="0" bIns="0" rtlCol="0" anchor="ctr">
            <a:normAutofit/>
          </a:bodyPr>
          <a:lstStyle/>
          <a:p>
            <a:pPr algn="l" indent="0" marL="0">
              <a:buNone/>
            </a:pPr>
            <a:r>
              <a:rPr lang="en-US" sz="1600" b="1" dirty="0">
                <a:solidFill>
                  <a:srgbClr val="142421"/>
                </a:solidFill>
                <a:latin typeface="Aptos" pitchFamily="34" charset="0"/>
                <a:ea typeface="Aptos" pitchFamily="34" charset="-122"/>
                <a:cs typeface="Aptos" pitchFamily="34" charset="-120"/>
              </a:rPr>
              <a:t>Repo A</a:t>
            </a:r>
            <a:endParaRPr lang="en-US" sz="1600" dirty="0"/>
          </a:p>
        </p:txBody>
      </p:sp>
      <p:sp>
        <p:nvSpPr>
          <p:cNvPr id="21" name="Text 19"/>
          <p:cNvSpPr txBox="1"/>
          <p:nvPr/>
        </p:nvSpPr>
        <p:spPr>
          <a:xfrm>
            <a:off x="7717536" y="2642616"/>
            <a:ext cx="2953512" cy="393192"/>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3736D"/>
                </a:solidFill>
                <a:latin typeface="Aptos" pitchFamily="34" charset="0"/>
                <a:ea typeface="Aptos" pitchFamily="34" charset="-122"/>
                <a:cs typeface="Aptos" pitchFamily="34" charset="-120"/>
              </a:rPr>
              <a:t>ai-code-review-demo</a:t>
            </a:r>
            <a:endParaRPr lang="en-US" sz="1100" dirty="0"/>
          </a:p>
          <a:p>
            <a:pPr algn="l" indent="0" marL="0">
              <a:lnSpc>
                <a:spcPct val="100000"/>
              </a:lnSpc>
              <a:buNone/>
            </a:pPr>
            <a:r>
              <a:rPr lang="en-US" sz="1100" dirty="0">
                <a:solidFill>
                  <a:srgbClr val="63736D"/>
                </a:solidFill>
                <a:latin typeface="Aptos" pitchFamily="34" charset="0"/>
                <a:ea typeface="Aptos" pitchFamily="34" charset="-122"/>
                <a:cs typeface="Aptos" pitchFamily="34" charset="-120"/>
              </a:rPr>
              <a:t>Caller workflow</a:t>
            </a:r>
            <a:endParaRPr lang="en-US" sz="1100" dirty="0"/>
          </a:p>
        </p:txBody>
      </p:sp>
      <p:sp>
        <p:nvSpPr>
          <p:cNvPr id="22" name="Shape 20"/>
          <p:cNvSpPr/>
          <p:nvPr/>
        </p:nvSpPr>
        <p:spPr>
          <a:xfrm>
            <a:off x="7571232" y="3977640"/>
            <a:ext cx="3246120" cy="1197864"/>
          </a:xfrm>
          <a:prstGeom prst="roundRect">
            <a:avLst>
              <a:gd name="adj" fmla="val 6107"/>
            </a:avLst>
          </a:prstGeom>
          <a:solidFill>
            <a:srgbClr val="FFFFFF"/>
          </a:solidFill>
          <a:ln w="12700">
            <a:solidFill>
              <a:srgbClr val="D4DDD6"/>
            </a:solidFill>
            <a:prstDash val="solid"/>
          </a:ln>
        </p:spPr>
      </p:sp>
      <p:sp>
        <p:nvSpPr>
          <p:cNvPr id="23" name="Text 21"/>
          <p:cNvSpPr txBox="1"/>
          <p:nvPr/>
        </p:nvSpPr>
        <p:spPr>
          <a:xfrm>
            <a:off x="7717536" y="4069080"/>
            <a:ext cx="2953512" cy="164592"/>
          </a:xfrm>
          <a:prstGeom prst="rect">
            <a:avLst/>
          </a:prstGeom>
          <a:noFill/>
          <a:ln/>
        </p:spPr>
        <p:txBody>
          <a:bodyPr wrap="square" lIns="0" tIns="0" rIns="0" bIns="0" rtlCol="0" anchor="ctr">
            <a:normAutofit/>
          </a:bodyPr>
          <a:lstStyle/>
          <a:p>
            <a:pPr algn="l" indent="0" marL="0">
              <a:buNone/>
            </a:pPr>
            <a:r>
              <a:rPr lang="en-US" sz="900" b="1" dirty="0">
                <a:solidFill>
                  <a:srgbClr val="D36B56"/>
                </a:solidFill>
                <a:latin typeface="Aptos" pitchFamily="34" charset="0"/>
                <a:ea typeface="Aptos" pitchFamily="34" charset="-122"/>
                <a:cs typeface="Aptos" pitchFamily="34" charset="-120"/>
              </a:rPr>
              <a:t>CONSUMER</a:t>
            </a:r>
            <a:endParaRPr lang="en-US" sz="900" dirty="0"/>
          </a:p>
        </p:txBody>
      </p:sp>
      <p:sp>
        <p:nvSpPr>
          <p:cNvPr id="24" name="Text 22"/>
          <p:cNvSpPr txBox="1"/>
          <p:nvPr/>
        </p:nvSpPr>
        <p:spPr>
          <a:xfrm>
            <a:off x="7717536" y="4288536"/>
            <a:ext cx="2953512" cy="905256"/>
          </a:xfrm>
          <a:prstGeom prst="rect">
            <a:avLst/>
          </a:prstGeom>
          <a:noFill/>
          <a:ln/>
        </p:spPr>
        <p:txBody>
          <a:bodyPr wrap="square" lIns="0" tIns="0" rIns="0" bIns="0" rtlCol="0" anchor="ctr">
            <a:normAutofit/>
          </a:bodyPr>
          <a:lstStyle/>
          <a:p>
            <a:pPr algn="l" indent="0" marL="0">
              <a:buNone/>
            </a:pPr>
            <a:r>
              <a:rPr lang="en-US" sz="1600" b="1" dirty="0">
                <a:solidFill>
                  <a:srgbClr val="142421"/>
                </a:solidFill>
                <a:latin typeface="Aptos" pitchFamily="34" charset="0"/>
                <a:ea typeface="Aptos" pitchFamily="34" charset="-122"/>
                <a:cs typeface="Aptos" pitchFamily="34" charset="-120"/>
              </a:rPr>
              <a:t>Repo B</a:t>
            </a:r>
            <a:endParaRPr lang="en-US" sz="1600" dirty="0"/>
          </a:p>
        </p:txBody>
      </p:sp>
      <p:sp>
        <p:nvSpPr>
          <p:cNvPr id="25" name="Text 23"/>
          <p:cNvSpPr txBox="1"/>
          <p:nvPr/>
        </p:nvSpPr>
        <p:spPr>
          <a:xfrm>
            <a:off x="7717536" y="4681728"/>
            <a:ext cx="2953512" cy="393192"/>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3736D"/>
                </a:solidFill>
                <a:latin typeface="Aptos" pitchFamily="34" charset="0"/>
                <a:ea typeface="Aptos" pitchFamily="34" charset="-122"/>
                <a:cs typeface="Aptos" pitchFamily="34" charset="-120"/>
              </a:rPr>
              <a:t>pets-workshop</a:t>
            </a:r>
            <a:endParaRPr lang="en-US" sz="1100" dirty="0"/>
          </a:p>
          <a:p>
            <a:pPr algn="l" indent="0" marL="0">
              <a:lnSpc>
                <a:spcPct val="100000"/>
              </a:lnSpc>
              <a:buNone/>
            </a:pPr>
            <a:r>
              <a:rPr lang="en-US" sz="1100" dirty="0">
                <a:solidFill>
                  <a:srgbClr val="63736D"/>
                </a:solidFill>
                <a:latin typeface="Aptos" pitchFamily="34" charset="0"/>
                <a:ea typeface="Aptos" pitchFamily="34" charset="-122"/>
                <a:cs typeface="Aptos" pitchFamily="34" charset="-120"/>
              </a:rPr>
              <a:t>Caller workflow</a:t>
            </a:r>
            <a:endParaRPr lang="en-US" sz="1100" dirty="0"/>
          </a:p>
        </p:txBody>
      </p:sp>
      <p:sp>
        <p:nvSpPr>
          <p:cNvPr id="26" name="Shape 24"/>
          <p:cNvSpPr/>
          <p:nvPr/>
        </p:nvSpPr>
        <p:spPr>
          <a:xfrm>
            <a:off x="7278624" y="2523744"/>
            <a:ext cx="-1353312" cy="0"/>
          </a:xfrm>
          <a:prstGeom prst="line">
            <a:avLst/>
          </a:prstGeom>
          <a:noFill/>
          <a:ln w="22860">
            <a:solidFill>
              <a:srgbClr val="28715F"/>
            </a:solidFill>
            <a:prstDash val="solid"/>
            <a:tailEnd type="triangle"/>
          </a:ln>
        </p:spPr>
      </p:sp>
      <p:sp>
        <p:nvSpPr>
          <p:cNvPr id="27" name="Shape 25"/>
          <p:cNvSpPr/>
          <p:nvPr/>
        </p:nvSpPr>
        <p:spPr>
          <a:xfrm>
            <a:off x="7278624" y="4572000"/>
            <a:ext cx="-1353312" cy="0"/>
          </a:xfrm>
          <a:prstGeom prst="line">
            <a:avLst/>
          </a:prstGeom>
          <a:noFill/>
          <a:ln w="22860">
            <a:solidFill>
              <a:srgbClr val="28715F"/>
            </a:solidFill>
            <a:prstDash val="solid"/>
            <a:tailEnd type="triangle"/>
          </a:ln>
        </p:spPr>
      </p:sp>
      <p:sp>
        <p:nvSpPr>
          <p:cNvPr id="28" name="Text 26"/>
          <p:cNvSpPr txBox="1"/>
          <p:nvPr/>
        </p:nvSpPr>
        <p:spPr>
          <a:xfrm>
            <a:off x="6135624" y="2212848"/>
            <a:ext cx="868680" cy="182880"/>
          </a:xfrm>
          <a:prstGeom prst="rect">
            <a:avLst/>
          </a:prstGeom>
          <a:noFill/>
          <a:ln/>
        </p:spPr>
        <p:txBody>
          <a:bodyPr wrap="square" lIns="0" tIns="0" rIns="0" bIns="0" rtlCol="0" anchor="ctr">
            <a:normAutofit/>
          </a:bodyPr>
          <a:lstStyle/>
          <a:p>
            <a:pPr algn="ctr" indent="0" marL="0">
              <a:buNone/>
            </a:pPr>
            <a:r>
              <a:rPr lang="en-US" sz="900" b="1" dirty="0">
                <a:solidFill>
                  <a:srgbClr val="28715F"/>
                </a:solidFill>
                <a:latin typeface="Aptos" pitchFamily="34" charset="0"/>
                <a:ea typeface="Aptos" pitchFamily="34" charset="-122"/>
                <a:cs typeface="Aptos" pitchFamily="34" charset="-120"/>
              </a:rPr>
              <a:t>invoke</a:t>
            </a:r>
            <a:endParaRPr lang="en-US" sz="900" dirty="0"/>
          </a:p>
        </p:txBody>
      </p:sp>
      <p:sp>
        <p:nvSpPr>
          <p:cNvPr id="29" name="Text 27"/>
          <p:cNvSpPr txBox="1"/>
          <p:nvPr/>
        </p:nvSpPr>
        <p:spPr>
          <a:xfrm>
            <a:off x="6135624" y="4261104"/>
            <a:ext cx="868680" cy="182880"/>
          </a:xfrm>
          <a:prstGeom prst="rect">
            <a:avLst/>
          </a:prstGeom>
          <a:noFill/>
          <a:ln/>
        </p:spPr>
        <p:txBody>
          <a:bodyPr wrap="square" lIns="0" tIns="0" rIns="0" bIns="0" rtlCol="0" anchor="ctr">
            <a:normAutofit/>
          </a:bodyPr>
          <a:lstStyle/>
          <a:p>
            <a:pPr algn="ctr" indent="0" marL="0">
              <a:buNone/>
            </a:pPr>
            <a:r>
              <a:rPr lang="en-US" sz="900" b="1" dirty="0">
                <a:solidFill>
                  <a:srgbClr val="28715F"/>
                </a:solidFill>
                <a:latin typeface="Aptos" pitchFamily="34" charset="0"/>
                <a:ea typeface="Aptos" pitchFamily="34" charset="-122"/>
                <a:cs typeface="Aptos" pitchFamily="34" charset="-120"/>
              </a:rPr>
              <a:t>invoke</a:t>
            </a:r>
            <a:endParaRPr lang="en-US" sz="900" dirty="0"/>
          </a:p>
        </p:txBody>
      </p:sp>
      <p:sp>
        <p:nvSpPr>
          <p:cNvPr id="30" name="Text 28"/>
          <p:cNvSpPr txBox="1"/>
          <p:nvPr/>
        </p:nvSpPr>
        <p:spPr>
          <a:xfrm>
            <a:off x="795528" y="6062472"/>
            <a:ext cx="10515600" cy="256032"/>
          </a:xfrm>
          <a:prstGeom prst="rect">
            <a:avLst/>
          </a:prstGeom>
          <a:noFill/>
          <a:ln/>
        </p:spPr>
        <p:txBody>
          <a:bodyPr wrap="square" lIns="0" tIns="0" rIns="0" bIns="0" rtlCol="0" anchor="ctr">
            <a:normAutofit/>
          </a:bodyPr>
          <a:lstStyle/>
          <a:p>
            <a:pPr algn="l" indent="0" marL="0">
              <a:buNone/>
            </a:pPr>
            <a:r>
              <a:rPr lang="en-US" sz="1000" i="1" dirty="0">
                <a:solidFill>
                  <a:srgbClr val="63736D"/>
                </a:solidFill>
                <a:latin typeface="Aptos" pitchFamily="34" charset="0"/>
                <a:ea typeface="Aptos" pitchFamily="34" charset="-122"/>
                <a:cs typeface="Aptos" pitchFamily="34" charset="-120"/>
              </a:rPr>
              <a:t>Consumer caller examples are conceptual here; no Repo A or Repo B workflow is checked in.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66928" y="246888"/>
            <a:ext cx="585216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8715F"/>
                </a:solidFill>
                <a:latin typeface="Aptos" pitchFamily="34" charset="0"/>
                <a:ea typeface="Aptos" pitchFamily="34" charset="-122"/>
                <a:cs typeface="Aptos" pitchFamily="34" charset="-120"/>
              </a:rPr>
              <a:t>PULL_REQUEST TRIGGERS</a:t>
            </a:r>
            <a:endParaRPr lang="en-US" sz="900" dirty="0"/>
          </a:p>
        </p:txBody>
      </p:sp>
      <p:sp>
        <p:nvSpPr>
          <p:cNvPr id="3" name="Text 1"/>
          <p:cNvSpPr txBox="1"/>
          <p:nvPr/>
        </p:nvSpPr>
        <p:spPr>
          <a:xfrm>
            <a:off x="566928" y="55778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42421"/>
                </a:solidFill>
                <a:latin typeface="Aptos Display" pitchFamily="34" charset="0"/>
                <a:ea typeface="Aptos Display" pitchFamily="34" charset="-122"/>
                <a:cs typeface="Aptos Display" pitchFamily="34" charset="-120"/>
              </a:rPr>
              <a:t>Workflow Execution Lifecycle</a:t>
            </a:r>
            <a:endParaRPr lang="en-US" sz="2700" dirty="0"/>
          </a:p>
        </p:txBody>
      </p:sp>
      <p:sp>
        <p:nvSpPr>
          <p:cNvPr id="4" name="Shape 2"/>
          <p:cNvSpPr/>
          <p:nvPr/>
        </p:nvSpPr>
        <p:spPr>
          <a:xfrm>
            <a:off x="566928" y="1197864"/>
            <a:ext cx="11045952" cy="10973"/>
          </a:xfrm>
          <a:prstGeom prst="line">
            <a:avLst/>
          </a:prstGeom>
          <a:solidFill>
            <a:srgbClr val="D4DDD6"/>
          </a:solidFill>
          <a:ln w="12700">
            <a:solidFill>
              <a:srgbClr val="D4DDD6">
                <a:alpha val="0"/>
              </a:srgbClr>
            </a:solidFill>
            <a:prstDash val="solid"/>
          </a:ln>
        </p:spPr>
      </p:sp>
      <p:sp>
        <p:nvSpPr>
          <p:cNvPr id="5" name="Text 3"/>
          <p:cNvSpPr txBox="1"/>
          <p:nvPr/>
        </p:nvSpPr>
        <p:spPr>
          <a:xfrm>
            <a:off x="566928" y="6537960"/>
            <a:ext cx="7315200" cy="146304"/>
          </a:xfrm>
          <a:prstGeom prst="rect">
            <a:avLst/>
          </a:prstGeom>
          <a:noFill/>
          <a:ln/>
        </p:spPr>
        <p:txBody>
          <a:bodyPr wrap="square" lIns="0" tIns="0" rIns="0" bIns="0" rtlCol="0" anchor="ctr">
            <a:normAutofit/>
          </a:bodyPr>
          <a:lstStyle/>
          <a:p>
            <a:pPr algn="l" indent="0" marL="0">
              <a:buNone/>
            </a:pPr>
            <a:r>
              <a:rPr lang="en-US" sz="800" spc="40" kern="0" dirty="0">
                <a:solidFill>
                  <a:srgbClr val="63736D"/>
                </a:solidFill>
                <a:latin typeface="Aptos" pitchFamily="34" charset="0"/>
                <a:ea typeface="Aptos" pitchFamily="34" charset="-122"/>
                <a:cs typeface="Aptos" pitchFamily="34" charset="-120"/>
              </a:rPr>
              <a:t>AI CODE REVIEW AGENT  /  MENTOR DEMO</a:t>
            </a:r>
            <a:endParaRPr lang="en-US" sz="800" dirty="0"/>
          </a:p>
        </p:txBody>
      </p:sp>
      <p:sp>
        <p:nvSpPr>
          <p:cNvPr id="6" name="Text 4"/>
          <p:cNvSpPr txBox="1"/>
          <p:nvPr/>
        </p:nvSpPr>
        <p:spPr>
          <a:xfrm>
            <a:off x="11018520" y="6510528"/>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28715F"/>
                </a:solidFill>
                <a:latin typeface="Aptos" pitchFamily="34" charset="0"/>
                <a:ea typeface="Aptos" pitchFamily="34" charset="-122"/>
                <a:cs typeface="Aptos" pitchFamily="34" charset="-120"/>
              </a:rPr>
              <a:t>07</a:t>
            </a:r>
            <a:endParaRPr lang="en-US" sz="900" dirty="0"/>
          </a:p>
        </p:txBody>
      </p:sp>
      <p:sp>
        <p:nvSpPr>
          <p:cNvPr id="7" name="Shape 5"/>
          <p:cNvSpPr/>
          <p:nvPr/>
        </p:nvSpPr>
        <p:spPr>
          <a:xfrm>
            <a:off x="1856232" y="2761488"/>
            <a:ext cx="8531352" cy="22860"/>
          </a:xfrm>
          <a:prstGeom prst="line">
            <a:avLst/>
          </a:prstGeom>
          <a:solidFill>
            <a:srgbClr val="D4DDD6"/>
          </a:solidFill>
          <a:ln w="12700">
            <a:solidFill>
              <a:srgbClr val="D4DDD6">
                <a:alpha val="0"/>
              </a:srgbClr>
            </a:solidFill>
            <a:prstDash val="solid"/>
          </a:ln>
        </p:spPr>
      </p:sp>
      <p:sp>
        <p:nvSpPr>
          <p:cNvPr id="8" name="Shape 6"/>
          <p:cNvSpPr/>
          <p:nvPr/>
        </p:nvSpPr>
        <p:spPr>
          <a:xfrm>
            <a:off x="1901952" y="2523744"/>
            <a:ext cx="457200" cy="457200"/>
          </a:xfrm>
          <a:prstGeom prst="ellipse">
            <a:avLst/>
          </a:prstGeom>
          <a:solidFill>
            <a:srgbClr val="28715F"/>
          </a:solidFill>
          <a:ln w="12700">
            <a:solidFill>
              <a:srgbClr val="28715F">
                <a:alpha val="0"/>
              </a:srgbClr>
            </a:solidFill>
            <a:prstDash val="solid"/>
          </a:ln>
        </p:spPr>
      </p:sp>
      <p:sp>
        <p:nvSpPr>
          <p:cNvPr id="9" name="Text 7"/>
          <p:cNvSpPr txBox="1"/>
          <p:nvPr/>
        </p:nvSpPr>
        <p:spPr>
          <a:xfrm>
            <a:off x="1901952" y="2651760"/>
            <a:ext cx="457200"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01</a:t>
            </a:r>
            <a:endParaRPr lang="en-US" sz="900" dirty="0"/>
          </a:p>
        </p:txBody>
      </p:sp>
      <p:sp>
        <p:nvSpPr>
          <p:cNvPr id="10" name="Text 8"/>
          <p:cNvSpPr txBox="1"/>
          <p:nvPr/>
        </p:nvSpPr>
        <p:spPr>
          <a:xfrm>
            <a:off x="1581912" y="3273552"/>
            <a:ext cx="2011680" cy="338328"/>
          </a:xfrm>
          <a:prstGeom prst="rect">
            <a:avLst/>
          </a:prstGeom>
          <a:noFill/>
          <a:ln/>
        </p:spPr>
        <p:txBody>
          <a:bodyPr wrap="square" lIns="0" tIns="0" rIns="0" bIns="0" rtlCol="0" anchor="ctr">
            <a:normAutofit/>
          </a:bodyPr>
          <a:lstStyle/>
          <a:p>
            <a:pPr algn="l" indent="0" marL="0">
              <a:buNone/>
            </a:pPr>
            <a:r>
              <a:rPr lang="en-US" sz="1900" b="1" dirty="0">
                <a:solidFill>
                  <a:srgbClr val="142421"/>
                </a:solidFill>
                <a:latin typeface="Aptos" pitchFamily="34" charset="0"/>
                <a:ea typeface="Aptos" pitchFamily="34" charset="-122"/>
                <a:cs typeface="Aptos" pitchFamily="34" charset="-120"/>
              </a:rPr>
              <a:t>opened</a:t>
            </a:r>
            <a:endParaRPr lang="en-US" sz="1900" dirty="0"/>
          </a:p>
        </p:txBody>
      </p:sp>
      <p:sp>
        <p:nvSpPr>
          <p:cNvPr id="11" name="Text 9"/>
          <p:cNvSpPr txBox="1"/>
          <p:nvPr/>
        </p:nvSpPr>
        <p:spPr>
          <a:xfrm>
            <a:off x="1581912" y="3730752"/>
            <a:ext cx="2468880" cy="603504"/>
          </a:xfrm>
          <a:prstGeom prst="rect">
            <a:avLst/>
          </a:prstGeom>
          <a:noFill/>
          <a:ln/>
        </p:spPr>
        <p:txBody>
          <a:bodyPr wrap="square" lIns="0" tIns="0" rIns="0" bIns="0" rtlCol="0" anchor="t">
            <a:normAutofit/>
          </a:bodyPr>
          <a:lstStyle/>
          <a:p>
            <a:pPr algn="l" indent="0" marL="0">
              <a:buNone/>
            </a:pPr>
            <a:r>
              <a:rPr lang="en-US" sz="1200" dirty="0">
                <a:solidFill>
                  <a:srgbClr val="63736D"/>
                </a:solidFill>
                <a:latin typeface="Aptos" pitchFamily="34" charset="0"/>
                <a:ea typeface="Aptos" pitchFamily="34" charset="-122"/>
                <a:cs typeface="Aptos" pitchFamily="34" charset="-120"/>
              </a:rPr>
              <a:t>A pull request is created.</a:t>
            </a:r>
            <a:endParaRPr lang="en-US" sz="1200" dirty="0"/>
          </a:p>
        </p:txBody>
      </p:sp>
      <p:sp>
        <p:nvSpPr>
          <p:cNvPr id="12" name="Shape 10"/>
          <p:cNvSpPr/>
          <p:nvPr/>
        </p:nvSpPr>
        <p:spPr>
          <a:xfrm>
            <a:off x="6080760" y="2523744"/>
            <a:ext cx="457200" cy="457200"/>
          </a:xfrm>
          <a:prstGeom prst="ellipse">
            <a:avLst/>
          </a:prstGeom>
          <a:solidFill>
            <a:srgbClr val="54809A"/>
          </a:solidFill>
          <a:ln w="12700">
            <a:solidFill>
              <a:srgbClr val="54809A">
                <a:alpha val="0"/>
              </a:srgbClr>
            </a:solidFill>
            <a:prstDash val="solid"/>
          </a:ln>
        </p:spPr>
      </p:sp>
      <p:sp>
        <p:nvSpPr>
          <p:cNvPr id="13" name="Text 11"/>
          <p:cNvSpPr txBox="1"/>
          <p:nvPr/>
        </p:nvSpPr>
        <p:spPr>
          <a:xfrm>
            <a:off x="6080760" y="2651760"/>
            <a:ext cx="457200"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02</a:t>
            </a:r>
            <a:endParaRPr lang="en-US" sz="900" dirty="0"/>
          </a:p>
        </p:txBody>
      </p:sp>
      <p:sp>
        <p:nvSpPr>
          <p:cNvPr id="14" name="Text 12"/>
          <p:cNvSpPr txBox="1"/>
          <p:nvPr/>
        </p:nvSpPr>
        <p:spPr>
          <a:xfrm>
            <a:off x="5760720" y="3273552"/>
            <a:ext cx="2011680" cy="338328"/>
          </a:xfrm>
          <a:prstGeom prst="rect">
            <a:avLst/>
          </a:prstGeom>
          <a:noFill/>
          <a:ln/>
        </p:spPr>
        <p:txBody>
          <a:bodyPr wrap="square" lIns="0" tIns="0" rIns="0" bIns="0" rtlCol="0" anchor="ctr">
            <a:normAutofit/>
          </a:bodyPr>
          <a:lstStyle/>
          <a:p>
            <a:pPr algn="l" indent="0" marL="0">
              <a:buNone/>
            </a:pPr>
            <a:r>
              <a:rPr lang="en-US" sz="1900" b="1" dirty="0">
                <a:solidFill>
                  <a:srgbClr val="142421"/>
                </a:solidFill>
                <a:latin typeface="Aptos" pitchFamily="34" charset="0"/>
                <a:ea typeface="Aptos" pitchFamily="34" charset="-122"/>
                <a:cs typeface="Aptos" pitchFamily="34" charset="-120"/>
              </a:rPr>
              <a:t>reopened</a:t>
            </a:r>
            <a:endParaRPr lang="en-US" sz="1900" dirty="0"/>
          </a:p>
        </p:txBody>
      </p:sp>
      <p:sp>
        <p:nvSpPr>
          <p:cNvPr id="15" name="Text 13"/>
          <p:cNvSpPr txBox="1"/>
          <p:nvPr/>
        </p:nvSpPr>
        <p:spPr>
          <a:xfrm>
            <a:off x="5760720" y="3730752"/>
            <a:ext cx="2468880" cy="603504"/>
          </a:xfrm>
          <a:prstGeom prst="rect">
            <a:avLst/>
          </a:prstGeom>
          <a:noFill/>
          <a:ln/>
        </p:spPr>
        <p:txBody>
          <a:bodyPr wrap="square" lIns="0" tIns="0" rIns="0" bIns="0" rtlCol="0" anchor="t">
            <a:normAutofit/>
          </a:bodyPr>
          <a:lstStyle/>
          <a:p>
            <a:pPr algn="l" indent="0" marL="0">
              <a:buNone/>
            </a:pPr>
            <a:r>
              <a:rPr lang="en-US" sz="1200" dirty="0">
                <a:solidFill>
                  <a:srgbClr val="63736D"/>
                </a:solidFill>
                <a:latin typeface="Aptos" pitchFamily="34" charset="0"/>
                <a:ea typeface="Aptos" pitchFamily="34" charset="-122"/>
                <a:cs typeface="Aptos" pitchFamily="34" charset="-120"/>
              </a:rPr>
              <a:t>A closed PR is reopened.</a:t>
            </a:r>
            <a:endParaRPr lang="en-US" sz="1200" dirty="0"/>
          </a:p>
        </p:txBody>
      </p:sp>
      <p:sp>
        <p:nvSpPr>
          <p:cNvPr id="16" name="Shape 14"/>
          <p:cNvSpPr/>
          <p:nvPr/>
        </p:nvSpPr>
        <p:spPr>
          <a:xfrm>
            <a:off x="10259568" y="2523744"/>
            <a:ext cx="457200" cy="457200"/>
          </a:xfrm>
          <a:prstGeom prst="ellipse">
            <a:avLst/>
          </a:prstGeom>
          <a:solidFill>
            <a:srgbClr val="D36B56"/>
          </a:solidFill>
          <a:ln w="12700">
            <a:solidFill>
              <a:srgbClr val="D36B56">
                <a:alpha val="0"/>
              </a:srgbClr>
            </a:solidFill>
            <a:prstDash val="solid"/>
          </a:ln>
        </p:spPr>
      </p:sp>
      <p:sp>
        <p:nvSpPr>
          <p:cNvPr id="17" name="Text 15"/>
          <p:cNvSpPr txBox="1"/>
          <p:nvPr/>
        </p:nvSpPr>
        <p:spPr>
          <a:xfrm>
            <a:off x="10259568" y="2651760"/>
            <a:ext cx="457200"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03</a:t>
            </a:r>
            <a:endParaRPr lang="en-US" sz="900" dirty="0"/>
          </a:p>
        </p:txBody>
      </p:sp>
      <p:sp>
        <p:nvSpPr>
          <p:cNvPr id="18" name="Text 16"/>
          <p:cNvSpPr txBox="1"/>
          <p:nvPr/>
        </p:nvSpPr>
        <p:spPr>
          <a:xfrm>
            <a:off x="9939528" y="3273552"/>
            <a:ext cx="2011680" cy="338328"/>
          </a:xfrm>
          <a:prstGeom prst="rect">
            <a:avLst/>
          </a:prstGeom>
          <a:noFill/>
          <a:ln/>
        </p:spPr>
        <p:txBody>
          <a:bodyPr wrap="square" lIns="0" tIns="0" rIns="0" bIns="0" rtlCol="0" anchor="ctr">
            <a:normAutofit/>
          </a:bodyPr>
          <a:lstStyle/>
          <a:p>
            <a:pPr algn="l" indent="0" marL="0">
              <a:buNone/>
            </a:pPr>
            <a:r>
              <a:rPr lang="en-US" sz="1900" b="1" dirty="0">
                <a:solidFill>
                  <a:srgbClr val="142421"/>
                </a:solidFill>
                <a:latin typeface="Aptos" pitchFamily="34" charset="0"/>
                <a:ea typeface="Aptos" pitchFamily="34" charset="-122"/>
                <a:cs typeface="Aptos" pitchFamily="34" charset="-120"/>
              </a:rPr>
              <a:t>synchronize</a:t>
            </a:r>
            <a:endParaRPr lang="en-US" sz="1900" dirty="0"/>
          </a:p>
        </p:txBody>
      </p:sp>
      <p:sp>
        <p:nvSpPr>
          <p:cNvPr id="19" name="Text 17"/>
          <p:cNvSpPr txBox="1"/>
          <p:nvPr/>
        </p:nvSpPr>
        <p:spPr>
          <a:xfrm>
            <a:off x="9939528" y="3730752"/>
            <a:ext cx="2468880" cy="603504"/>
          </a:xfrm>
          <a:prstGeom prst="rect">
            <a:avLst/>
          </a:prstGeom>
          <a:noFill/>
          <a:ln/>
        </p:spPr>
        <p:txBody>
          <a:bodyPr wrap="square" lIns="0" tIns="0" rIns="0" bIns="0" rtlCol="0" anchor="t">
            <a:normAutofit/>
          </a:bodyPr>
          <a:lstStyle/>
          <a:p>
            <a:pPr algn="l" indent="0" marL="0">
              <a:buNone/>
            </a:pPr>
            <a:r>
              <a:rPr lang="en-US" sz="1200" dirty="0">
                <a:solidFill>
                  <a:srgbClr val="63736D"/>
                </a:solidFill>
                <a:latin typeface="Aptos" pitchFamily="34" charset="0"/>
                <a:ea typeface="Aptos" pitchFamily="34" charset="-122"/>
                <a:cs typeface="Aptos" pitchFamily="34" charset="-120"/>
              </a:rPr>
              <a:t>New commits update the PR branch.</a:t>
            </a:r>
            <a:endParaRPr lang="en-US" sz="1200" dirty="0"/>
          </a:p>
        </p:txBody>
      </p:sp>
      <p:sp>
        <p:nvSpPr>
          <p:cNvPr id="20" name="Shape 18"/>
          <p:cNvSpPr/>
          <p:nvPr/>
        </p:nvSpPr>
        <p:spPr>
          <a:xfrm>
            <a:off x="3273552" y="5001768"/>
            <a:ext cx="5623560" cy="594360"/>
          </a:xfrm>
          <a:prstGeom prst="roundRect">
            <a:avLst/>
          </a:prstGeom>
          <a:solidFill>
            <a:srgbClr val="E6EEE8"/>
          </a:solidFill>
          <a:ln w="12700">
            <a:solidFill>
              <a:srgbClr val="E6EEE8">
                <a:alpha val="0"/>
              </a:srgbClr>
            </a:solidFill>
            <a:prstDash val="solid"/>
          </a:ln>
        </p:spPr>
      </p:sp>
      <p:sp>
        <p:nvSpPr>
          <p:cNvPr id="21" name="Text 19"/>
          <p:cNvSpPr txBox="1"/>
          <p:nvPr/>
        </p:nvSpPr>
        <p:spPr>
          <a:xfrm>
            <a:off x="3520440" y="5166360"/>
            <a:ext cx="5120640" cy="219456"/>
          </a:xfrm>
          <a:prstGeom prst="rect">
            <a:avLst/>
          </a:prstGeom>
          <a:noFill/>
          <a:ln/>
        </p:spPr>
        <p:txBody>
          <a:bodyPr wrap="square" lIns="0" tIns="0" rIns="0" bIns="0" rtlCol="0" anchor="ctr">
            <a:normAutofit/>
          </a:bodyPr>
          <a:lstStyle/>
          <a:p>
            <a:pPr algn="ctr" indent="0" marL="0">
              <a:buNone/>
            </a:pPr>
            <a:r>
              <a:rPr lang="en-US" sz="1400" b="1" dirty="0">
                <a:solidFill>
                  <a:srgbClr val="183D35"/>
                </a:solidFill>
                <a:latin typeface="Aptos" pitchFamily="34" charset="0"/>
                <a:ea typeface="Aptos" pitchFamily="34" charset="-122"/>
                <a:cs typeface="Aptos" pitchFamily="34" charset="-120"/>
              </a:rPr>
              <a:t>All three events invoke the same reusable review job.</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66928" y="246888"/>
            <a:ext cx="585216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8715F"/>
                </a:solidFill>
                <a:latin typeface="Aptos" pitchFamily="34" charset="0"/>
                <a:ea typeface="Aptos" pitchFamily="34" charset="-122"/>
                <a:cs typeface="Aptos" pitchFamily="34" charset="-120"/>
              </a:rPr>
              <a:t>DIFF TO ADVISORY REVIEW</a:t>
            </a:r>
            <a:endParaRPr lang="en-US" sz="900" dirty="0"/>
          </a:p>
        </p:txBody>
      </p:sp>
      <p:sp>
        <p:nvSpPr>
          <p:cNvPr id="3" name="Text 1"/>
          <p:cNvSpPr txBox="1"/>
          <p:nvPr/>
        </p:nvSpPr>
        <p:spPr>
          <a:xfrm>
            <a:off x="566928" y="55778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42421"/>
                </a:solidFill>
                <a:latin typeface="Aptos Display" pitchFamily="34" charset="0"/>
                <a:ea typeface="Aptos Display" pitchFamily="34" charset="-122"/>
                <a:cs typeface="Aptos Display" pitchFamily="34" charset="-120"/>
              </a:rPr>
              <a:t>Review Engine Flow</a:t>
            </a:r>
            <a:endParaRPr lang="en-US" sz="2700" dirty="0"/>
          </a:p>
        </p:txBody>
      </p:sp>
      <p:sp>
        <p:nvSpPr>
          <p:cNvPr id="4" name="Shape 2"/>
          <p:cNvSpPr/>
          <p:nvPr/>
        </p:nvSpPr>
        <p:spPr>
          <a:xfrm>
            <a:off x="566928" y="1197864"/>
            <a:ext cx="11045952" cy="10973"/>
          </a:xfrm>
          <a:prstGeom prst="line">
            <a:avLst/>
          </a:prstGeom>
          <a:solidFill>
            <a:srgbClr val="D4DDD6"/>
          </a:solidFill>
          <a:ln w="12700">
            <a:solidFill>
              <a:srgbClr val="D4DDD6">
                <a:alpha val="0"/>
              </a:srgbClr>
            </a:solidFill>
            <a:prstDash val="solid"/>
          </a:ln>
        </p:spPr>
      </p:sp>
      <p:sp>
        <p:nvSpPr>
          <p:cNvPr id="5" name="Text 3"/>
          <p:cNvSpPr txBox="1"/>
          <p:nvPr/>
        </p:nvSpPr>
        <p:spPr>
          <a:xfrm>
            <a:off x="566928" y="6537960"/>
            <a:ext cx="7315200" cy="146304"/>
          </a:xfrm>
          <a:prstGeom prst="rect">
            <a:avLst/>
          </a:prstGeom>
          <a:noFill/>
          <a:ln/>
        </p:spPr>
        <p:txBody>
          <a:bodyPr wrap="square" lIns="0" tIns="0" rIns="0" bIns="0" rtlCol="0" anchor="ctr">
            <a:normAutofit/>
          </a:bodyPr>
          <a:lstStyle/>
          <a:p>
            <a:pPr algn="l" indent="0" marL="0">
              <a:buNone/>
            </a:pPr>
            <a:r>
              <a:rPr lang="en-US" sz="800" spc="40" kern="0" dirty="0">
                <a:solidFill>
                  <a:srgbClr val="63736D"/>
                </a:solidFill>
                <a:latin typeface="Aptos" pitchFamily="34" charset="0"/>
                <a:ea typeface="Aptos" pitchFamily="34" charset="-122"/>
                <a:cs typeface="Aptos" pitchFamily="34" charset="-120"/>
              </a:rPr>
              <a:t>AI CODE REVIEW AGENT  /  MENTOR DEMO</a:t>
            </a:r>
            <a:endParaRPr lang="en-US" sz="800" dirty="0"/>
          </a:p>
        </p:txBody>
      </p:sp>
      <p:sp>
        <p:nvSpPr>
          <p:cNvPr id="6" name="Text 4"/>
          <p:cNvSpPr txBox="1"/>
          <p:nvPr/>
        </p:nvSpPr>
        <p:spPr>
          <a:xfrm>
            <a:off x="11018520" y="6510528"/>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28715F"/>
                </a:solidFill>
                <a:latin typeface="Aptos" pitchFamily="34" charset="0"/>
                <a:ea typeface="Aptos" pitchFamily="34" charset="-122"/>
                <a:cs typeface="Aptos" pitchFamily="34" charset="-120"/>
              </a:rPr>
              <a:t>08</a:t>
            </a:r>
            <a:endParaRPr lang="en-US" sz="900" dirty="0"/>
          </a:p>
        </p:txBody>
      </p:sp>
      <p:sp>
        <p:nvSpPr>
          <p:cNvPr id="7" name="Shape 5"/>
          <p:cNvSpPr/>
          <p:nvPr/>
        </p:nvSpPr>
        <p:spPr>
          <a:xfrm>
            <a:off x="1261872" y="1709928"/>
            <a:ext cx="457200" cy="457200"/>
          </a:xfrm>
          <a:prstGeom prst="ellipse">
            <a:avLst/>
          </a:prstGeom>
          <a:solidFill>
            <a:srgbClr val="54809A"/>
          </a:solidFill>
          <a:ln w="12700">
            <a:solidFill>
              <a:srgbClr val="54809A">
                <a:alpha val="0"/>
              </a:srgbClr>
            </a:solidFill>
            <a:prstDash val="solid"/>
          </a:ln>
        </p:spPr>
      </p:sp>
      <p:sp>
        <p:nvSpPr>
          <p:cNvPr id="8" name="Text 6"/>
          <p:cNvSpPr txBox="1"/>
          <p:nvPr/>
        </p:nvSpPr>
        <p:spPr>
          <a:xfrm>
            <a:off x="1261872" y="1847088"/>
            <a:ext cx="45720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01</a:t>
            </a:r>
            <a:endParaRPr lang="en-US" sz="900" dirty="0"/>
          </a:p>
        </p:txBody>
      </p:sp>
      <p:sp>
        <p:nvSpPr>
          <p:cNvPr id="9" name="Shape 7"/>
          <p:cNvSpPr/>
          <p:nvPr/>
        </p:nvSpPr>
        <p:spPr>
          <a:xfrm>
            <a:off x="694944" y="2459736"/>
            <a:ext cx="1920240" cy="1828800"/>
          </a:xfrm>
          <a:prstGeom prst="roundRect">
            <a:avLst>
              <a:gd name="adj" fmla="val 4000"/>
            </a:avLst>
          </a:prstGeom>
          <a:solidFill>
            <a:srgbClr val="FFFFFF"/>
          </a:solidFill>
          <a:ln w="12700">
            <a:solidFill>
              <a:srgbClr val="D4DDD6"/>
            </a:solidFill>
            <a:prstDash val="solid"/>
          </a:ln>
        </p:spPr>
      </p:sp>
      <p:sp>
        <p:nvSpPr>
          <p:cNvPr id="10" name="Text 8"/>
          <p:cNvSpPr txBox="1"/>
          <p:nvPr/>
        </p:nvSpPr>
        <p:spPr>
          <a:xfrm>
            <a:off x="841248" y="2551176"/>
            <a:ext cx="1627632" cy="164592"/>
          </a:xfrm>
          <a:prstGeom prst="rect">
            <a:avLst/>
          </a:prstGeom>
          <a:noFill/>
          <a:ln/>
        </p:spPr>
        <p:txBody>
          <a:bodyPr wrap="square" lIns="0" tIns="0" rIns="0" bIns="0" rtlCol="0" anchor="ctr">
            <a:normAutofit/>
          </a:bodyPr>
          <a:lstStyle/>
          <a:p>
            <a:pPr algn="l" indent="0" marL="0">
              <a:buNone/>
            </a:pPr>
            <a:r>
              <a:rPr lang="en-US" sz="900" b="1" dirty="0">
                <a:solidFill>
                  <a:srgbClr val="54809A"/>
                </a:solidFill>
                <a:latin typeface="Aptos" pitchFamily="34" charset="0"/>
                <a:ea typeface="Aptos" pitchFamily="34" charset="-122"/>
                <a:cs typeface="Aptos" pitchFamily="34" charset="-120"/>
              </a:rPr>
              <a:t>STAGE</a:t>
            </a:r>
            <a:endParaRPr lang="en-US" sz="900" dirty="0"/>
          </a:p>
        </p:txBody>
      </p:sp>
      <p:sp>
        <p:nvSpPr>
          <p:cNvPr id="11" name="Text 9"/>
          <p:cNvSpPr txBox="1"/>
          <p:nvPr/>
        </p:nvSpPr>
        <p:spPr>
          <a:xfrm>
            <a:off x="841248" y="2770632"/>
            <a:ext cx="1627632" cy="1536192"/>
          </a:xfrm>
          <a:prstGeom prst="rect">
            <a:avLst/>
          </a:prstGeom>
          <a:noFill/>
          <a:ln/>
        </p:spPr>
        <p:txBody>
          <a:bodyPr wrap="square" lIns="0" tIns="0" rIns="0" bIns="0" rtlCol="0" anchor="ctr">
            <a:normAutofit/>
          </a:bodyPr>
          <a:lstStyle/>
          <a:p>
            <a:pPr algn="l" indent="0" marL="0">
              <a:buNone/>
            </a:pPr>
            <a:r>
              <a:rPr lang="en-US" sz="1400" b="1" dirty="0">
                <a:solidFill>
                  <a:srgbClr val="142421"/>
                </a:solidFill>
                <a:latin typeface="Aptos" pitchFamily="34" charset="0"/>
                <a:ea typeface="Aptos" pitchFamily="34" charset="-122"/>
                <a:cs typeface="Aptos" pitchFamily="34" charset="-120"/>
              </a:rPr>
              <a:t>Diff</a:t>
            </a:r>
            <a:endParaRPr lang="en-US" sz="1400" dirty="0"/>
          </a:p>
        </p:txBody>
      </p:sp>
      <p:sp>
        <p:nvSpPr>
          <p:cNvPr id="12" name="Text 10"/>
          <p:cNvSpPr txBox="1"/>
          <p:nvPr/>
        </p:nvSpPr>
        <p:spPr>
          <a:xfrm>
            <a:off x="841248" y="3163824"/>
            <a:ext cx="1627632" cy="1024128"/>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3736D"/>
                </a:solidFill>
                <a:latin typeface="Aptos" pitchFamily="34" charset="0"/>
                <a:ea typeface="Aptos" pitchFamily="34" charset="-122"/>
                <a:cs typeface="Aptos" pitchFamily="34" charset="-120"/>
              </a:rPr>
              <a:t>Fetch changed-file patches; filter and cap input.</a:t>
            </a:r>
            <a:endParaRPr lang="en-US" sz="1100" dirty="0"/>
          </a:p>
        </p:txBody>
      </p:sp>
      <p:sp>
        <p:nvSpPr>
          <p:cNvPr id="13" name="Shape 11"/>
          <p:cNvSpPr/>
          <p:nvPr/>
        </p:nvSpPr>
        <p:spPr>
          <a:xfrm>
            <a:off x="2633472" y="3364992"/>
            <a:ext cx="329184" cy="0"/>
          </a:xfrm>
          <a:prstGeom prst="line">
            <a:avLst/>
          </a:prstGeom>
          <a:noFill/>
          <a:ln w="17780">
            <a:solidFill>
              <a:srgbClr val="28715F"/>
            </a:solidFill>
            <a:prstDash val="solid"/>
            <a:tailEnd type="triangle"/>
          </a:ln>
        </p:spPr>
      </p:sp>
      <p:sp>
        <p:nvSpPr>
          <p:cNvPr id="14" name="Shape 12"/>
          <p:cNvSpPr/>
          <p:nvPr/>
        </p:nvSpPr>
        <p:spPr>
          <a:xfrm>
            <a:off x="3575304" y="1709928"/>
            <a:ext cx="457200" cy="457200"/>
          </a:xfrm>
          <a:prstGeom prst="ellipse">
            <a:avLst/>
          </a:prstGeom>
          <a:solidFill>
            <a:srgbClr val="28715F"/>
          </a:solidFill>
          <a:ln w="12700">
            <a:solidFill>
              <a:srgbClr val="28715F">
                <a:alpha val="0"/>
              </a:srgbClr>
            </a:solidFill>
            <a:prstDash val="solid"/>
          </a:ln>
        </p:spPr>
      </p:sp>
      <p:sp>
        <p:nvSpPr>
          <p:cNvPr id="15" name="Text 13"/>
          <p:cNvSpPr txBox="1"/>
          <p:nvPr/>
        </p:nvSpPr>
        <p:spPr>
          <a:xfrm>
            <a:off x="3575304" y="1847088"/>
            <a:ext cx="45720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02</a:t>
            </a:r>
            <a:endParaRPr lang="en-US" sz="900" dirty="0"/>
          </a:p>
        </p:txBody>
      </p:sp>
      <p:sp>
        <p:nvSpPr>
          <p:cNvPr id="16" name="Shape 14"/>
          <p:cNvSpPr/>
          <p:nvPr/>
        </p:nvSpPr>
        <p:spPr>
          <a:xfrm>
            <a:off x="3008376" y="2459736"/>
            <a:ext cx="1920240" cy="1828800"/>
          </a:xfrm>
          <a:prstGeom prst="roundRect">
            <a:avLst>
              <a:gd name="adj" fmla="val 4000"/>
            </a:avLst>
          </a:prstGeom>
          <a:solidFill>
            <a:srgbClr val="FFFFFF"/>
          </a:solidFill>
          <a:ln w="12700">
            <a:solidFill>
              <a:srgbClr val="D4DDD6"/>
            </a:solidFill>
            <a:prstDash val="solid"/>
          </a:ln>
        </p:spPr>
      </p:sp>
      <p:sp>
        <p:nvSpPr>
          <p:cNvPr id="17" name="Text 15"/>
          <p:cNvSpPr txBox="1"/>
          <p:nvPr/>
        </p:nvSpPr>
        <p:spPr>
          <a:xfrm>
            <a:off x="3154680" y="2551176"/>
            <a:ext cx="1627632" cy="164592"/>
          </a:xfrm>
          <a:prstGeom prst="rect">
            <a:avLst/>
          </a:prstGeom>
          <a:noFill/>
          <a:ln/>
        </p:spPr>
        <p:txBody>
          <a:bodyPr wrap="square" lIns="0" tIns="0" rIns="0" bIns="0" rtlCol="0" anchor="ctr">
            <a:normAutofit/>
          </a:bodyPr>
          <a:lstStyle/>
          <a:p>
            <a:pPr algn="l" indent="0" marL="0">
              <a:buNone/>
            </a:pPr>
            <a:r>
              <a:rPr lang="en-US" sz="900" b="1" dirty="0">
                <a:solidFill>
                  <a:srgbClr val="28715F"/>
                </a:solidFill>
                <a:latin typeface="Aptos" pitchFamily="34" charset="0"/>
                <a:ea typeface="Aptos" pitchFamily="34" charset="-122"/>
                <a:cs typeface="Aptos" pitchFamily="34" charset="-120"/>
              </a:rPr>
              <a:t>STAGE</a:t>
            </a:r>
            <a:endParaRPr lang="en-US" sz="900" dirty="0"/>
          </a:p>
        </p:txBody>
      </p:sp>
      <p:sp>
        <p:nvSpPr>
          <p:cNvPr id="18" name="Text 16"/>
          <p:cNvSpPr txBox="1"/>
          <p:nvPr/>
        </p:nvSpPr>
        <p:spPr>
          <a:xfrm>
            <a:off x="3154680" y="2770632"/>
            <a:ext cx="1627632" cy="1536192"/>
          </a:xfrm>
          <a:prstGeom prst="rect">
            <a:avLst/>
          </a:prstGeom>
          <a:noFill/>
          <a:ln/>
        </p:spPr>
        <p:txBody>
          <a:bodyPr wrap="square" lIns="0" tIns="0" rIns="0" bIns="0" rtlCol="0" anchor="ctr">
            <a:normAutofit/>
          </a:bodyPr>
          <a:lstStyle/>
          <a:p>
            <a:pPr algn="l" indent="0" marL="0">
              <a:buNone/>
            </a:pPr>
            <a:r>
              <a:rPr lang="en-US" sz="1400" b="1" dirty="0">
                <a:solidFill>
                  <a:srgbClr val="142421"/>
                </a:solidFill>
                <a:latin typeface="Aptos" pitchFamily="34" charset="0"/>
                <a:ea typeface="Aptos" pitchFamily="34" charset="-122"/>
                <a:cs typeface="Aptos" pitchFamily="34" charset="-120"/>
              </a:rPr>
              <a:t>Policy</a:t>
            </a:r>
            <a:endParaRPr lang="en-US" sz="1400" dirty="0"/>
          </a:p>
        </p:txBody>
      </p:sp>
      <p:sp>
        <p:nvSpPr>
          <p:cNvPr id="19" name="Text 17"/>
          <p:cNvSpPr txBox="1"/>
          <p:nvPr/>
        </p:nvSpPr>
        <p:spPr>
          <a:xfrm>
            <a:off x="3154680" y="3163824"/>
            <a:ext cx="1627632" cy="1024128"/>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3736D"/>
                </a:solidFill>
                <a:latin typeface="Aptos" pitchFamily="34" charset="0"/>
                <a:ea typeface="Aptos" pitchFamily="34" charset="-122"/>
                <a:cs typeface="Aptos" pitchFamily="34" charset="-120"/>
              </a:rPr>
              <a:t>Load central enterprise review instructions.</a:t>
            </a:r>
            <a:endParaRPr lang="en-US" sz="1100" dirty="0"/>
          </a:p>
        </p:txBody>
      </p:sp>
      <p:sp>
        <p:nvSpPr>
          <p:cNvPr id="20" name="Shape 18"/>
          <p:cNvSpPr/>
          <p:nvPr/>
        </p:nvSpPr>
        <p:spPr>
          <a:xfrm>
            <a:off x="4946904" y="3364992"/>
            <a:ext cx="329184" cy="0"/>
          </a:xfrm>
          <a:prstGeom prst="line">
            <a:avLst/>
          </a:prstGeom>
          <a:noFill/>
          <a:ln w="17780">
            <a:solidFill>
              <a:srgbClr val="28715F"/>
            </a:solidFill>
            <a:prstDash val="solid"/>
            <a:tailEnd type="triangle"/>
          </a:ln>
        </p:spPr>
      </p:sp>
      <p:sp>
        <p:nvSpPr>
          <p:cNvPr id="21" name="Shape 19"/>
          <p:cNvSpPr/>
          <p:nvPr/>
        </p:nvSpPr>
        <p:spPr>
          <a:xfrm>
            <a:off x="5888736" y="1709928"/>
            <a:ext cx="457200" cy="457200"/>
          </a:xfrm>
          <a:prstGeom prst="ellipse">
            <a:avLst/>
          </a:prstGeom>
          <a:solidFill>
            <a:srgbClr val="D36B56"/>
          </a:solidFill>
          <a:ln w="12700">
            <a:solidFill>
              <a:srgbClr val="D36B56">
                <a:alpha val="0"/>
              </a:srgbClr>
            </a:solidFill>
            <a:prstDash val="solid"/>
          </a:ln>
        </p:spPr>
      </p:sp>
      <p:sp>
        <p:nvSpPr>
          <p:cNvPr id="22" name="Text 20"/>
          <p:cNvSpPr txBox="1"/>
          <p:nvPr/>
        </p:nvSpPr>
        <p:spPr>
          <a:xfrm>
            <a:off x="5888736" y="1847088"/>
            <a:ext cx="45720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03</a:t>
            </a:r>
            <a:endParaRPr lang="en-US" sz="900" dirty="0"/>
          </a:p>
        </p:txBody>
      </p:sp>
      <p:sp>
        <p:nvSpPr>
          <p:cNvPr id="23" name="Shape 21"/>
          <p:cNvSpPr/>
          <p:nvPr/>
        </p:nvSpPr>
        <p:spPr>
          <a:xfrm>
            <a:off x="5321808" y="2459736"/>
            <a:ext cx="1920240" cy="1828800"/>
          </a:xfrm>
          <a:prstGeom prst="roundRect">
            <a:avLst>
              <a:gd name="adj" fmla="val 4000"/>
            </a:avLst>
          </a:prstGeom>
          <a:solidFill>
            <a:srgbClr val="FFFFFF"/>
          </a:solidFill>
          <a:ln w="12700">
            <a:solidFill>
              <a:srgbClr val="D4DDD6"/>
            </a:solidFill>
            <a:prstDash val="solid"/>
          </a:ln>
        </p:spPr>
      </p:sp>
      <p:sp>
        <p:nvSpPr>
          <p:cNvPr id="24" name="Text 22"/>
          <p:cNvSpPr txBox="1"/>
          <p:nvPr/>
        </p:nvSpPr>
        <p:spPr>
          <a:xfrm>
            <a:off x="5468112" y="2551176"/>
            <a:ext cx="1627632" cy="164592"/>
          </a:xfrm>
          <a:prstGeom prst="rect">
            <a:avLst/>
          </a:prstGeom>
          <a:noFill/>
          <a:ln/>
        </p:spPr>
        <p:txBody>
          <a:bodyPr wrap="square" lIns="0" tIns="0" rIns="0" bIns="0" rtlCol="0" anchor="ctr">
            <a:normAutofit/>
          </a:bodyPr>
          <a:lstStyle/>
          <a:p>
            <a:pPr algn="l" indent="0" marL="0">
              <a:buNone/>
            </a:pPr>
            <a:r>
              <a:rPr lang="en-US" sz="900" b="1" dirty="0">
                <a:solidFill>
                  <a:srgbClr val="D36B56"/>
                </a:solidFill>
                <a:latin typeface="Aptos" pitchFamily="34" charset="0"/>
                <a:ea typeface="Aptos" pitchFamily="34" charset="-122"/>
                <a:cs typeface="Aptos" pitchFamily="34" charset="-120"/>
              </a:rPr>
              <a:t>STAGE</a:t>
            </a:r>
            <a:endParaRPr lang="en-US" sz="900" dirty="0"/>
          </a:p>
        </p:txBody>
      </p:sp>
      <p:sp>
        <p:nvSpPr>
          <p:cNvPr id="25" name="Text 23"/>
          <p:cNvSpPr txBox="1"/>
          <p:nvPr/>
        </p:nvSpPr>
        <p:spPr>
          <a:xfrm>
            <a:off x="5468112" y="2770632"/>
            <a:ext cx="1627632" cy="1536192"/>
          </a:xfrm>
          <a:prstGeom prst="rect">
            <a:avLst/>
          </a:prstGeom>
          <a:noFill/>
          <a:ln/>
        </p:spPr>
        <p:txBody>
          <a:bodyPr wrap="square" lIns="0" tIns="0" rIns="0" bIns="0" rtlCol="0" anchor="ctr">
            <a:normAutofit/>
          </a:bodyPr>
          <a:lstStyle/>
          <a:p>
            <a:pPr algn="l" indent="0" marL="0">
              <a:buNone/>
            </a:pPr>
            <a:r>
              <a:rPr lang="en-US" sz="1400" b="1" dirty="0">
                <a:solidFill>
                  <a:srgbClr val="142421"/>
                </a:solidFill>
                <a:latin typeface="Aptos" pitchFamily="34" charset="0"/>
                <a:ea typeface="Aptos" pitchFamily="34" charset="-122"/>
                <a:cs typeface="Aptos" pitchFamily="34" charset="-120"/>
              </a:rPr>
              <a:t>Generative Engine</a:t>
            </a:r>
            <a:endParaRPr lang="en-US" sz="1400" dirty="0"/>
          </a:p>
        </p:txBody>
      </p:sp>
      <p:sp>
        <p:nvSpPr>
          <p:cNvPr id="26" name="Text 24"/>
          <p:cNvSpPr txBox="1"/>
          <p:nvPr/>
        </p:nvSpPr>
        <p:spPr>
          <a:xfrm>
            <a:off x="5468112" y="3163824"/>
            <a:ext cx="1627632" cy="1024128"/>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3736D"/>
                </a:solidFill>
                <a:latin typeface="Aptos" pitchFamily="34" charset="0"/>
                <a:ea typeface="Aptos" pitchFamily="34" charset="-122"/>
                <a:cs typeface="Aptos" pitchFamily="34" charset="-120"/>
              </a:rPr>
              <a:t>Request a JSON-object review response.</a:t>
            </a:r>
            <a:endParaRPr lang="en-US" sz="1100" dirty="0"/>
          </a:p>
        </p:txBody>
      </p:sp>
      <p:sp>
        <p:nvSpPr>
          <p:cNvPr id="27" name="Shape 25"/>
          <p:cNvSpPr/>
          <p:nvPr/>
        </p:nvSpPr>
        <p:spPr>
          <a:xfrm>
            <a:off x="7260336" y="3364992"/>
            <a:ext cx="329184" cy="0"/>
          </a:xfrm>
          <a:prstGeom prst="line">
            <a:avLst/>
          </a:prstGeom>
          <a:noFill/>
          <a:ln w="17780">
            <a:solidFill>
              <a:srgbClr val="28715F"/>
            </a:solidFill>
            <a:prstDash val="solid"/>
            <a:tailEnd type="triangle"/>
          </a:ln>
        </p:spPr>
      </p:sp>
      <p:sp>
        <p:nvSpPr>
          <p:cNvPr id="28" name="Shape 26"/>
          <p:cNvSpPr/>
          <p:nvPr/>
        </p:nvSpPr>
        <p:spPr>
          <a:xfrm>
            <a:off x="8202168" y="1709928"/>
            <a:ext cx="457200" cy="457200"/>
          </a:xfrm>
          <a:prstGeom prst="ellipse">
            <a:avLst/>
          </a:prstGeom>
          <a:solidFill>
            <a:srgbClr val="E4AE45"/>
          </a:solidFill>
          <a:ln w="12700">
            <a:solidFill>
              <a:srgbClr val="E4AE45">
                <a:alpha val="0"/>
              </a:srgbClr>
            </a:solidFill>
            <a:prstDash val="solid"/>
          </a:ln>
        </p:spPr>
      </p:sp>
      <p:sp>
        <p:nvSpPr>
          <p:cNvPr id="29" name="Text 27"/>
          <p:cNvSpPr txBox="1"/>
          <p:nvPr/>
        </p:nvSpPr>
        <p:spPr>
          <a:xfrm>
            <a:off x="8202168" y="1847088"/>
            <a:ext cx="45720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04</a:t>
            </a:r>
            <a:endParaRPr lang="en-US" sz="900" dirty="0"/>
          </a:p>
        </p:txBody>
      </p:sp>
      <p:sp>
        <p:nvSpPr>
          <p:cNvPr id="30" name="Shape 28"/>
          <p:cNvSpPr/>
          <p:nvPr/>
        </p:nvSpPr>
        <p:spPr>
          <a:xfrm>
            <a:off x="7635240" y="2459736"/>
            <a:ext cx="1920240" cy="1828800"/>
          </a:xfrm>
          <a:prstGeom prst="roundRect">
            <a:avLst>
              <a:gd name="adj" fmla="val 4000"/>
            </a:avLst>
          </a:prstGeom>
          <a:solidFill>
            <a:srgbClr val="FFFFFF"/>
          </a:solidFill>
          <a:ln w="12700">
            <a:solidFill>
              <a:srgbClr val="D4DDD6"/>
            </a:solidFill>
            <a:prstDash val="solid"/>
          </a:ln>
        </p:spPr>
      </p:sp>
      <p:sp>
        <p:nvSpPr>
          <p:cNvPr id="31" name="Text 29"/>
          <p:cNvSpPr txBox="1"/>
          <p:nvPr/>
        </p:nvSpPr>
        <p:spPr>
          <a:xfrm>
            <a:off x="7781544" y="2551176"/>
            <a:ext cx="1627632" cy="164592"/>
          </a:xfrm>
          <a:prstGeom prst="rect">
            <a:avLst/>
          </a:prstGeom>
          <a:noFill/>
          <a:ln/>
        </p:spPr>
        <p:txBody>
          <a:bodyPr wrap="square" lIns="0" tIns="0" rIns="0" bIns="0" rtlCol="0" anchor="ctr">
            <a:normAutofit/>
          </a:bodyPr>
          <a:lstStyle/>
          <a:p>
            <a:pPr algn="l" indent="0" marL="0">
              <a:buNone/>
            </a:pPr>
            <a:r>
              <a:rPr lang="en-US" sz="900" b="1" dirty="0">
                <a:solidFill>
                  <a:srgbClr val="E4AE45"/>
                </a:solidFill>
                <a:latin typeface="Aptos" pitchFamily="34" charset="0"/>
                <a:ea typeface="Aptos" pitchFamily="34" charset="-122"/>
                <a:cs typeface="Aptos" pitchFamily="34" charset="-120"/>
              </a:rPr>
              <a:t>STAGE</a:t>
            </a:r>
            <a:endParaRPr lang="en-US" sz="900" dirty="0"/>
          </a:p>
        </p:txBody>
      </p:sp>
      <p:sp>
        <p:nvSpPr>
          <p:cNvPr id="32" name="Text 30"/>
          <p:cNvSpPr txBox="1"/>
          <p:nvPr/>
        </p:nvSpPr>
        <p:spPr>
          <a:xfrm>
            <a:off x="7781544" y="2770632"/>
            <a:ext cx="1627632" cy="1536192"/>
          </a:xfrm>
          <a:prstGeom prst="rect">
            <a:avLst/>
          </a:prstGeom>
          <a:noFill/>
          <a:ln/>
        </p:spPr>
        <p:txBody>
          <a:bodyPr wrap="square" lIns="0" tIns="0" rIns="0" bIns="0" rtlCol="0" anchor="ctr">
            <a:normAutofit/>
          </a:bodyPr>
          <a:lstStyle/>
          <a:p>
            <a:pPr algn="l" indent="0" marL="0">
              <a:buNone/>
            </a:pPr>
            <a:r>
              <a:rPr lang="en-US" sz="1400" b="1" dirty="0">
                <a:solidFill>
                  <a:srgbClr val="142421"/>
                </a:solidFill>
                <a:latin typeface="Aptos" pitchFamily="34" charset="0"/>
                <a:ea typeface="Aptos" pitchFamily="34" charset="-122"/>
                <a:cs typeface="Aptos" pitchFamily="34" charset="-120"/>
              </a:rPr>
              <a:t>Pydantic</a:t>
            </a:r>
            <a:endParaRPr lang="en-US" sz="1400" dirty="0"/>
          </a:p>
        </p:txBody>
      </p:sp>
      <p:sp>
        <p:nvSpPr>
          <p:cNvPr id="33" name="Text 31"/>
          <p:cNvSpPr txBox="1"/>
          <p:nvPr/>
        </p:nvSpPr>
        <p:spPr>
          <a:xfrm>
            <a:off x="7781544" y="3163824"/>
            <a:ext cx="1627632" cy="1024128"/>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3736D"/>
                </a:solidFill>
                <a:latin typeface="Aptos" pitchFamily="34" charset="0"/>
                <a:ea typeface="Aptos" pitchFamily="34" charset="-122"/>
                <a:cs typeface="Aptos" pitchFamily="34" charset="-120"/>
              </a:rPr>
              <a:t>Parse fields and reject invalid structure/severity.</a:t>
            </a:r>
            <a:endParaRPr lang="en-US" sz="1100" dirty="0"/>
          </a:p>
        </p:txBody>
      </p:sp>
      <p:sp>
        <p:nvSpPr>
          <p:cNvPr id="34" name="Shape 32"/>
          <p:cNvSpPr/>
          <p:nvPr/>
        </p:nvSpPr>
        <p:spPr>
          <a:xfrm>
            <a:off x="9573768" y="3364992"/>
            <a:ext cx="329184" cy="0"/>
          </a:xfrm>
          <a:prstGeom prst="line">
            <a:avLst/>
          </a:prstGeom>
          <a:noFill/>
          <a:ln w="17780">
            <a:solidFill>
              <a:srgbClr val="28715F"/>
            </a:solidFill>
            <a:prstDash val="solid"/>
            <a:tailEnd type="triangle"/>
          </a:ln>
        </p:spPr>
      </p:sp>
      <p:sp>
        <p:nvSpPr>
          <p:cNvPr id="35" name="Shape 33"/>
          <p:cNvSpPr/>
          <p:nvPr/>
        </p:nvSpPr>
        <p:spPr>
          <a:xfrm>
            <a:off x="10515600" y="1709928"/>
            <a:ext cx="457200" cy="457200"/>
          </a:xfrm>
          <a:prstGeom prst="ellipse">
            <a:avLst/>
          </a:prstGeom>
          <a:solidFill>
            <a:srgbClr val="183D35"/>
          </a:solidFill>
          <a:ln w="12700">
            <a:solidFill>
              <a:srgbClr val="183D35">
                <a:alpha val="0"/>
              </a:srgbClr>
            </a:solidFill>
            <a:prstDash val="solid"/>
          </a:ln>
        </p:spPr>
      </p:sp>
      <p:sp>
        <p:nvSpPr>
          <p:cNvPr id="36" name="Text 34"/>
          <p:cNvSpPr txBox="1"/>
          <p:nvPr/>
        </p:nvSpPr>
        <p:spPr>
          <a:xfrm>
            <a:off x="10515600" y="1847088"/>
            <a:ext cx="45720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05</a:t>
            </a:r>
            <a:endParaRPr lang="en-US" sz="900" dirty="0"/>
          </a:p>
        </p:txBody>
      </p:sp>
      <p:sp>
        <p:nvSpPr>
          <p:cNvPr id="37" name="Shape 35"/>
          <p:cNvSpPr/>
          <p:nvPr/>
        </p:nvSpPr>
        <p:spPr>
          <a:xfrm>
            <a:off x="9948672" y="2459736"/>
            <a:ext cx="1920240" cy="1828800"/>
          </a:xfrm>
          <a:prstGeom prst="roundRect">
            <a:avLst>
              <a:gd name="adj" fmla="val 4000"/>
            </a:avLst>
          </a:prstGeom>
          <a:solidFill>
            <a:srgbClr val="FFFFFF"/>
          </a:solidFill>
          <a:ln w="12700">
            <a:solidFill>
              <a:srgbClr val="D4DDD6"/>
            </a:solidFill>
            <a:prstDash val="solid"/>
          </a:ln>
        </p:spPr>
      </p:sp>
      <p:sp>
        <p:nvSpPr>
          <p:cNvPr id="38" name="Text 36"/>
          <p:cNvSpPr txBox="1"/>
          <p:nvPr/>
        </p:nvSpPr>
        <p:spPr>
          <a:xfrm>
            <a:off x="10094976" y="2551176"/>
            <a:ext cx="1627632" cy="164592"/>
          </a:xfrm>
          <a:prstGeom prst="rect">
            <a:avLst/>
          </a:prstGeom>
          <a:noFill/>
          <a:ln/>
        </p:spPr>
        <p:txBody>
          <a:bodyPr wrap="square" lIns="0" tIns="0" rIns="0" bIns="0" rtlCol="0" anchor="ctr">
            <a:normAutofit/>
          </a:bodyPr>
          <a:lstStyle/>
          <a:p>
            <a:pPr algn="l" indent="0" marL="0">
              <a:buNone/>
            </a:pPr>
            <a:r>
              <a:rPr lang="en-US" sz="900" b="1" dirty="0">
                <a:solidFill>
                  <a:srgbClr val="183D35"/>
                </a:solidFill>
                <a:latin typeface="Aptos" pitchFamily="34" charset="0"/>
                <a:ea typeface="Aptos" pitchFamily="34" charset="-122"/>
                <a:cs typeface="Aptos" pitchFamily="34" charset="-120"/>
              </a:rPr>
              <a:t>STAGE</a:t>
            </a:r>
            <a:endParaRPr lang="en-US" sz="900" dirty="0"/>
          </a:p>
        </p:txBody>
      </p:sp>
      <p:sp>
        <p:nvSpPr>
          <p:cNvPr id="39" name="Text 37"/>
          <p:cNvSpPr txBox="1"/>
          <p:nvPr/>
        </p:nvSpPr>
        <p:spPr>
          <a:xfrm>
            <a:off x="10094976" y="2770632"/>
            <a:ext cx="1627632" cy="1536192"/>
          </a:xfrm>
          <a:prstGeom prst="rect">
            <a:avLst/>
          </a:prstGeom>
          <a:noFill/>
          <a:ln/>
        </p:spPr>
        <p:txBody>
          <a:bodyPr wrap="square" lIns="0" tIns="0" rIns="0" bIns="0" rtlCol="0" anchor="ctr">
            <a:normAutofit/>
          </a:bodyPr>
          <a:lstStyle/>
          <a:p>
            <a:pPr algn="l" indent="0" marL="0">
              <a:buNone/>
            </a:pPr>
            <a:r>
              <a:rPr lang="en-US" sz="1400" b="1" dirty="0">
                <a:solidFill>
                  <a:srgbClr val="142421"/>
                </a:solidFill>
                <a:latin typeface="Aptos" pitchFamily="34" charset="0"/>
                <a:ea typeface="Aptos" pitchFamily="34" charset="-122"/>
                <a:cs typeface="Aptos" pitchFamily="34" charset="-120"/>
              </a:rPr>
              <a:t>Review</a:t>
            </a:r>
            <a:endParaRPr lang="en-US" sz="1400" dirty="0"/>
          </a:p>
        </p:txBody>
      </p:sp>
      <p:sp>
        <p:nvSpPr>
          <p:cNvPr id="40" name="Text 38"/>
          <p:cNvSpPr txBox="1"/>
          <p:nvPr/>
        </p:nvSpPr>
        <p:spPr>
          <a:xfrm>
            <a:off x="10094976" y="3163824"/>
            <a:ext cx="1627632" cy="1024128"/>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3736D"/>
                </a:solidFill>
                <a:latin typeface="Aptos" pitchFamily="34" charset="0"/>
                <a:ea typeface="Aptos" pitchFamily="34" charset="-122"/>
                <a:cs typeface="Aptos" pitchFamily="34" charset="-120"/>
              </a:rPr>
              <a:t>Format Markdown and post one PR-level comment.</a:t>
            </a:r>
            <a:endParaRPr lang="en-US" sz="1100" dirty="0"/>
          </a:p>
        </p:txBody>
      </p:sp>
      <p:sp>
        <p:nvSpPr>
          <p:cNvPr id="41" name="Text 39"/>
          <p:cNvSpPr txBox="1"/>
          <p:nvPr/>
        </p:nvSpPr>
        <p:spPr>
          <a:xfrm>
            <a:off x="822960" y="4974336"/>
            <a:ext cx="1143000" cy="256032"/>
          </a:xfrm>
          <a:prstGeom prst="rect">
            <a:avLst/>
          </a:prstGeom>
          <a:noFill/>
          <a:ln/>
        </p:spPr>
        <p:txBody>
          <a:bodyPr wrap="square" lIns="0" tIns="0" rIns="0" bIns="0" rtlCol="0" anchor="ctr">
            <a:normAutofit/>
          </a:bodyPr>
          <a:lstStyle/>
          <a:p>
            <a:pPr algn="l" indent="0" marL="0">
              <a:buNone/>
            </a:pPr>
            <a:r>
              <a:rPr lang="en-US" sz="1200" b="1" dirty="0">
                <a:solidFill>
                  <a:srgbClr val="142421"/>
                </a:solidFill>
                <a:latin typeface="Aptos" pitchFamily="34" charset="0"/>
                <a:ea typeface="Aptos" pitchFamily="34" charset="-122"/>
                <a:cs typeface="Aptos" pitchFamily="34" charset="-120"/>
              </a:rPr>
              <a:t>Input bounds</a:t>
            </a:r>
            <a:endParaRPr lang="en-US" sz="1200" dirty="0"/>
          </a:p>
        </p:txBody>
      </p:sp>
      <p:sp>
        <p:nvSpPr>
          <p:cNvPr id="42" name="Text 40"/>
          <p:cNvSpPr txBox="1"/>
          <p:nvPr/>
        </p:nvSpPr>
        <p:spPr>
          <a:xfrm>
            <a:off x="1965960" y="4974336"/>
            <a:ext cx="9052560" cy="256032"/>
          </a:xfrm>
          <a:prstGeom prst="rect">
            <a:avLst/>
          </a:prstGeom>
          <a:noFill/>
          <a:ln/>
        </p:spPr>
        <p:txBody>
          <a:bodyPr wrap="square" lIns="0" tIns="0" rIns="0" bIns="0" rtlCol="0" anchor="ctr">
            <a:normAutofit/>
          </a:bodyPr>
          <a:lstStyle/>
          <a:p>
            <a:pPr algn="l" indent="0" marL="0">
              <a:buNone/>
            </a:pPr>
            <a:r>
              <a:rPr lang="en-US" sz="1200" dirty="0">
                <a:solidFill>
                  <a:srgbClr val="63736D"/>
                </a:solidFill>
                <a:latin typeface="Aptos" pitchFamily="34" charset="0"/>
                <a:ea typeface="Aptos" pitchFamily="34" charset="-122"/>
                <a:cs typeface="Aptos" pitchFamily="34" charset="-120"/>
              </a:rPr>
              <a:t>40 files max  ·  12,000 chars per patch  ·  100,000 chars total  ·  60s timeout</a:t>
            </a:r>
            <a:endParaRPr lang="en-US" sz="1200" dirty="0"/>
          </a:p>
        </p:txBody>
      </p:sp>
      <p:sp>
        <p:nvSpPr>
          <p:cNvPr id="43" name="Text 41"/>
          <p:cNvSpPr txBox="1"/>
          <p:nvPr/>
        </p:nvSpPr>
        <p:spPr>
          <a:xfrm>
            <a:off x="832104" y="5394960"/>
            <a:ext cx="9418320" cy="228600"/>
          </a:xfrm>
          <a:prstGeom prst="rect">
            <a:avLst/>
          </a:prstGeom>
          <a:noFill/>
          <a:ln/>
        </p:spPr>
        <p:txBody>
          <a:bodyPr wrap="square" lIns="0" tIns="0" rIns="0" bIns="0" rtlCol="0" anchor="ctr">
            <a:normAutofit/>
          </a:bodyPr>
          <a:lstStyle/>
          <a:p>
            <a:pPr algn="l" indent="0" marL="0">
              <a:buNone/>
            </a:pPr>
            <a:r>
              <a:rPr lang="en-US" sz="1000" i="1" dirty="0">
                <a:solidFill>
                  <a:srgbClr val="63736D"/>
                </a:solidFill>
                <a:latin typeface="Aptos" pitchFamily="34" charset="0"/>
                <a:ea typeface="Aptos" pitchFamily="34" charset="-122"/>
                <a:cs typeface="Aptos" pitchFamily="34" charset="-120"/>
              </a:rPr>
              <a:t>Defaults from the current reusable workflow; repository variables may override them.</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66928" y="246888"/>
            <a:ext cx="585216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8715F"/>
                </a:solidFill>
                <a:latin typeface="Aptos" pitchFamily="34" charset="0"/>
                <a:ea typeface="Aptos" pitchFamily="34" charset="-122"/>
                <a:cs typeface="Aptos" pitchFamily="34" charset="-120"/>
              </a:rPr>
              <a:t>WHAT THE REPOSITORY DEMONSTRATES</a:t>
            </a:r>
            <a:endParaRPr lang="en-US" sz="900" dirty="0"/>
          </a:p>
        </p:txBody>
      </p:sp>
      <p:sp>
        <p:nvSpPr>
          <p:cNvPr id="3" name="Text 1"/>
          <p:cNvSpPr txBox="1"/>
          <p:nvPr/>
        </p:nvSpPr>
        <p:spPr>
          <a:xfrm>
            <a:off x="566928" y="55778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42421"/>
                </a:solidFill>
                <a:latin typeface="Aptos Display" pitchFamily="34" charset="0"/>
                <a:ea typeface="Aptos Display" pitchFamily="34" charset="-122"/>
                <a:cs typeface="Aptos Display" pitchFamily="34" charset="-120"/>
              </a:rPr>
              <a:t>P1 Demo Results</a:t>
            </a:r>
            <a:endParaRPr lang="en-US" sz="2700" dirty="0"/>
          </a:p>
        </p:txBody>
      </p:sp>
      <p:sp>
        <p:nvSpPr>
          <p:cNvPr id="4" name="Shape 2"/>
          <p:cNvSpPr/>
          <p:nvPr/>
        </p:nvSpPr>
        <p:spPr>
          <a:xfrm>
            <a:off x="566928" y="1197864"/>
            <a:ext cx="11045952" cy="10973"/>
          </a:xfrm>
          <a:prstGeom prst="line">
            <a:avLst/>
          </a:prstGeom>
          <a:solidFill>
            <a:srgbClr val="D4DDD6"/>
          </a:solidFill>
          <a:ln w="12700">
            <a:solidFill>
              <a:srgbClr val="D4DDD6">
                <a:alpha val="0"/>
              </a:srgbClr>
            </a:solidFill>
            <a:prstDash val="solid"/>
          </a:ln>
        </p:spPr>
      </p:sp>
      <p:sp>
        <p:nvSpPr>
          <p:cNvPr id="5" name="Text 3"/>
          <p:cNvSpPr txBox="1"/>
          <p:nvPr/>
        </p:nvSpPr>
        <p:spPr>
          <a:xfrm>
            <a:off x="566928" y="6537960"/>
            <a:ext cx="7315200" cy="146304"/>
          </a:xfrm>
          <a:prstGeom prst="rect">
            <a:avLst/>
          </a:prstGeom>
          <a:noFill/>
          <a:ln/>
        </p:spPr>
        <p:txBody>
          <a:bodyPr wrap="square" lIns="0" tIns="0" rIns="0" bIns="0" rtlCol="0" anchor="ctr">
            <a:normAutofit/>
          </a:bodyPr>
          <a:lstStyle/>
          <a:p>
            <a:pPr algn="l" indent="0" marL="0">
              <a:buNone/>
            </a:pPr>
            <a:r>
              <a:rPr lang="en-US" sz="800" spc="40" kern="0" dirty="0">
                <a:solidFill>
                  <a:srgbClr val="63736D"/>
                </a:solidFill>
                <a:latin typeface="Aptos" pitchFamily="34" charset="0"/>
                <a:ea typeface="Aptos" pitchFamily="34" charset="-122"/>
                <a:cs typeface="Aptos" pitchFamily="34" charset="-120"/>
              </a:rPr>
              <a:t>AI CODE REVIEW AGENT  /  MENTOR DEMO</a:t>
            </a:r>
            <a:endParaRPr lang="en-US" sz="800" dirty="0"/>
          </a:p>
        </p:txBody>
      </p:sp>
      <p:sp>
        <p:nvSpPr>
          <p:cNvPr id="6" name="Text 4"/>
          <p:cNvSpPr txBox="1"/>
          <p:nvPr/>
        </p:nvSpPr>
        <p:spPr>
          <a:xfrm>
            <a:off x="11018520" y="6510528"/>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28715F"/>
                </a:solidFill>
                <a:latin typeface="Aptos" pitchFamily="34" charset="0"/>
                <a:ea typeface="Aptos" pitchFamily="34" charset="-122"/>
                <a:cs typeface="Aptos" pitchFamily="34" charset="-120"/>
              </a:rPr>
              <a:t>09</a:t>
            </a:r>
            <a:endParaRPr lang="en-US" sz="900" dirty="0"/>
          </a:p>
        </p:txBody>
      </p:sp>
      <p:sp>
        <p:nvSpPr>
          <p:cNvPr id="7" name="Shape 5"/>
          <p:cNvSpPr/>
          <p:nvPr/>
        </p:nvSpPr>
        <p:spPr>
          <a:xfrm>
            <a:off x="804672" y="1645920"/>
            <a:ext cx="5074920" cy="1161288"/>
          </a:xfrm>
          <a:prstGeom prst="roundRect">
            <a:avLst>
              <a:gd name="adj" fmla="val 6299"/>
            </a:avLst>
          </a:prstGeom>
          <a:solidFill>
            <a:srgbClr val="FFFFFF"/>
          </a:solidFill>
          <a:ln w="12700">
            <a:solidFill>
              <a:srgbClr val="D4DDD6"/>
            </a:solidFill>
            <a:prstDash val="solid"/>
          </a:ln>
        </p:spPr>
      </p:sp>
      <p:sp>
        <p:nvSpPr>
          <p:cNvPr id="8" name="Text 6"/>
          <p:cNvSpPr txBox="1"/>
          <p:nvPr/>
        </p:nvSpPr>
        <p:spPr>
          <a:xfrm>
            <a:off x="950976" y="1737360"/>
            <a:ext cx="4782312" cy="164592"/>
          </a:xfrm>
          <a:prstGeom prst="rect">
            <a:avLst/>
          </a:prstGeom>
          <a:noFill/>
          <a:ln/>
        </p:spPr>
        <p:txBody>
          <a:bodyPr wrap="square" lIns="0" tIns="0" rIns="0" bIns="0" rtlCol="0" anchor="ctr">
            <a:normAutofit/>
          </a:bodyPr>
          <a:lstStyle/>
          <a:p>
            <a:pPr algn="l" indent="0" marL="0">
              <a:buNone/>
            </a:pPr>
            <a:r>
              <a:rPr lang="en-US" sz="900" b="1" dirty="0">
                <a:solidFill>
                  <a:srgbClr val="28715F"/>
                </a:solidFill>
                <a:latin typeface="Aptos" pitchFamily="34" charset="0"/>
                <a:ea typeface="Aptos" pitchFamily="34" charset="-122"/>
                <a:cs typeface="Aptos" pitchFamily="34" charset="-120"/>
              </a:rPr>
              <a:t>01</a:t>
            </a:r>
            <a:endParaRPr lang="en-US" sz="900" dirty="0"/>
          </a:p>
        </p:txBody>
      </p:sp>
      <p:sp>
        <p:nvSpPr>
          <p:cNvPr id="9" name="Text 7"/>
          <p:cNvSpPr txBox="1"/>
          <p:nvPr/>
        </p:nvSpPr>
        <p:spPr>
          <a:xfrm>
            <a:off x="950976" y="1956816"/>
            <a:ext cx="4782312" cy="868680"/>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Reusable execution</a:t>
            </a:r>
            <a:endParaRPr lang="en-US" sz="1500" dirty="0"/>
          </a:p>
        </p:txBody>
      </p:sp>
      <p:sp>
        <p:nvSpPr>
          <p:cNvPr id="10" name="Text 8"/>
          <p:cNvSpPr txBox="1"/>
          <p:nvPr/>
        </p:nvSpPr>
        <p:spPr>
          <a:xfrm>
            <a:off x="950976" y="2350008"/>
            <a:ext cx="4782312" cy="356616"/>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3736D"/>
                </a:solidFill>
                <a:latin typeface="Aptos" pitchFamily="34" charset="0"/>
                <a:ea typeface="Aptos" pitchFamily="34" charset="-122"/>
                <a:cs typeface="Aptos" pitchFamily="34" charset="-120"/>
              </a:rPr>
              <a:t>PR event invokes centralized reviewer workflow.</a:t>
            </a:r>
            <a:endParaRPr lang="en-US" sz="1100" dirty="0"/>
          </a:p>
        </p:txBody>
      </p:sp>
      <p:sp>
        <p:nvSpPr>
          <p:cNvPr id="11" name="Shape 9"/>
          <p:cNvSpPr/>
          <p:nvPr/>
        </p:nvSpPr>
        <p:spPr>
          <a:xfrm>
            <a:off x="6336792" y="1645920"/>
            <a:ext cx="5074920" cy="1161288"/>
          </a:xfrm>
          <a:prstGeom prst="roundRect">
            <a:avLst>
              <a:gd name="adj" fmla="val 6299"/>
            </a:avLst>
          </a:prstGeom>
          <a:solidFill>
            <a:srgbClr val="FFFFFF"/>
          </a:solidFill>
          <a:ln w="12700">
            <a:solidFill>
              <a:srgbClr val="D4DDD6"/>
            </a:solidFill>
            <a:prstDash val="solid"/>
          </a:ln>
        </p:spPr>
      </p:sp>
      <p:sp>
        <p:nvSpPr>
          <p:cNvPr id="12" name="Text 10"/>
          <p:cNvSpPr txBox="1"/>
          <p:nvPr/>
        </p:nvSpPr>
        <p:spPr>
          <a:xfrm>
            <a:off x="6483096" y="1737360"/>
            <a:ext cx="4782312" cy="164592"/>
          </a:xfrm>
          <a:prstGeom prst="rect">
            <a:avLst/>
          </a:prstGeom>
          <a:noFill/>
          <a:ln/>
        </p:spPr>
        <p:txBody>
          <a:bodyPr wrap="square" lIns="0" tIns="0" rIns="0" bIns="0" rtlCol="0" anchor="ctr">
            <a:normAutofit/>
          </a:bodyPr>
          <a:lstStyle/>
          <a:p>
            <a:pPr algn="l" indent="0" marL="0">
              <a:buNone/>
            </a:pPr>
            <a:r>
              <a:rPr lang="en-US" sz="900" b="1" dirty="0">
                <a:solidFill>
                  <a:srgbClr val="54809A"/>
                </a:solidFill>
                <a:latin typeface="Aptos" pitchFamily="34" charset="0"/>
                <a:ea typeface="Aptos" pitchFamily="34" charset="-122"/>
                <a:cs typeface="Aptos" pitchFamily="34" charset="-120"/>
              </a:rPr>
              <a:t>02</a:t>
            </a:r>
            <a:endParaRPr lang="en-US" sz="900" dirty="0"/>
          </a:p>
        </p:txBody>
      </p:sp>
      <p:sp>
        <p:nvSpPr>
          <p:cNvPr id="13" name="Text 11"/>
          <p:cNvSpPr txBox="1"/>
          <p:nvPr/>
        </p:nvSpPr>
        <p:spPr>
          <a:xfrm>
            <a:off x="6483096" y="1956816"/>
            <a:ext cx="4782312" cy="868680"/>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Bounded review input</a:t>
            </a:r>
            <a:endParaRPr lang="en-US" sz="1500" dirty="0"/>
          </a:p>
        </p:txBody>
      </p:sp>
      <p:sp>
        <p:nvSpPr>
          <p:cNvPr id="14" name="Text 12"/>
          <p:cNvSpPr txBox="1"/>
          <p:nvPr/>
        </p:nvSpPr>
        <p:spPr>
          <a:xfrm>
            <a:off x="6483096" y="2350008"/>
            <a:ext cx="4782312" cy="356616"/>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3736D"/>
                </a:solidFill>
                <a:latin typeface="Aptos" pitchFamily="34" charset="0"/>
                <a:ea typeface="Aptos" pitchFamily="34" charset="-122"/>
                <a:cs typeface="Aptos" pitchFamily="34" charset="-120"/>
              </a:rPr>
              <a:t>Filters noisy files and limits diff size.</a:t>
            </a:r>
            <a:endParaRPr lang="en-US" sz="1100" dirty="0"/>
          </a:p>
        </p:txBody>
      </p:sp>
      <p:sp>
        <p:nvSpPr>
          <p:cNvPr id="15" name="Shape 13"/>
          <p:cNvSpPr/>
          <p:nvPr/>
        </p:nvSpPr>
        <p:spPr>
          <a:xfrm>
            <a:off x="804672" y="3255264"/>
            <a:ext cx="5074920" cy="1161288"/>
          </a:xfrm>
          <a:prstGeom prst="roundRect">
            <a:avLst>
              <a:gd name="adj" fmla="val 6299"/>
            </a:avLst>
          </a:prstGeom>
          <a:solidFill>
            <a:srgbClr val="FFFFFF"/>
          </a:solidFill>
          <a:ln w="12700">
            <a:solidFill>
              <a:srgbClr val="D4DDD6"/>
            </a:solidFill>
            <a:prstDash val="solid"/>
          </a:ln>
        </p:spPr>
      </p:sp>
      <p:sp>
        <p:nvSpPr>
          <p:cNvPr id="16" name="Text 14"/>
          <p:cNvSpPr txBox="1"/>
          <p:nvPr/>
        </p:nvSpPr>
        <p:spPr>
          <a:xfrm>
            <a:off x="950976" y="3346704"/>
            <a:ext cx="4782312" cy="164592"/>
          </a:xfrm>
          <a:prstGeom prst="rect">
            <a:avLst/>
          </a:prstGeom>
          <a:noFill/>
          <a:ln/>
        </p:spPr>
        <p:txBody>
          <a:bodyPr wrap="square" lIns="0" tIns="0" rIns="0" bIns="0" rtlCol="0" anchor="ctr">
            <a:normAutofit/>
          </a:bodyPr>
          <a:lstStyle/>
          <a:p>
            <a:pPr algn="l" indent="0" marL="0">
              <a:buNone/>
            </a:pPr>
            <a:r>
              <a:rPr lang="en-US" sz="900" b="1" dirty="0">
                <a:solidFill>
                  <a:srgbClr val="D36B56"/>
                </a:solidFill>
                <a:latin typeface="Aptos" pitchFamily="34" charset="0"/>
                <a:ea typeface="Aptos" pitchFamily="34" charset="-122"/>
                <a:cs typeface="Aptos" pitchFamily="34" charset="-120"/>
              </a:rPr>
              <a:t>03</a:t>
            </a:r>
            <a:endParaRPr lang="en-US" sz="900" dirty="0"/>
          </a:p>
        </p:txBody>
      </p:sp>
      <p:sp>
        <p:nvSpPr>
          <p:cNvPr id="17" name="Text 15"/>
          <p:cNvSpPr txBox="1"/>
          <p:nvPr/>
        </p:nvSpPr>
        <p:spPr>
          <a:xfrm>
            <a:off x="950976" y="3566160"/>
            <a:ext cx="4782312" cy="868680"/>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Structured output</a:t>
            </a:r>
            <a:endParaRPr lang="en-US" sz="1500" dirty="0"/>
          </a:p>
        </p:txBody>
      </p:sp>
      <p:sp>
        <p:nvSpPr>
          <p:cNvPr id="18" name="Text 16"/>
          <p:cNvSpPr txBox="1"/>
          <p:nvPr/>
        </p:nvSpPr>
        <p:spPr>
          <a:xfrm>
            <a:off x="950976" y="3959352"/>
            <a:ext cx="4782312" cy="356616"/>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3736D"/>
                </a:solidFill>
                <a:latin typeface="Aptos" pitchFamily="34" charset="0"/>
                <a:ea typeface="Aptos" pitchFamily="34" charset="-122"/>
                <a:cs typeface="Aptos" pitchFamily="34" charset="-120"/>
              </a:rPr>
              <a:t>Malformed JSON or invalid severity is rejected.</a:t>
            </a:r>
            <a:endParaRPr lang="en-US" sz="1100" dirty="0"/>
          </a:p>
        </p:txBody>
      </p:sp>
      <p:sp>
        <p:nvSpPr>
          <p:cNvPr id="19" name="Shape 17"/>
          <p:cNvSpPr/>
          <p:nvPr/>
        </p:nvSpPr>
        <p:spPr>
          <a:xfrm>
            <a:off x="6336792" y="3255264"/>
            <a:ext cx="5074920" cy="1161288"/>
          </a:xfrm>
          <a:prstGeom prst="roundRect">
            <a:avLst>
              <a:gd name="adj" fmla="val 6299"/>
            </a:avLst>
          </a:prstGeom>
          <a:solidFill>
            <a:srgbClr val="FFFFFF"/>
          </a:solidFill>
          <a:ln w="12700">
            <a:solidFill>
              <a:srgbClr val="D4DDD6"/>
            </a:solidFill>
            <a:prstDash val="solid"/>
          </a:ln>
        </p:spPr>
      </p:sp>
      <p:sp>
        <p:nvSpPr>
          <p:cNvPr id="20" name="Text 18"/>
          <p:cNvSpPr txBox="1"/>
          <p:nvPr/>
        </p:nvSpPr>
        <p:spPr>
          <a:xfrm>
            <a:off x="6483096" y="3346704"/>
            <a:ext cx="4782312" cy="164592"/>
          </a:xfrm>
          <a:prstGeom prst="rect">
            <a:avLst/>
          </a:prstGeom>
          <a:noFill/>
          <a:ln/>
        </p:spPr>
        <p:txBody>
          <a:bodyPr wrap="square" lIns="0" tIns="0" rIns="0" bIns="0" rtlCol="0" anchor="ctr">
            <a:normAutofit/>
          </a:bodyPr>
          <a:lstStyle/>
          <a:p>
            <a:pPr algn="l" indent="0" marL="0">
              <a:buNone/>
            </a:pPr>
            <a:r>
              <a:rPr lang="en-US" sz="900" b="1" dirty="0">
                <a:solidFill>
                  <a:srgbClr val="E4AE45"/>
                </a:solidFill>
                <a:latin typeface="Aptos" pitchFamily="34" charset="0"/>
                <a:ea typeface="Aptos" pitchFamily="34" charset="-122"/>
                <a:cs typeface="Aptos" pitchFamily="34" charset="-120"/>
              </a:rPr>
              <a:t>04</a:t>
            </a:r>
            <a:endParaRPr lang="en-US" sz="900" dirty="0"/>
          </a:p>
        </p:txBody>
      </p:sp>
      <p:sp>
        <p:nvSpPr>
          <p:cNvPr id="21" name="Text 19"/>
          <p:cNvSpPr txBox="1"/>
          <p:nvPr/>
        </p:nvSpPr>
        <p:spPr>
          <a:xfrm>
            <a:off x="6483096" y="3566160"/>
            <a:ext cx="4782312" cy="868680"/>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GitHub feedback</a:t>
            </a:r>
            <a:endParaRPr lang="en-US" sz="1500" dirty="0"/>
          </a:p>
        </p:txBody>
      </p:sp>
      <p:sp>
        <p:nvSpPr>
          <p:cNvPr id="22" name="Text 20"/>
          <p:cNvSpPr txBox="1"/>
          <p:nvPr/>
        </p:nvSpPr>
        <p:spPr>
          <a:xfrm>
            <a:off x="6483096" y="3959352"/>
            <a:ext cx="4782312" cy="356616"/>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3736D"/>
                </a:solidFill>
                <a:latin typeface="Aptos" pitchFamily="34" charset="0"/>
                <a:ea typeface="Aptos" pitchFamily="34" charset="-122"/>
                <a:cs typeface="Aptos" pitchFamily="34" charset="-120"/>
              </a:rPr>
              <a:t>One advisory Markdown review is posted to the PR.</a:t>
            </a:r>
            <a:endParaRPr lang="en-US" sz="1100" dirty="0"/>
          </a:p>
        </p:txBody>
      </p:sp>
      <p:sp>
        <p:nvSpPr>
          <p:cNvPr id="23" name="Shape 21"/>
          <p:cNvSpPr/>
          <p:nvPr/>
        </p:nvSpPr>
        <p:spPr>
          <a:xfrm>
            <a:off x="822960" y="5175504"/>
            <a:ext cx="10561320" cy="694944"/>
          </a:xfrm>
          <a:prstGeom prst="roundRect">
            <a:avLst/>
          </a:prstGeom>
          <a:solidFill>
            <a:srgbClr val="E6EEE8"/>
          </a:solidFill>
          <a:ln w="12700">
            <a:solidFill>
              <a:srgbClr val="E6EEE8">
                <a:alpha val="0"/>
              </a:srgbClr>
            </a:solidFill>
            <a:prstDash val="solid"/>
          </a:ln>
        </p:spPr>
      </p:sp>
      <p:sp>
        <p:nvSpPr>
          <p:cNvPr id="24" name="Text 22"/>
          <p:cNvSpPr txBox="1"/>
          <p:nvPr/>
        </p:nvSpPr>
        <p:spPr>
          <a:xfrm>
            <a:off x="1051560" y="5394960"/>
            <a:ext cx="10058400" cy="228600"/>
          </a:xfrm>
          <a:prstGeom prst="rect">
            <a:avLst/>
          </a:prstGeom>
          <a:noFill/>
          <a:ln/>
        </p:spPr>
        <p:txBody>
          <a:bodyPr wrap="square" lIns="0" tIns="0" rIns="0" bIns="0" rtlCol="0" anchor="ctr">
            <a:normAutofit/>
          </a:bodyPr>
          <a:lstStyle/>
          <a:p>
            <a:pPr algn="ctr" indent="0" marL="0">
              <a:buNone/>
            </a:pPr>
            <a:r>
              <a:rPr lang="en-US" sz="1100" b="1" dirty="0">
                <a:solidFill>
                  <a:srgbClr val="183D35"/>
                </a:solidFill>
                <a:latin typeface="Aptos" pitchFamily="34" charset="0"/>
                <a:ea typeface="Aptos" pitchFamily="34" charset="-122"/>
                <a:cs typeface="Aptos" pitchFamily="34" charset="-120"/>
              </a:rPr>
              <a:t>Unit-tested: filtering  ·  truncation  ·  policy loading  ·  JSON errors  ·  schema rules  ·  rendering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66928" y="246888"/>
            <a:ext cx="585216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8715F"/>
                </a:solidFill>
                <a:latin typeface="Aptos" pitchFamily="34" charset="0"/>
                <a:ea typeface="Aptos" pitchFamily="34" charset="-122"/>
                <a:cs typeface="Aptos" pitchFamily="34" charset="-120"/>
              </a:rPr>
              <a:t>DEMO MATRIX  /  EVIDENCE BOUNDARY</a:t>
            </a:r>
            <a:endParaRPr lang="en-US" sz="900" dirty="0"/>
          </a:p>
        </p:txBody>
      </p:sp>
      <p:sp>
        <p:nvSpPr>
          <p:cNvPr id="3" name="Text 1"/>
          <p:cNvSpPr txBox="1"/>
          <p:nvPr/>
        </p:nvSpPr>
        <p:spPr>
          <a:xfrm>
            <a:off x="566928" y="55778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42421"/>
                </a:solidFill>
                <a:latin typeface="Aptos Display" pitchFamily="34" charset="0"/>
                <a:ea typeface="Aptos Display" pitchFamily="34" charset="-122"/>
                <a:cs typeface="Aptos Display" pitchFamily="34" charset="-120"/>
              </a:rPr>
              <a:t>Multi-Language Validation</a:t>
            </a:r>
            <a:endParaRPr lang="en-US" sz="2700" dirty="0"/>
          </a:p>
        </p:txBody>
      </p:sp>
      <p:sp>
        <p:nvSpPr>
          <p:cNvPr id="4" name="Shape 2"/>
          <p:cNvSpPr/>
          <p:nvPr/>
        </p:nvSpPr>
        <p:spPr>
          <a:xfrm>
            <a:off x="566928" y="1197864"/>
            <a:ext cx="11045952" cy="10973"/>
          </a:xfrm>
          <a:prstGeom prst="line">
            <a:avLst/>
          </a:prstGeom>
          <a:solidFill>
            <a:srgbClr val="D4DDD6"/>
          </a:solidFill>
          <a:ln w="12700">
            <a:solidFill>
              <a:srgbClr val="D4DDD6">
                <a:alpha val="0"/>
              </a:srgbClr>
            </a:solidFill>
            <a:prstDash val="solid"/>
          </a:ln>
        </p:spPr>
      </p:sp>
      <p:sp>
        <p:nvSpPr>
          <p:cNvPr id="5" name="Text 3"/>
          <p:cNvSpPr txBox="1"/>
          <p:nvPr/>
        </p:nvSpPr>
        <p:spPr>
          <a:xfrm>
            <a:off x="566928" y="6537960"/>
            <a:ext cx="7315200" cy="146304"/>
          </a:xfrm>
          <a:prstGeom prst="rect">
            <a:avLst/>
          </a:prstGeom>
          <a:noFill/>
          <a:ln/>
        </p:spPr>
        <p:txBody>
          <a:bodyPr wrap="square" lIns="0" tIns="0" rIns="0" bIns="0" rtlCol="0" anchor="ctr">
            <a:normAutofit/>
          </a:bodyPr>
          <a:lstStyle/>
          <a:p>
            <a:pPr algn="l" indent="0" marL="0">
              <a:buNone/>
            </a:pPr>
            <a:r>
              <a:rPr lang="en-US" sz="800" spc="40" kern="0" dirty="0">
                <a:solidFill>
                  <a:srgbClr val="63736D"/>
                </a:solidFill>
                <a:latin typeface="Aptos" pitchFamily="34" charset="0"/>
                <a:ea typeface="Aptos" pitchFamily="34" charset="-122"/>
                <a:cs typeface="Aptos" pitchFamily="34" charset="-120"/>
              </a:rPr>
              <a:t>AI CODE REVIEW AGENT  /  MENTOR DEMO</a:t>
            </a:r>
            <a:endParaRPr lang="en-US" sz="800" dirty="0"/>
          </a:p>
        </p:txBody>
      </p:sp>
      <p:sp>
        <p:nvSpPr>
          <p:cNvPr id="6" name="Text 4"/>
          <p:cNvSpPr txBox="1"/>
          <p:nvPr/>
        </p:nvSpPr>
        <p:spPr>
          <a:xfrm>
            <a:off x="11018520" y="6510528"/>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28715F"/>
                </a:solidFill>
                <a:latin typeface="Aptos" pitchFamily="34" charset="0"/>
                <a:ea typeface="Aptos" pitchFamily="34" charset="-122"/>
                <a:cs typeface="Aptos" pitchFamily="34" charset="-120"/>
              </a:rPr>
              <a:t>10</a:t>
            </a:r>
            <a:endParaRPr lang="en-US" sz="900" dirty="0"/>
          </a:p>
        </p:txBody>
      </p:sp>
      <p:sp>
        <p:nvSpPr>
          <p:cNvPr id="7" name="Shape 5"/>
          <p:cNvSpPr/>
          <p:nvPr/>
        </p:nvSpPr>
        <p:spPr>
          <a:xfrm>
            <a:off x="777240" y="1773936"/>
            <a:ext cx="3429000" cy="2331720"/>
          </a:xfrm>
          <a:prstGeom prst="roundRect">
            <a:avLst/>
          </a:prstGeom>
          <a:solidFill>
            <a:srgbClr val="FFFFFF"/>
          </a:solidFill>
          <a:ln w="12700">
            <a:solidFill>
              <a:srgbClr val="D4DDD6"/>
            </a:solidFill>
            <a:prstDash val="solid"/>
          </a:ln>
        </p:spPr>
      </p:sp>
      <p:sp>
        <p:nvSpPr>
          <p:cNvPr id="8" name="Shape 6"/>
          <p:cNvSpPr/>
          <p:nvPr/>
        </p:nvSpPr>
        <p:spPr>
          <a:xfrm>
            <a:off x="777240" y="1773936"/>
            <a:ext cx="3429000" cy="73152"/>
          </a:xfrm>
          <a:prstGeom prst="rect">
            <a:avLst/>
          </a:prstGeom>
          <a:solidFill>
            <a:srgbClr val="28715F"/>
          </a:solidFill>
          <a:ln w="12700">
            <a:solidFill>
              <a:srgbClr val="28715F">
                <a:alpha val="0"/>
              </a:srgbClr>
            </a:solidFill>
            <a:prstDash val="solid"/>
          </a:ln>
        </p:spPr>
      </p:sp>
      <p:sp>
        <p:nvSpPr>
          <p:cNvPr id="9" name="Text 7"/>
          <p:cNvSpPr txBox="1"/>
          <p:nvPr/>
        </p:nvSpPr>
        <p:spPr>
          <a:xfrm>
            <a:off x="1005840" y="2075688"/>
            <a:ext cx="2926080" cy="384048"/>
          </a:xfrm>
          <a:prstGeom prst="rect">
            <a:avLst/>
          </a:prstGeom>
          <a:noFill/>
          <a:ln/>
        </p:spPr>
        <p:txBody>
          <a:bodyPr wrap="square" lIns="0" tIns="0" rIns="0" bIns="0" rtlCol="0" anchor="ctr">
            <a:normAutofit/>
          </a:bodyPr>
          <a:lstStyle/>
          <a:p>
            <a:pPr algn="l" indent="0" marL="0">
              <a:buNone/>
            </a:pPr>
            <a:r>
              <a:rPr lang="en-US" sz="2100" b="1" dirty="0">
                <a:solidFill>
                  <a:srgbClr val="142421"/>
                </a:solidFill>
                <a:latin typeface="Aptos Display" pitchFamily="34" charset="0"/>
                <a:ea typeface="Aptos Display" pitchFamily="34" charset="-122"/>
                <a:cs typeface="Aptos Display" pitchFamily="34" charset="-120"/>
              </a:rPr>
              <a:t>Python</a:t>
            </a:r>
            <a:endParaRPr lang="en-US" sz="2100" dirty="0"/>
          </a:p>
        </p:txBody>
      </p:sp>
      <p:sp>
        <p:nvSpPr>
          <p:cNvPr id="10" name="Text 8"/>
          <p:cNvSpPr txBox="1"/>
          <p:nvPr/>
        </p:nvSpPr>
        <p:spPr>
          <a:xfrm>
            <a:off x="1005840" y="2670048"/>
            <a:ext cx="2926080" cy="484632"/>
          </a:xfrm>
          <a:prstGeom prst="rect">
            <a:avLst/>
          </a:prstGeom>
          <a:noFill/>
          <a:ln/>
        </p:spPr>
        <p:txBody>
          <a:bodyPr wrap="square" lIns="0" tIns="0" rIns="0" bIns="0" rtlCol="0" anchor="t">
            <a:normAutofit/>
          </a:bodyPr>
          <a:lstStyle/>
          <a:p>
            <a:pPr algn="l" indent="0" marL="0">
              <a:buNone/>
            </a:pPr>
            <a:r>
              <a:rPr lang="en-US" sz="1200" dirty="0">
                <a:solidFill>
                  <a:srgbClr val="183D35"/>
                </a:solidFill>
                <a:latin typeface="Aptos" pitchFamily="34" charset="0"/>
                <a:ea typeface="Aptos" pitchFamily="34" charset="-122"/>
                <a:cs typeface="Aptos" pitchFamily="34" charset="-120"/>
              </a:rPr>
              <a:t>Unit-level diff examples exist</a:t>
            </a:r>
            <a:endParaRPr lang="en-US" sz="1200" dirty="0"/>
          </a:p>
        </p:txBody>
      </p:sp>
      <p:sp>
        <p:nvSpPr>
          <p:cNvPr id="11" name="Text 9"/>
          <p:cNvSpPr txBox="1"/>
          <p:nvPr/>
        </p:nvSpPr>
        <p:spPr>
          <a:xfrm>
            <a:off x="1005840" y="3410712"/>
            <a:ext cx="2926080" cy="411480"/>
          </a:xfrm>
          <a:prstGeom prst="rect">
            <a:avLst/>
          </a:prstGeom>
          <a:noFill/>
          <a:ln/>
        </p:spPr>
        <p:txBody>
          <a:bodyPr wrap="square" lIns="0" tIns="0" rIns="0" bIns="0" rtlCol="0" anchor="t">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No recorded live PR validation</a:t>
            </a:r>
            <a:endParaRPr lang="en-US" sz="1100" dirty="0"/>
          </a:p>
        </p:txBody>
      </p:sp>
      <p:sp>
        <p:nvSpPr>
          <p:cNvPr id="12" name="Shape 10"/>
          <p:cNvSpPr/>
          <p:nvPr/>
        </p:nvSpPr>
        <p:spPr>
          <a:xfrm>
            <a:off x="4599432" y="1773936"/>
            <a:ext cx="3429000" cy="2331720"/>
          </a:xfrm>
          <a:prstGeom prst="roundRect">
            <a:avLst/>
          </a:prstGeom>
          <a:solidFill>
            <a:srgbClr val="FFFFFF"/>
          </a:solidFill>
          <a:ln w="12700">
            <a:solidFill>
              <a:srgbClr val="D4DDD6"/>
            </a:solidFill>
            <a:prstDash val="solid"/>
          </a:ln>
        </p:spPr>
      </p:sp>
      <p:sp>
        <p:nvSpPr>
          <p:cNvPr id="13" name="Shape 11"/>
          <p:cNvSpPr/>
          <p:nvPr/>
        </p:nvSpPr>
        <p:spPr>
          <a:xfrm>
            <a:off x="4599432" y="1773936"/>
            <a:ext cx="3429000" cy="73152"/>
          </a:xfrm>
          <a:prstGeom prst="rect">
            <a:avLst/>
          </a:prstGeom>
          <a:solidFill>
            <a:srgbClr val="54809A"/>
          </a:solidFill>
          <a:ln w="12700">
            <a:solidFill>
              <a:srgbClr val="54809A">
                <a:alpha val="0"/>
              </a:srgbClr>
            </a:solidFill>
            <a:prstDash val="solid"/>
          </a:ln>
        </p:spPr>
      </p:sp>
      <p:sp>
        <p:nvSpPr>
          <p:cNvPr id="14" name="Text 12"/>
          <p:cNvSpPr txBox="1"/>
          <p:nvPr/>
        </p:nvSpPr>
        <p:spPr>
          <a:xfrm>
            <a:off x="4828032" y="2075688"/>
            <a:ext cx="2926080" cy="384048"/>
          </a:xfrm>
          <a:prstGeom prst="rect">
            <a:avLst/>
          </a:prstGeom>
          <a:noFill/>
          <a:ln/>
        </p:spPr>
        <p:txBody>
          <a:bodyPr wrap="square" lIns="0" tIns="0" rIns="0" bIns="0" rtlCol="0" anchor="ctr">
            <a:normAutofit/>
          </a:bodyPr>
          <a:lstStyle/>
          <a:p>
            <a:pPr algn="l" indent="0" marL="0">
              <a:buNone/>
            </a:pPr>
            <a:r>
              <a:rPr lang="en-US" sz="2100" b="1" dirty="0">
                <a:solidFill>
                  <a:srgbClr val="142421"/>
                </a:solidFill>
                <a:latin typeface="Aptos Display" pitchFamily="34" charset="0"/>
                <a:ea typeface="Aptos Display" pitchFamily="34" charset="-122"/>
                <a:cs typeface="Aptos Display" pitchFamily="34" charset="-120"/>
              </a:rPr>
              <a:t>JavaScript</a:t>
            </a:r>
            <a:endParaRPr lang="en-US" sz="2100" dirty="0"/>
          </a:p>
        </p:txBody>
      </p:sp>
      <p:sp>
        <p:nvSpPr>
          <p:cNvPr id="15" name="Text 13"/>
          <p:cNvSpPr txBox="1"/>
          <p:nvPr/>
        </p:nvSpPr>
        <p:spPr>
          <a:xfrm>
            <a:off x="4828032" y="2670048"/>
            <a:ext cx="2926080" cy="484632"/>
          </a:xfrm>
          <a:prstGeom prst="rect">
            <a:avLst/>
          </a:prstGeom>
          <a:noFill/>
          <a:ln/>
        </p:spPr>
        <p:txBody>
          <a:bodyPr wrap="square" lIns="0" tIns="0" rIns="0" bIns="0" rtlCol="0" anchor="t">
            <a:normAutofit/>
          </a:bodyPr>
          <a:lstStyle/>
          <a:p>
            <a:pPr algn="l" indent="0" marL="0">
              <a:buNone/>
            </a:pPr>
            <a:r>
              <a:rPr lang="en-US" sz="1200" dirty="0">
                <a:solidFill>
                  <a:srgbClr val="183D35"/>
                </a:solidFill>
                <a:latin typeface="Aptos" pitchFamily="34" charset="0"/>
                <a:ea typeface="Aptos" pitchFamily="34" charset="-122"/>
                <a:cs typeface="Aptos" pitchFamily="34" charset="-120"/>
              </a:rPr>
              <a:t>Text diff can enter shared review path</a:t>
            </a:r>
            <a:endParaRPr lang="en-US" sz="1200" dirty="0"/>
          </a:p>
        </p:txBody>
      </p:sp>
      <p:sp>
        <p:nvSpPr>
          <p:cNvPr id="16" name="Text 14"/>
          <p:cNvSpPr txBox="1"/>
          <p:nvPr/>
        </p:nvSpPr>
        <p:spPr>
          <a:xfrm>
            <a:off x="4828032" y="3410712"/>
            <a:ext cx="2926080" cy="411480"/>
          </a:xfrm>
          <a:prstGeom prst="rect">
            <a:avLst/>
          </a:prstGeom>
          <a:noFill/>
          <a:ln/>
        </p:spPr>
        <p:txBody>
          <a:bodyPr wrap="square" lIns="0" tIns="0" rIns="0" bIns="0" rtlCol="0" anchor="t">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No language-specific test evidence</a:t>
            </a:r>
            <a:endParaRPr lang="en-US" sz="1100" dirty="0"/>
          </a:p>
        </p:txBody>
      </p:sp>
      <p:sp>
        <p:nvSpPr>
          <p:cNvPr id="17" name="Shape 15"/>
          <p:cNvSpPr/>
          <p:nvPr/>
        </p:nvSpPr>
        <p:spPr>
          <a:xfrm>
            <a:off x="8421624" y="1773936"/>
            <a:ext cx="3429000" cy="2331720"/>
          </a:xfrm>
          <a:prstGeom prst="roundRect">
            <a:avLst/>
          </a:prstGeom>
          <a:solidFill>
            <a:srgbClr val="FFFFFF"/>
          </a:solidFill>
          <a:ln w="12700">
            <a:solidFill>
              <a:srgbClr val="D4DDD6"/>
            </a:solidFill>
            <a:prstDash val="solid"/>
          </a:ln>
        </p:spPr>
      </p:sp>
      <p:sp>
        <p:nvSpPr>
          <p:cNvPr id="18" name="Shape 16"/>
          <p:cNvSpPr/>
          <p:nvPr/>
        </p:nvSpPr>
        <p:spPr>
          <a:xfrm>
            <a:off x="8421624" y="1773936"/>
            <a:ext cx="3429000" cy="73152"/>
          </a:xfrm>
          <a:prstGeom prst="rect">
            <a:avLst/>
          </a:prstGeom>
          <a:solidFill>
            <a:srgbClr val="D36B56"/>
          </a:solidFill>
          <a:ln w="12700">
            <a:solidFill>
              <a:srgbClr val="D36B56">
                <a:alpha val="0"/>
              </a:srgbClr>
            </a:solidFill>
            <a:prstDash val="solid"/>
          </a:ln>
        </p:spPr>
      </p:sp>
      <p:sp>
        <p:nvSpPr>
          <p:cNvPr id="19" name="Text 17"/>
          <p:cNvSpPr txBox="1"/>
          <p:nvPr/>
        </p:nvSpPr>
        <p:spPr>
          <a:xfrm>
            <a:off x="8650224" y="2075688"/>
            <a:ext cx="2926080" cy="384048"/>
          </a:xfrm>
          <a:prstGeom prst="rect">
            <a:avLst/>
          </a:prstGeom>
          <a:noFill/>
          <a:ln/>
        </p:spPr>
        <p:txBody>
          <a:bodyPr wrap="square" lIns="0" tIns="0" rIns="0" bIns="0" rtlCol="0" anchor="ctr">
            <a:normAutofit/>
          </a:bodyPr>
          <a:lstStyle/>
          <a:p>
            <a:pPr algn="l" indent="0" marL="0">
              <a:buNone/>
            </a:pPr>
            <a:r>
              <a:rPr lang="en-US" sz="2100" b="1" dirty="0">
                <a:solidFill>
                  <a:srgbClr val="142421"/>
                </a:solidFill>
                <a:latin typeface="Aptos Display" pitchFamily="34" charset="0"/>
                <a:ea typeface="Aptos Display" pitchFamily="34" charset="-122"/>
                <a:cs typeface="Aptos Display" pitchFamily="34" charset="-120"/>
              </a:rPr>
              <a:t>Java</a:t>
            </a:r>
            <a:endParaRPr lang="en-US" sz="2100" dirty="0"/>
          </a:p>
        </p:txBody>
      </p:sp>
      <p:sp>
        <p:nvSpPr>
          <p:cNvPr id="20" name="Text 18"/>
          <p:cNvSpPr txBox="1"/>
          <p:nvPr/>
        </p:nvSpPr>
        <p:spPr>
          <a:xfrm>
            <a:off x="8650224" y="2670048"/>
            <a:ext cx="2926080" cy="484632"/>
          </a:xfrm>
          <a:prstGeom prst="rect">
            <a:avLst/>
          </a:prstGeom>
          <a:noFill/>
          <a:ln/>
        </p:spPr>
        <p:txBody>
          <a:bodyPr wrap="square" lIns="0" tIns="0" rIns="0" bIns="0" rtlCol="0" anchor="t">
            <a:normAutofit/>
          </a:bodyPr>
          <a:lstStyle/>
          <a:p>
            <a:pPr algn="l" indent="0" marL="0">
              <a:buNone/>
            </a:pPr>
            <a:r>
              <a:rPr lang="en-US" sz="1200" dirty="0">
                <a:solidFill>
                  <a:srgbClr val="183D35"/>
                </a:solidFill>
                <a:latin typeface="Aptos" pitchFamily="34" charset="0"/>
                <a:ea typeface="Aptos" pitchFamily="34" charset="-122"/>
                <a:cs typeface="Aptos" pitchFamily="34" charset="-120"/>
              </a:rPr>
              <a:t>Text diff can enter shared review path</a:t>
            </a:r>
            <a:endParaRPr lang="en-US" sz="1200" dirty="0"/>
          </a:p>
        </p:txBody>
      </p:sp>
      <p:sp>
        <p:nvSpPr>
          <p:cNvPr id="21" name="Text 19"/>
          <p:cNvSpPr txBox="1"/>
          <p:nvPr/>
        </p:nvSpPr>
        <p:spPr>
          <a:xfrm>
            <a:off x="8650224" y="3410712"/>
            <a:ext cx="2926080" cy="411480"/>
          </a:xfrm>
          <a:prstGeom prst="rect">
            <a:avLst/>
          </a:prstGeom>
          <a:noFill/>
          <a:ln/>
        </p:spPr>
        <p:txBody>
          <a:bodyPr wrap="square" lIns="0" tIns="0" rIns="0" bIns="0" rtlCol="0" anchor="t">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No language-specific test evidence</a:t>
            </a:r>
            <a:endParaRPr lang="en-US" sz="1100" dirty="0"/>
          </a:p>
        </p:txBody>
      </p:sp>
      <p:sp>
        <p:nvSpPr>
          <p:cNvPr id="22" name="Shape 20"/>
          <p:cNvSpPr/>
          <p:nvPr/>
        </p:nvSpPr>
        <p:spPr>
          <a:xfrm>
            <a:off x="813816" y="4590288"/>
            <a:ext cx="10561320" cy="758952"/>
          </a:xfrm>
          <a:prstGeom prst="roundRect">
            <a:avLst/>
          </a:prstGeom>
          <a:solidFill>
            <a:srgbClr val="142421"/>
          </a:solidFill>
          <a:ln w="12700">
            <a:solidFill>
              <a:srgbClr val="142421">
                <a:alpha val="0"/>
              </a:srgbClr>
            </a:solidFill>
            <a:prstDash val="solid"/>
          </a:ln>
        </p:spPr>
      </p:sp>
      <p:sp>
        <p:nvSpPr>
          <p:cNvPr id="23" name="Text 21"/>
          <p:cNvSpPr txBox="1"/>
          <p:nvPr/>
        </p:nvSpPr>
        <p:spPr>
          <a:xfrm>
            <a:off x="1042416" y="4837176"/>
            <a:ext cx="10058400" cy="25603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Shared text-diff model path  ≠  language-specific parser, compiler, linter, or test suite</a:t>
            </a:r>
            <a:endParaRPr lang="en-US" sz="1300" dirty="0"/>
          </a:p>
        </p:txBody>
      </p:sp>
      <p:sp>
        <p:nvSpPr>
          <p:cNvPr id="24" name="Text 22"/>
          <p:cNvSpPr txBox="1"/>
          <p:nvPr/>
        </p:nvSpPr>
        <p:spPr>
          <a:xfrm>
            <a:off x="822960" y="5614416"/>
            <a:ext cx="10058400" cy="228600"/>
          </a:xfrm>
          <a:prstGeom prst="rect">
            <a:avLst/>
          </a:prstGeom>
          <a:noFill/>
          <a:ln/>
        </p:spPr>
        <p:txBody>
          <a:bodyPr wrap="square" lIns="0" tIns="0" rIns="0" bIns="0" rtlCol="0" anchor="ctr">
            <a:normAutofit/>
          </a:bodyPr>
          <a:lstStyle/>
          <a:p>
            <a:pPr algn="l" indent="0" marL="0">
              <a:buNone/>
            </a:pPr>
            <a:r>
              <a:rPr lang="en-US" sz="1000" i="1" dirty="0">
                <a:solidFill>
                  <a:srgbClr val="63736D"/>
                </a:solidFill>
                <a:latin typeface="Aptos" pitchFamily="34" charset="0"/>
                <a:ea typeface="Aptos" pitchFamily="34" charset="-122"/>
                <a:cs typeface="Aptos" pitchFamily="34" charset="-120"/>
              </a:rPr>
              <a:t>Use these three languages as a proposed controlled demo matrix, not a completed P1 test claim.</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66928" y="246888"/>
            <a:ext cx="585216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8715F"/>
                </a:solidFill>
                <a:latin typeface="Aptos" pitchFamily="34" charset="0"/>
                <a:ea typeface="Aptos" pitchFamily="34" charset="-122"/>
                <a:cs typeface="Aptos" pitchFamily="34" charset="-120"/>
              </a:rPr>
              <a:t>ILLUSTRATIVE OUTPUT  /  NOT A CAPTURED PR</a:t>
            </a:r>
            <a:endParaRPr lang="en-US" sz="900" dirty="0"/>
          </a:p>
        </p:txBody>
      </p:sp>
      <p:sp>
        <p:nvSpPr>
          <p:cNvPr id="3" name="Text 1"/>
          <p:cNvSpPr txBox="1"/>
          <p:nvPr/>
        </p:nvSpPr>
        <p:spPr>
          <a:xfrm>
            <a:off x="566928" y="55778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42421"/>
                </a:solidFill>
                <a:latin typeface="Aptos Display" pitchFamily="34" charset="0"/>
                <a:ea typeface="Aptos Display" pitchFamily="34" charset="-122"/>
                <a:cs typeface="Aptos Display" pitchFamily="34" charset="-120"/>
              </a:rPr>
              <a:t>Sample Review Findings</a:t>
            </a:r>
            <a:endParaRPr lang="en-US" sz="2700" dirty="0"/>
          </a:p>
        </p:txBody>
      </p:sp>
      <p:sp>
        <p:nvSpPr>
          <p:cNvPr id="4" name="Shape 2"/>
          <p:cNvSpPr/>
          <p:nvPr/>
        </p:nvSpPr>
        <p:spPr>
          <a:xfrm>
            <a:off x="566928" y="1197864"/>
            <a:ext cx="11045952" cy="10973"/>
          </a:xfrm>
          <a:prstGeom prst="line">
            <a:avLst/>
          </a:prstGeom>
          <a:solidFill>
            <a:srgbClr val="D4DDD6"/>
          </a:solidFill>
          <a:ln w="12700">
            <a:solidFill>
              <a:srgbClr val="D4DDD6">
                <a:alpha val="0"/>
              </a:srgbClr>
            </a:solidFill>
            <a:prstDash val="solid"/>
          </a:ln>
        </p:spPr>
      </p:sp>
      <p:sp>
        <p:nvSpPr>
          <p:cNvPr id="5" name="Text 3"/>
          <p:cNvSpPr txBox="1"/>
          <p:nvPr/>
        </p:nvSpPr>
        <p:spPr>
          <a:xfrm>
            <a:off x="566928" y="6537960"/>
            <a:ext cx="7315200" cy="146304"/>
          </a:xfrm>
          <a:prstGeom prst="rect">
            <a:avLst/>
          </a:prstGeom>
          <a:noFill/>
          <a:ln/>
        </p:spPr>
        <p:txBody>
          <a:bodyPr wrap="square" lIns="0" tIns="0" rIns="0" bIns="0" rtlCol="0" anchor="ctr">
            <a:normAutofit/>
          </a:bodyPr>
          <a:lstStyle/>
          <a:p>
            <a:pPr algn="l" indent="0" marL="0">
              <a:buNone/>
            </a:pPr>
            <a:r>
              <a:rPr lang="en-US" sz="800" spc="40" kern="0" dirty="0">
                <a:solidFill>
                  <a:srgbClr val="63736D"/>
                </a:solidFill>
                <a:latin typeface="Aptos" pitchFamily="34" charset="0"/>
                <a:ea typeface="Aptos" pitchFamily="34" charset="-122"/>
                <a:cs typeface="Aptos" pitchFamily="34" charset="-120"/>
              </a:rPr>
              <a:t>AI CODE REVIEW AGENT  /  MENTOR DEMO</a:t>
            </a:r>
            <a:endParaRPr lang="en-US" sz="800" dirty="0"/>
          </a:p>
        </p:txBody>
      </p:sp>
      <p:sp>
        <p:nvSpPr>
          <p:cNvPr id="6" name="Text 4"/>
          <p:cNvSpPr txBox="1"/>
          <p:nvPr/>
        </p:nvSpPr>
        <p:spPr>
          <a:xfrm>
            <a:off x="11018520" y="6510528"/>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28715F"/>
                </a:solidFill>
                <a:latin typeface="Aptos" pitchFamily="34" charset="0"/>
                <a:ea typeface="Aptos" pitchFamily="34" charset="-122"/>
                <a:cs typeface="Aptos" pitchFamily="34" charset="-120"/>
              </a:rPr>
              <a:t>11</a:t>
            </a:r>
            <a:endParaRPr lang="en-US" sz="900" dirty="0"/>
          </a:p>
        </p:txBody>
      </p:sp>
      <p:sp>
        <p:nvSpPr>
          <p:cNvPr id="7" name="Shape 5"/>
          <p:cNvSpPr/>
          <p:nvPr/>
        </p:nvSpPr>
        <p:spPr>
          <a:xfrm>
            <a:off x="804672" y="1636776"/>
            <a:ext cx="5074920" cy="3264408"/>
          </a:xfrm>
          <a:prstGeom prst="roundRect">
            <a:avLst/>
          </a:prstGeom>
          <a:solidFill>
            <a:srgbClr val="FFFFFF"/>
          </a:solidFill>
          <a:ln w="12700">
            <a:solidFill>
              <a:srgbClr val="D4DDD6"/>
            </a:solidFill>
            <a:prstDash val="solid"/>
          </a:ln>
        </p:spPr>
      </p:sp>
      <p:sp>
        <p:nvSpPr>
          <p:cNvPr id="8" name="Shape 6"/>
          <p:cNvSpPr/>
          <p:nvPr/>
        </p:nvSpPr>
        <p:spPr>
          <a:xfrm>
            <a:off x="804672" y="1636776"/>
            <a:ext cx="91440" cy="3264408"/>
          </a:xfrm>
          <a:prstGeom prst="rect">
            <a:avLst/>
          </a:prstGeom>
          <a:solidFill>
            <a:srgbClr val="E4AE45"/>
          </a:solidFill>
          <a:ln w="12700">
            <a:solidFill>
              <a:srgbClr val="E4AE45">
                <a:alpha val="0"/>
              </a:srgbClr>
            </a:solidFill>
            <a:prstDash val="solid"/>
          </a:ln>
        </p:spPr>
      </p:sp>
      <p:sp>
        <p:nvSpPr>
          <p:cNvPr id="9" name="Text 7"/>
          <p:cNvSpPr txBox="1"/>
          <p:nvPr/>
        </p:nvSpPr>
        <p:spPr>
          <a:xfrm>
            <a:off x="1097280" y="1901952"/>
            <a:ext cx="1005840" cy="219456"/>
          </a:xfrm>
          <a:prstGeom prst="rect">
            <a:avLst/>
          </a:prstGeom>
          <a:noFill/>
          <a:ln/>
        </p:spPr>
        <p:txBody>
          <a:bodyPr wrap="square" lIns="0" tIns="0" rIns="0" bIns="0" rtlCol="0" anchor="ctr">
            <a:normAutofit/>
          </a:bodyPr>
          <a:lstStyle/>
          <a:p>
            <a:pPr algn="l" indent="0" marL="0">
              <a:buNone/>
            </a:pPr>
            <a:r>
              <a:rPr lang="en-US" sz="1000" b="1" dirty="0">
                <a:solidFill>
                  <a:srgbClr val="E4AE45"/>
                </a:solidFill>
                <a:latin typeface="Aptos" pitchFamily="34" charset="0"/>
                <a:ea typeface="Aptos" pitchFamily="34" charset="-122"/>
                <a:cs typeface="Aptos" pitchFamily="34" charset="-120"/>
              </a:rPr>
              <a:t>MEDIUM</a:t>
            </a:r>
            <a:endParaRPr lang="en-US" sz="1000" dirty="0"/>
          </a:p>
        </p:txBody>
      </p:sp>
      <p:sp>
        <p:nvSpPr>
          <p:cNvPr id="10" name="Text 8"/>
          <p:cNvSpPr txBox="1"/>
          <p:nvPr/>
        </p:nvSpPr>
        <p:spPr>
          <a:xfrm>
            <a:off x="2176272" y="1874520"/>
            <a:ext cx="3246120" cy="274320"/>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Error handling</a:t>
            </a:r>
            <a:endParaRPr lang="en-US" sz="1300" dirty="0"/>
          </a:p>
        </p:txBody>
      </p:sp>
      <p:sp>
        <p:nvSpPr>
          <p:cNvPr id="11" name="Text 9"/>
          <p:cNvSpPr txBox="1"/>
          <p:nvPr/>
        </p:nvSpPr>
        <p:spPr>
          <a:xfrm>
            <a:off x="1097280" y="2414016"/>
            <a:ext cx="4480560" cy="237744"/>
          </a:xfrm>
          <a:prstGeom prst="rect">
            <a:avLst/>
          </a:prstGeom>
          <a:noFill/>
          <a:ln/>
        </p:spPr>
        <p:txBody>
          <a:bodyPr wrap="square" lIns="0" tIns="0" rIns="0" bIns="0" rtlCol="0" anchor="ctr">
            <a:normAutofit/>
          </a:bodyPr>
          <a:lstStyle/>
          <a:p>
            <a:pPr algn="l" indent="0" marL="0">
              <a:buNone/>
            </a:pPr>
            <a:r>
              <a:rPr lang="en-US" sz="1000" dirty="0">
                <a:solidFill>
                  <a:srgbClr val="63736D"/>
                </a:solidFill>
                <a:latin typeface="Aptos" pitchFamily="34" charset="0"/>
                <a:ea typeface="Aptos" pitchFamily="34" charset="-122"/>
                <a:cs typeface="Aptos" pitchFamily="34" charset="-120"/>
              </a:rPr>
              <a:t>src/client.py  |  Line unknown</a:t>
            </a:r>
            <a:endParaRPr lang="en-US" sz="1000" dirty="0"/>
          </a:p>
        </p:txBody>
      </p:sp>
      <p:sp>
        <p:nvSpPr>
          <p:cNvPr id="12" name="Shape 10"/>
          <p:cNvSpPr/>
          <p:nvPr/>
        </p:nvSpPr>
        <p:spPr>
          <a:xfrm>
            <a:off x="1097280" y="2816352"/>
            <a:ext cx="4462272" cy="13716"/>
          </a:xfrm>
          <a:prstGeom prst="line">
            <a:avLst/>
          </a:prstGeom>
          <a:solidFill>
            <a:srgbClr val="D4DDD6"/>
          </a:solidFill>
          <a:ln w="12700">
            <a:solidFill>
              <a:srgbClr val="D4DDD6">
                <a:alpha val="0"/>
              </a:srgbClr>
            </a:solidFill>
            <a:prstDash val="solid"/>
          </a:ln>
        </p:spPr>
      </p:sp>
      <p:sp>
        <p:nvSpPr>
          <p:cNvPr id="13" name="Text 11"/>
          <p:cNvSpPr txBox="1"/>
          <p:nvPr/>
        </p:nvSpPr>
        <p:spPr>
          <a:xfrm>
            <a:off x="1097280" y="3017520"/>
            <a:ext cx="658368" cy="182880"/>
          </a:xfrm>
          <a:prstGeom prst="rect">
            <a:avLst/>
          </a:prstGeom>
          <a:noFill/>
          <a:ln/>
        </p:spPr>
        <p:txBody>
          <a:bodyPr wrap="square" lIns="0" tIns="0" rIns="0" bIns="0" rtlCol="0" anchor="ctr">
            <a:normAutofit/>
          </a:bodyPr>
          <a:lstStyle/>
          <a:p>
            <a:pPr algn="l" indent="0" marL="0">
              <a:buNone/>
            </a:pPr>
            <a:r>
              <a:rPr lang="en-US" sz="900" b="1" dirty="0">
                <a:solidFill>
                  <a:srgbClr val="28715F"/>
                </a:solidFill>
                <a:latin typeface="Aptos" pitchFamily="34" charset="0"/>
                <a:ea typeface="Aptos" pitchFamily="34" charset="-122"/>
                <a:cs typeface="Aptos" pitchFamily="34" charset="-120"/>
              </a:rPr>
              <a:t>ISSUE</a:t>
            </a:r>
            <a:endParaRPr lang="en-US" sz="900" dirty="0"/>
          </a:p>
        </p:txBody>
      </p:sp>
      <p:sp>
        <p:nvSpPr>
          <p:cNvPr id="14" name="Text 12"/>
          <p:cNvSpPr txBox="1"/>
          <p:nvPr/>
        </p:nvSpPr>
        <p:spPr>
          <a:xfrm>
            <a:off x="1097280" y="3300984"/>
            <a:ext cx="4434840" cy="502920"/>
          </a:xfrm>
          <a:prstGeom prst="rect">
            <a:avLst/>
          </a:prstGeom>
          <a:noFill/>
          <a:ln/>
        </p:spPr>
        <p:txBody>
          <a:bodyPr wrap="square" lIns="0" tIns="0" rIns="0" bIns="0" rtlCol="0" anchor="t">
            <a:normAutofit/>
          </a:bodyPr>
          <a:lstStyle/>
          <a:p>
            <a:pPr algn="l" indent="0" marL="0">
              <a:buNone/>
            </a:pPr>
            <a:r>
              <a:rPr lang="en-US" sz="1300" dirty="0">
                <a:solidFill>
                  <a:srgbClr val="23332F"/>
                </a:solidFill>
                <a:latin typeface="Aptos" pitchFamily="34" charset="0"/>
                <a:ea typeface="Aptos" pitchFamily="34" charset="-122"/>
                <a:cs typeface="Aptos" pitchFamily="34" charset="-120"/>
              </a:rPr>
              <a:t>Handle the request failure case visible in the diff.</a:t>
            </a:r>
            <a:endParaRPr lang="en-US" sz="1300" dirty="0"/>
          </a:p>
        </p:txBody>
      </p:sp>
      <p:sp>
        <p:nvSpPr>
          <p:cNvPr id="15" name="Text 13"/>
          <p:cNvSpPr txBox="1"/>
          <p:nvPr/>
        </p:nvSpPr>
        <p:spPr>
          <a:xfrm>
            <a:off x="1097280" y="4041648"/>
            <a:ext cx="4434840" cy="512064"/>
          </a:xfrm>
          <a:prstGeom prst="rect">
            <a:avLst/>
          </a:prstGeom>
          <a:noFill/>
          <a:ln/>
        </p:spPr>
        <p:txBody>
          <a:bodyPr wrap="square" lIns="0" tIns="0" rIns="0" bIns="0" rtlCol="0" anchor="t">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Recommendation: handle the expected error and retain useful caller context.</a:t>
            </a:r>
            <a:endParaRPr lang="en-US" sz="1100" dirty="0"/>
          </a:p>
        </p:txBody>
      </p:sp>
      <p:sp>
        <p:nvSpPr>
          <p:cNvPr id="16" name="Shape 14"/>
          <p:cNvSpPr/>
          <p:nvPr/>
        </p:nvSpPr>
        <p:spPr>
          <a:xfrm>
            <a:off x="6327648" y="1636776"/>
            <a:ext cx="5074920" cy="3264408"/>
          </a:xfrm>
          <a:prstGeom prst="roundRect">
            <a:avLst/>
          </a:prstGeom>
          <a:solidFill>
            <a:srgbClr val="FFFFFF"/>
          </a:solidFill>
          <a:ln w="12700">
            <a:solidFill>
              <a:srgbClr val="D4DDD6"/>
            </a:solidFill>
            <a:prstDash val="solid"/>
          </a:ln>
        </p:spPr>
      </p:sp>
      <p:sp>
        <p:nvSpPr>
          <p:cNvPr id="17" name="Shape 15"/>
          <p:cNvSpPr/>
          <p:nvPr/>
        </p:nvSpPr>
        <p:spPr>
          <a:xfrm>
            <a:off x="6327648" y="1636776"/>
            <a:ext cx="91440" cy="3264408"/>
          </a:xfrm>
          <a:prstGeom prst="rect">
            <a:avLst/>
          </a:prstGeom>
          <a:solidFill>
            <a:srgbClr val="54809A"/>
          </a:solidFill>
          <a:ln w="12700">
            <a:solidFill>
              <a:srgbClr val="54809A">
                <a:alpha val="0"/>
              </a:srgbClr>
            </a:solidFill>
            <a:prstDash val="solid"/>
          </a:ln>
        </p:spPr>
      </p:sp>
      <p:sp>
        <p:nvSpPr>
          <p:cNvPr id="18" name="Text 16"/>
          <p:cNvSpPr txBox="1"/>
          <p:nvPr/>
        </p:nvSpPr>
        <p:spPr>
          <a:xfrm>
            <a:off x="6620256" y="1901952"/>
            <a:ext cx="1005840" cy="219456"/>
          </a:xfrm>
          <a:prstGeom prst="rect">
            <a:avLst/>
          </a:prstGeom>
          <a:noFill/>
          <a:ln/>
        </p:spPr>
        <p:txBody>
          <a:bodyPr wrap="square" lIns="0" tIns="0" rIns="0" bIns="0" rtlCol="0" anchor="ctr">
            <a:normAutofit/>
          </a:bodyPr>
          <a:lstStyle/>
          <a:p>
            <a:pPr algn="l" indent="0" marL="0">
              <a:buNone/>
            </a:pPr>
            <a:r>
              <a:rPr lang="en-US" sz="1000" b="1" dirty="0">
                <a:solidFill>
                  <a:srgbClr val="54809A"/>
                </a:solidFill>
                <a:latin typeface="Aptos" pitchFamily="34" charset="0"/>
                <a:ea typeface="Aptos" pitchFamily="34" charset="-122"/>
                <a:cs typeface="Aptos" pitchFamily="34" charset="-120"/>
              </a:rPr>
              <a:t>LOW</a:t>
            </a:r>
            <a:endParaRPr lang="en-US" sz="1000" dirty="0"/>
          </a:p>
        </p:txBody>
      </p:sp>
      <p:sp>
        <p:nvSpPr>
          <p:cNvPr id="19" name="Text 17"/>
          <p:cNvSpPr txBox="1"/>
          <p:nvPr/>
        </p:nvSpPr>
        <p:spPr>
          <a:xfrm>
            <a:off x="7699248" y="1874520"/>
            <a:ext cx="3246120" cy="274320"/>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Testing</a:t>
            </a:r>
            <a:endParaRPr lang="en-US" sz="1300" dirty="0"/>
          </a:p>
        </p:txBody>
      </p:sp>
      <p:sp>
        <p:nvSpPr>
          <p:cNvPr id="20" name="Text 18"/>
          <p:cNvSpPr txBox="1"/>
          <p:nvPr/>
        </p:nvSpPr>
        <p:spPr>
          <a:xfrm>
            <a:off x="6620256" y="2414016"/>
            <a:ext cx="4480560" cy="237744"/>
          </a:xfrm>
          <a:prstGeom prst="rect">
            <a:avLst/>
          </a:prstGeom>
          <a:noFill/>
          <a:ln/>
        </p:spPr>
        <p:txBody>
          <a:bodyPr wrap="square" lIns="0" tIns="0" rIns="0" bIns="0" rtlCol="0" anchor="ctr">
            <a:normAutofit/>
          </a:bodyPr>
          <a:lstStyle/>
          <a:p>
            <a:pPr algn="l" indent="0" marL="0">
              <a:buNone/>
            </a:pPr>
            <a:r>
              <a:rPr lang="en-US" sz="1000" dirty="0">
                <a:solidFill>
                  <a:srgbClr val="63736D"/>
                </a:solidFill>
                <a:latin typeface="Aptos" pitchFamily="34" charset="0"/>
                <a:ea typeface="Aptos" pitchFamily="34" charset="-122"/>
                <a:cs typeface="Aptos" pitchFamily="34" charset="-120"/>
              </a:rPr>
              <a:t>src/validator.js  |  Line unknown</a:t>
            </a:r>
            <a:endParaRPr lang="en-US" sz="1000" dirty="0"/>
          </a:p>
        </p:txBody>
      </p:sp>
      <p:sp>
        <p:nvSpPr>
          <p:cNvPr id="21" name="Shape 19"/>
          <p:cNvSpPr/>
          <p:nvPr/>
        </p:nvSpPr>
        <p:spPr>
          <a:xfrm>
            <a:off x="6620256" y="2816352"/>
            <a:ext cx="4462272" cy="13716"/>
          </a:xfrm>
          <a:prstGeom prst="line">
            <a:avLst/>
          </a:prstGeom>
          <a:solidFill>
            <a:srgbClr val="D4DDD6"/>
          </a:solidFill>
          <a:ln w="12700">
            <a:solidFill>
              <a:srgbClr val="D4DDD6">
                <a:alpha val="0"/>
              </a:srgbClr>
            </a:solidFill>
            <a:prstDash val="solid"/>
          </a:ln>
        </p:spPr>
      </p:sp>
      <p:sp>
        <p:nvSpPr>
          <p:cNvPr id="22" name="Text 20"/>
          <p:cNvSpPr txBox="1"/>
          <p:nvPr/>
        </p:nvSpPr>
        <p:spPr>
          <a:xfrm>
            <a:off x="6620256" y="3017520"/>
            <a:ext cx="658368" cy="182880"/>
          </a:xfrm>
          <a:prstGeom prst="rect">
            <a:avLst/>
          </a:prstGeom>
          <a:noFill/>
          <a:ln/>
        </p:spPr>
        <p:txBody>
          <a:bodyPr wrap="square" lIns="0" tIns="0" rIns="0" bIns="0" rtlCol="0" anchor="ctr">
            <a:normAutofit/>
          </a:bodyPr>
          <a:lstStyle/>
          <a:p>
            <a:pPr algn="l" indent="0" marL="0">
              <a:buNone/>
            </a:pPr>
            <a:r>
              <a:rPr lang="en-US" sz="900" b="1" dirty="0">
                <a:solidFill>
                  <a:srgbClr val="28715F"/>
                </a:solidFill>
                <a:latin typeface="Aptos" pitchFamily="34" charset="0"/>
                <a:ea typeface="Aptos" pitchFamily="34" charset="-122"/>
                <a:cs typeface="Aptos" pitchFamily="34" charset="-120"/>
              </a:rPr>
              <a:t>ISSUE</a:t>
            </a:r>
            <a:endParaRPr lang="en-US" sz="900" dirty="0"/>
          </a:p>
        </p:txBody>
      </p:sp>
      <p:sp>
        <p:nvSpPr>
          <p:cNvPr id="23" name="Text 21"/>
          <p:cNvSpPr txBox="1"/>
          <p:nvPr/>
        </p:nvSpPr>
        <p:spPr>
          <a:xfrm>
            <a:off x="6620256" y="3300984"/>
            <a:ext cx="4434840" cy="502920"/>
          </a:xfrm>
          <a:prstGeom prst="rect">
            <a:avLst/>
          </a:prstGeom>
          <a:noFill/>
          <a:ln/>
        </p:spPr>
        <p:txBody>
          <a:bodyPr wrap="square" lIns="0" tIns="0" rIns="0" bIns="0" rtlCol="0" anchor="t">
            <a:normAutofit/>
          </a:bodyPr>
          <a:lstStyle/>
          <a:p>
            <a:pPr algn="l" indent="0" marL="0">
              <a:buNone/>
            </a:pPr>
            <a:r>
              <a:rPr lang="en-US" sz="1300" dirty="0">
                <a:solidFill>
                  <a:srgbClr val="23332F"/>
                </a:solidFill>
                <a:latin typeface="Aptos" pitchFamily="34" charset="0"/>
                <a:ea typeface="Aptos" pitchFamily="34" charset="-122"/>
                <a:cs typeface="Aptos" pitchFamily="34" charset="-120"/>
              </a:rPr>
              <a:t>The new validation branch lacks a matching test in the reviewed diff.</a:t>
            </a:r>
            <a:endParaRPr lang="en-US" sz="1300" dirty="0"/>
          </a:p>
        </p:txBody>
      </p:sp>
      <p:sp>
        <p:nvSpPr>
          <p:cNvPr id="24" name="Text 22"/>
          <p:cNvSpPr txBox="1"/>
          <p:nvPr/>
        </p:nvSpPr>
        <p:spPr>
          <a:xfrm>
            <a:off x="6620256" y="4041648"/>
            <a:ext cx="4434840" cy="512064"/>
          </a:xfrm>
          <a:prstGeom prst="rect">
            <a:avLst/>
          </a:prstGeom>
          <a:noFill/>
          <a:ln/>
        </p:spPr>
        <p:txBody>
          <a:bodyPr wrap="square" lIns="0" tIns="0" rIns="0" bIns="0" rtlCol="0" anchor="t">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Recommendation: add a focused boundary-input test using project conventions.</a:t>
            </a:r>
            <a:endParaRPr lang="en-US" sz="1100" dirty="0"/>
          </a:p>
        </p:txBody>
      </p:sp>
      <p:sp>
        <p:nvSpPr>
          <p:cNvPr id="25" name="Text 23"/>
          <p:cNvSpPr txBox="1"/>
          <p:nvPr/>
        </p:nvSpPr>
        <p:spPr>
          <a:xfrm>
            <a:off x="822960" y="5404104"/>
            <a:ext cx="9966960" cy="246888"/>
          </a:xfrm>
          <a:prstGeom prst="rect">
            <a:avLst/>
          </a:prstGeom>
          <a:noFill/>
          <a:ln/>
        </p:spPr>
        <p:txBody>
          <a:bodyPr wrap="square" lIns="0" tIns="0" rIns="0" bIns="0" rtlCol="0" anchor="ctr">
            <a:normAutofit/>
          </a:bodyPr>
          <a:lstStyle/>
          <a:p>
            <a:pPr algn="l" indent="0" marL="0">
              <a:buNone/>
            </a:pPr>
            <a:r>
              <a:rPr lang="en-US" sz="1000" i="1" dirty="0">
                <a:solidFill>
                  <a:srgbClr val="63736D"/>
                </a:solidFill>
                <a:latin typeface="Aptos" pitchFamily="34" charset="0"/>
                <a:ea typeface="Aptos" pitchFamily="34" charset="-122"/>
                <a:cs typeface="Aptos" pitchFamily="34" charset="-120"/>
              </a:rPr>
              <a:t>Examples demonstrate the renderer shape only; they are not real AI findings.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66928" y="246888"/>
            <a:ext cx="585216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8715F"/>
                </a:solidFill>
                <a:latin typeface="Aptos" pitchFamily="34" charset="0"/>
                <a:ea typeface="Aptos" pitchFamily="34" charset="-122"/>
                <a:cs typeface="Aptos" pitchFamily="34" charset="-120"/>
              </a:rPr>
              <a:t>P1 ARCHITECTURE OUTCOMES</a:t>
            </a:r>
            <a:endParaRPr lang="en-US" sz="900" dirty="0"/>
          </a:p>
        </p:txBody>
      </p:sp>
      <p:sp>
        <p:nvSpPr>
          <p:cNvPr id="3" name="Text 1"/>
          <p:cNvSpPr txBox="1"/>
          <p:nvPr/>
        </p:nvSpPr>
        <p:spPr>
          <a:xfrm>
            <a:off x="566928" y="55778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42421"/>
                </a:solidFill>
                <a:latin typeface="Aptos Display" pitchFamily="34" charset="0"/>
                <a:ea typeface="Aptos Display" pitchFamily="34" charset="-122"/>
                <a:cs typeface="Aptos Display" pitchFamily="34" charset="-120"/>
              </a:rPr>
              <a:t>Benefits Achieved</a:t>
            </a:r>
            <a:endParaRPr lang="en-US" sz="2700" dirty="0"/>
          </a:p>
        </p:txBody>
      </p:sp>
      <p:sp>
        <p:nvSpPr>
          <p:cNvPr id="4" name="Shape 2"/>
          <p:cNvSpPr/>
          <p:nvPr/>
        </p:nvSpPr>
        <p:spPr>
          <a:xfrm>
            <a:off x="566928" y="1197864"/>
            <a:ext cx="11045952" cy="10973"/>
          </a:xfrm>
          <a:prstGeom prst="line">
            <a:avLst/>
          </a:prstGeom>
          <a:solidFill>
            <a:srgbClr val="D4DDD6"/>
          </a:solidFill>
          <a:ln w="12700">
            <a:solidFill>
              <a:srgbClr val="D4DDD6">
                <a:alpha val="0"/>
              </a:srgbClr>
            </a:solidFill>
            <a:prstDash val="solid"/>
          </a:ln>
        </p:spPr>
      </p:sp>
      <p:sp>
        <p:nvSpPr>
          <p:cNvPr id="5" name="Text 3"/>
          <p:cNvSpPr txBox="1"/>
          <p:nvPr/>
        </p:nvSpPr>
        <p:spPr>
          <a:xfrm>
            <a:off x="566928" y="6537960"/>
            <a:ext cx="7315200" cy="146304"/>
          </a:xfrm>
          <a:prstGeom prst="rect">
            <a:avLst/>
          </a:prstGeom>
          <a:noFill/>
          <a:ln/>
        </p:spPr>
        <p:txBody>
          <a:bodyPr wrap="square" lIns="0" tIns="0" rIns="0" bIns="0" rtlCol="0" anchor="ctr">
            <a:normAutofit/>
          </a:bodyPr>
          <a:lstStyle/>
          <a:p>
            <a:pPr algn="l" indent="0" marL="0">
              <a:buNone/>
            </a:pPr>
            <a:r>
              <a:rPr lang="en-US" sz="800" spc="40" kern="0" dirty="0">
                <a:solidFill>
                  <a:srgbClr val="63736D"/>
                </a:solidFill>
                <a:latin typeface="Aptos" pitchFamily="34" charset="0"/>
                <a:ea typeface="Aptos" pitchFamily="34" charset="-122"/>
                <a:cs typeface="Aptos" pitchFamily="34" charset="-120"/>
              </a:rPr>
              <a:t>AI CODE REVIEW AGENT  /  MENTOR DEMO</a:t>
            </a:r>
            <a:endParaRPr lang="en-US" sz="800" dirty="0"/>
          </a:p>
        </p:txBody>
      </p:sp>
      <p:sp>
        <p:nvSpPr>
          <p:cNvPr id="6" name="Text 4"/>
          <p:cNvSpPr txBox="1"/>
          <p:nvPr/>
        </p:nvSpPr>
        <p:spPr>
          <a:xfrm>
            <a:off x="11018520" y="6510528"/>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28715F"/>
                </a:solidFill>
                <a:latin typeface="Aptos" pitchFamily="34" charset="0"/>
                <a:ea typeface="Aptos" pitchFamily="34" charset="-122"/>
                <a:cs typeface="Aptos" pitchFamily="34" charset="-120"/>
              </a:rPr>
              <a:t>12</a:t>
            </a:r>
            <a:endParaRPr lang="en-US" sz="900" dirty="0"/>
          </a:p>
        </p:txBody>
      </p:sp>
      <p:sp>
        <p:nvSpPr>
          <p:cNvPr id="7" name="Shape 5"/>
          <p:cNvSpPr/>
          <p:nvPr/>
        </p:nvSpPr>
        <p:spPr>
          <a:xfrm>
            <a:off x="795528" y="1691640"/>
            <a:ext cx="5102352" cy="1252728"/>
          </a:xfrm>
          <a:prstGeom prst="roundRect">
            <a:avLst/>
          </a:prstGeom>
          <a:solidFill>
            <a:srgbClr val="FFFFFF"/>
          </a:solidFill>
          <a:ln w="12700">
            <a:solidFill>
              <a:srgbClr val="D4DDD6"/>
            </a:solidFill>
            <a:prstDash val="solid"/>
          </a:ln>
        </p:spPr>
      </p:sp>
      <p:sp>
        <p:nvSpPr>
          <p:cNvPr id="8" name="Shape 6"/>
          <p:cNvSpPr/>
          <p:nvPr/>
        </p:nvSpPr>
        <p:spPr>
          <a:xfrm>
            <a:off x="1042416" y="1975104"/>
            <a:ext cx="292608" cy="292608"/>
          </a:xfrm>
          <a:prstGeom prst="ellipse">
            <a:avLst/>
          </a:prstGeom>
          <a:solidFill>
            <a:srgbClr val="28715F"/>
          </a:solidFill>
          <a:ln w="12700">
            <a:solidFill>
              <a:srgbClr val="28715F">
                <a:alpha val="0"/>
              </a:srgbClr>
            </a:solidFill>
            <a:prstDash val="solid"/>
          </a:ln>
        </p:spPr>
      </p:sp>
      <p:sp>
        <p:nvSpPr>
          <p:cNvPr id="9" name="Text 7"/>
          <p:cNvSpPr txBox="1"/>
          <p:nvPr/>
        </p:nvSpPr>
        <p:spPr>
          <a:xfrm>
            <a:off x="1042416" y="2011680"/>
            <a:ext cx="292608" cy="18288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10" name="Text 8"/>
          <p:cNvSpPr txBox="1"/>
          <p:nvPr/>
        </p:nvSpPr>
        <p:spPr>
          <a:xfrm>
            <a:off x="1527048" y="1874520"/>
            <a:ext cx="4023360" cy="292608"/>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No FastAPI listener</a:t>
            </a:r>
            <a:endParaRPr lang="en-US" sz="1500" dirty="0"/>
          </a:p>
        </p:txBody>
      </p:sp>
      <p:sp>
        <p:nvSpPr>
          <p:cNvPr id="11" name="Text 9"/>
          <p:cNvSpPr txBox="1"/>
          <p:nvPr/>
        </p:nvSpPr>
        <p:spPr>
          <a:xfrm>
            <a:off x="1527048" y="2295144"/>
            <a:ext cx="3977640" cy="438912"/>
          </a:xfrm>
          <a:prstGeom prst="rect">
            <a:avLst/>
          </a:prstGeom>
          <a:noFill/>
          <a:ln/>
        </p:spPr>
        <p:txBody>
          <a:bodyPr wrap="square" lIns="0" tIns="0" rIns="0" bIns="0" rtlCol="0" anchor="t">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No separately hosted webhook service in the P1 path.</a:t>
            </a:r>
            <a:endParaRPr lang="en-US" sz="1100" dirty="0"/>
          </a:p>
        </p:txBody>
      </p:sp>
      <p:sp>
        <p:nvSpPr>
          <p:cNvPr id="12" name="Shape 10"/>
          <p:cNvSpPr/>
          <p:nvPr/>
        </p:nvSpPr>
        <p:spPr>
          <a:xfrm>
            <a:off x="6336792" y="1691640"/>
            <a:ext cx="5102352" cy="1252728"/>
          </a:xfrm>
          <a:prstGeom prst="roundRect">
            <a:avLst/>
          </a:prstGeom>
          <a:solidFill>
            <a:srgbClr val="FFFFFF"/>
          </a:solidFill>
          <a:ln w="12700">
            <a:solidFill>
              <a:srgbClr val="D4DDD6"/>
            </a:solidFill>
            <a:prstDash val="solid"/>
          </a:ln>
        </p:spPr>
      </p:sp>
      <p:sp>
        <p:nvSpPr>
          <p:cNvPr id="13" name="Shape 11"/>
          <p:cNvSpPr/>
          <p:nvPr/>
        </p:nvSpPr>
        <p:spPr>
          <a:xfrm>
            <a:off x="6583680" y="1975104"/>
            <a:ext cx="292608" cy="292608"/>
          </a:xfrm>
          <a:prstGeom prst="ellipse">
            <a:avLst/>
          </a:prstGeom>
          <a:solidFill>
            <a:srgbClr val="54809A"/>
          </a:solidFill>
          <a:ln w="12700">
            <a:solidFill>
              <a:srgbClr val="54809A">
                <a:alpha val="0"/>
              </a:srgbClr>
            </a:solidFill>
            <a:prstDash val="solid"/>
          </a:ln>
        </p:spPr>
      </p:sp>
      <p:sp>
        <p:nvSpPr>
          <p:cNvPr id="14" name="Text 12"/>
          <p:cNvSpPr txBox="1"/>
          <p:nvPr/>
        </p:nvSpPr>
        <p:spPr>
          <a:xfrm>
            <a:off x="6583680" y="2011680"/>
            <a:ext cx="292608" cy="18288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15" name="Text 13"/>
          <p:cNvSpPr txBox="1"/>
          <p:nvPr/>
        </p:nvSpPr>
        <p:spPr>
          <a:xfrm>
            <a:off x="7068312" y="1874520"/>
            <a:ext cx="4023360" cy="292608"/>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No ngrok tunnel</a:t>
            </a:r>
            <a:endParaRPr lang="en-US" sz="1500" dirty="0"/>
          </a:p>
        </p:txBody>
      </p:sp>
      <p:sp>
        <p:nvSpPr>
          <p:cNvPr id="16" name="Text 14"/>
          <p:cNvSpPr txBox="1"/>
          <p:nvPr/>
        </p:nvSpPr>
        <p:spPr>
          <a:xfrm>
            <a:off x="7068312" y="2295144"/>
            <a:ext cx="3977640" cy="438912"/>
          </a:xfrm>
          <a:prstGeom prst="rect">
            <a:avLst/>
          </a:prstGeom>
          <a:noFill/>
          <a:ln/>
        </p:spPr>
        <p:txBody>
          <a:bodyPr wrap="square" lIns="0" tIns="0" rIns="0" bIns="0" rtlCol="0" anchor="t">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GitHub Actions starts from the PR event directly.</a:t>
            </a:r>
            <a:endParaRPr lang="en-US" sz="1100" dirty="0"/>
          </a:p>
        </p:txBody>
      </p:sp>
      <p:sp>
        <p:nvSpPr>
          <p:cNvPr id="17" name="Shape 15"/>
          <p:cNvSpPr/>
          <p:nvPr/>
        </p:nvSpPr>
        <p:spPr>
          <a:xfrm>
            <a:off x="795528" y="3319272"/>
            <a:ext cx="5102352" cy="1252728"/>
          </a:xfrm>
          <a:prstGeom prst="roundRect">
            <a:avLst/>
          </a:prstGeom>
          <a:solidFill>
            <a:srgbClr val="FFFFFF"/>
          </a:solidFill>
          <a:ln w="12700">
            <a:solidFill>
              <a:srgbClr val="D4DDD6"/>
            </a:solidFill>
            <a:prstDash val="solid"/>
          </a:ln>
        </p:spPr>
      </p:sp>
      <p:sp>
        <p:nvSpPr>
          <p:cNvPr id="18" name="Shape 16"/>
          <p:cNvSpPr/>
          <p:nvPr/>
        </p:nvSpPr>
        <p:spPr>
          <a:xfrm>
            <a:off x="1042416" y="3602736"/>
            <a:ext cx="292608" cy="292608"/>
          </a:xfrm>
          <a:prstGeom prst="ellipse">
            <a:avLst/>
          </a:prstGeom>
          <a:solidFill>
            <a:srgbClr val="D36B56"/>
          </a:solidFill>
          <a:ln w="12700">
            <a:solidFill>
              <a:srgbClr val="D36B56">
                <a:alpha val="0"/>
              </a:srgbClr>
            </a:solidFill>
            <a:prstDash val="solid"/>
          </a:ln>
        </p:spPr>
      </p:sp>
      <p:sp>
        <p:nvSpPr>
          <p:cNvPr id="19" name="Text 17"/>
          <p:cNvSpPr txBox="1"/>
          <p:nvPr/>
        </p:nvSpPr>
        <p:spPr>
          <a:xfrm>
            <a:off x="1042416" y="3639312"/>
            <a:ext cx="292608" cy="18288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20" name="Text 18"/>
          <p:cNvSpPr txBox="1"/>
          <p:nvPr/>
        </p:nvSpPr>
        <p:spPr>
          <a:xfrm>
            <a:off x="1527048" y="3502152"/>
            <a:ext cx="4023360" cy="292608"/>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Reusable workflow</a:t>
            </a:r>
            <a:endParaRPr lang="en-US" sz="1500" dirty="0"/>
          </a:p>
        </p:txBody>
      </p:sp>
      <p:sp>
        <p:nvSpPr>
          <p:cNvPr id="21" name="Text 19"/>
          <p:cNvSpPr txBox="1"/>
          <p:nvPr/>
        </p:nvSpPr>
        <p:spPr>
          <a:xfrm>
            <a:off x="1527048" y="3922776"/>
            <a:ext cx="3977640" cy="438912"/>
          </a:xfrm>
          <a:prstGeom prst="rect">
            <a:avLst/>
          </a:prstGeom>
          <a:noFill/>
          <a:ln/>
        </p:spPr>
        <p:txBody>
          <a:bodyPr wrap="square" lIns="0" tIns="0" rIns="0" bIns="0" rtlCol="0" anchor="t">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Central code and policy can serve multiple repositories.</a:t>
            </a:r>
            <a:endParaRPr lang="en-US" sz="1100" dirty="0"/>
          </a:p>
        </p:txBody>
      </p:sp>
      <p:sp>
        <p:nvSpPr>
          <p:cNvPr id="22" name="Shape 20"/>
          <p:cNvSpPr/>
          <p:nvPr/>
        </p:nvSpPr>
        <p:spPr>
          <a:xfrm>
            <a:off x="6336792" y="3319272"/>
            <a:ext cx="5102352" cy="1252728"/>
          </a:xfrm>
          <a:prstGeom prst="roundRect">
            <a:avLst/>
          </a:prstGeom>
          <a:solidFill>
            <a:srgbClr val="FFFFFF"/>
          </a:solidFill>
          <a:ln w="12700">
            <a:solidFill>
              <a:srgbClr val="D4DDD6"/>
            </a:solidFill>
            <a:prstDash val="solid"/>
          </a:ln>
        </p:spPr>
      </p:sp>
      <p:sp>
        <p:nvSpPr>
          <p:cNvPr id="23" name="Shape 21"/>
          <p:cNvSpPr/>
          <p:nvPr/>
        </p:nvSpPr>
        <p:spPr>
          <a:xfrm>
            <a:off x="6583680" y="3602736"/>
            <a:ext cx="292608" cy="292608"/>
          </a:xfrm>
          <a:prstGeom prst="ellipse">
            <a:avLst/>
          </a:prstGeom>
          <a:solidFill>
            <a:srgbClr val="E4AE45"/>
          </a:solidFill>
          <a:ln w="12700">
            <a:solidFill>
              <a:srgbClr val="E4AE45">
                <a:alpha val="0"/>
              </a:srgbClr>
            </a:solidFill>
            <a:prstDash val="solid"/>
          </a:ln>
        </p:spPr>
      </p:sp>
      <p:sp>
        <p:nvSpPr>
          <p:cNvPr id="24" name="Text 22"/>
          <p:cNvSpPr txBox="1"/>
          <p:nvPr/>
        </p:nvSpPr>
        <p:spPr>
          <a:xfrm>
            <a:off x="6583680" y="3639312"/>
            <a:ext cx="292608" cy="18288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25" name="Text 23"/>
          <p:cNvSpPr txBox="1"/>
          <p:nvPr/>
        </p:nvSpPr>
        <p:spPr>
          <a:xfrm>
            <a:off x="7068312" y="3502152"/>
            <a:ext cx="4023360" cy="292608"/>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Structured advisory</a:t>
            </a:r>
            <a:endParaRPr lang="en-US" sz="1500" dirty="0"/>
          </a:p>
        </p:txBody>
      </p:sp>
      <p:sp>
        <p:nvSpPr>
          <p:cNvPr id="26" name="Text 24"/>
          <p:cNvSpPr txBox="1"/>
          <p:nvPr/>
        </p:nvSpPr>
        <p:spPr>
          <a:xfrm>
            <a:off x="7068312" y="3922776"/>
            <a:ext cx="3977640" cy="438912"/>
          </a:xfrm>
          <a:prstGeom prst="rect">
            <a:avLst/>
          </a:prstGeom>
          <a:noFill/>
          <a:ln/>
        </p:spPr>
        <p:txBody>
          <a:bodyPr wrap="square" lIns="0" tIns="0" rIns="0" bIns="0" rtlCol="0" anchor="t">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Pydantic-validated result returns as a PR review comment.</a:t>
            </a:r>
            <a:endParaRPr lang="en-US" sz="1100" dirty="0"/>
          </a:p>
        </p:txBody>
      </p:sp>
      <p:sp>
        <p:nvSpPr>
          <p:cNvPr id="27" name="Text 25"/>
          <p:cNvSpPr txBox="1"/>
          <p:nvPr/>
        </p:nvSpPr>
        <p:spPr>
          <a:xfrm>
            <a:off x="822960" y="5385816"/>
            <a:ext cx="10424160" cy="292608"/>
          </a:xfrm>
          <a:prstGeom prst="rect">
            <a:avLst/>
          </a:prstGeom>
          <a:noFill/>
          <a:ln/>
        </p:spPr>
        <p:txBody>
          <a:bodyPr wrap="square" lIns="0" tIns="0" rIns="0" bIns="0" rtlCol="0" anchor="ctr">
            <a:normAutofit/>
          </a:bodyPr>
          <a:lstStyle/>
          <a:p>
            <a:pPr algn="l" indent="0" marL="0">
              <a:buNone/>
            </a:pPr>
            <a:r>
              <a:rPr lang="en-US" sz="1100" b="1" dirty="0">
                <a:solidFill>
                  <a:srgbClr val="183D35"/>
                </a:solidFill>
                <a:latin typeface="Aptos" pitchFamily="34" charset="0"/>
                <a:ea typeface="Aptos" pitchFamily="34" charset="-122"/>
                <a:cs typeface="Aptos" pitchFamily="34" charset="-120"/>
              </a:rPr>
              <a:t>The workflow still depends on secure secrets, permissions, GitHub availability, and model service availability.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66928" y="246888"/>
            <a:ext cx="585216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8715F"/>
                </a:solidFill>
                <a:latin typeface="Aptos" pitchFamily="34" charset="0"/>
                <a:ea typeface="Aptos" pitchFamily="34" charset="-122"/>
                <a:cs typeface="Aptos" pitchFamily="34" charset="-120"/>
              </a:rPr>
              <a:t>KNOWN P1 BOUNDARIES</a:t>
            </a:r>
            <a:endParaRPr lang="en-US" sz="900" dirty="0"/>
          </a:p>
        </p:txBody>
      </p:sp>
      <p:sp>
        <p:nvSpPr>
          <p:cNvPr id="3" name="Text 1"/>
          <p:cNvSpPr txBox="1"/>
          <p:nvPr/>
        </p:nvSpPr>
        <p:spPr>
          <a:xfrm>
            <a:off x="566928" y="55778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42421"/>
                </a:solidFill>
                <a:latin typeface="Aptos Display" pitchFamily="34" charset="0"/>
                <a:ea typeface="Aptos Display" pitchFamily="34" charset="-122"/>
                <a:cs typeface="Aptos Display" pitchFamily="34" charset="-120"/>
              </a:rPr>
              <a:t>Current Limitations</a:t>
            </a:r>
            <a:endParaRPr lang="en-US" sz="2700" dirty="0"/>
          </a:p>
        </p:txBody>
      </p:sp>
      <p:sp>
        <p:nvSpPr>
          <p:cNvPr id="4" name="Shape 2"/>
          <p:cNvSpPr/>
          <p:nvPr/>
        </p:nvSpPr>
        <p:spPr>
          <a:xfrm>
            <a:off x="566928" y="1197864"/>
            <a:ext cx="11045952" cy="10973"/>
          </a:xfrm>
          <a:prstGeom prst="line">
            <a:avLst/>
          </a:prstGeom>
          <a:solidFill>
            <a:srgbClr val="D4DDD6"/>
          </a:solidFill>
          <a:ln w="12700">
            <a:solidFill>
              <a:srgbClr val="D4DDD6">
                <a:alpha val="0"/>
              </a:srgbClr>
            </a:solidFill>
            <a:prstDash val="solid"/>
          </a:ln>
        </p:spPr>
      </p:sp>
      <p:sp>
        <p:nvSpPr>
          <p:cNvPr id="5" name="Text 3"/>
          <p:cNvSpPr txBox="1"/>
          <p:nvPr/>
        </p:nvSpPr>
        <p:spPr>
          <a:xfrm>
            <a:off x="566928" y="6537960"/>
            <a:ext cx="7315200" cy="146304"/>
          </a:xfrm>
          <a:prstGeom prst="rect">
            <a:avLst/>
          </a:prstGeom>
          <a:noFill/>
          <a:ln/>
        </p:spPr>
        <p:txBody>
          <a:bodyPr wrap="square" lIns="0" tIns="0" rIns="0" bIns="0" rtlCol="0" anchor="ctr">
            <a:normAutofit/>
          </a:bodyPr>
          <a:lstStyle/>
          <a:p>
            <a:pPr algn="l" indent="0" marL="0">
              <a:buNone/>
            </a:pPr>
            <a:r>
              <a:rPr lang="en-US" sz="800" spc="40" kern="0" dirty="0">
                <a:solidFill>
                  <a:srgbClr val="63736D"/>
                </a:solidFill>
                <a:latin typeface="Aptos" pitchFamily="34" charset="0"/>
                <a:ea typeface="Aptos" pitchFamily="34" charset="-122"/>
                <a:cs typeface="Aptos" pitchFamily="34" charset="-120"/>
              </a:rPr>
              <a:t>AI CODE REVIEW AGENT  /  MENTOR DEMO</a:t>
            </a:r>
            <a:endParaRPr lang="en-US" sz="800" dirty="0"/>
          </a:p>
        </p:txBody>
      </p:sp>
      <p:sp>
        <p:nvSpPr>
          <p:cNvPr id="6" name="Text 4"/>
          <p:cNvSpPr txBox="1"/>
          <p:nvPr/>
        </p:nvSpPr>
        <p:spPr>
          <a:xfrm>
            <a:off x="11018520" y="6510528"/>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28715F"/>
                </a:solidFill>
                <a:latin typeface="Aptos" pitchFamily="34" charset="0"/>
                <a:ea typeface="Aptos" pitchFamily="34" charset="-122"/>
                <a:cs typeface="Aptos" pitchFamily="34" charset="-120"/>
              </a:rPr>
              <a:t>13</a:t>
            </a:r>
            <a:endParaRPr lang="en-US" sz="900" dirty="0"/>
          </a:p>
        </p:txBody>
      </p:sp>
      <p:sp>
        <p:nvSpPr>
          <p:cNvPr id="7" name="Shape 5"/>
          <p:cNvSpPr/>
          <p:nvPr/>
        </p:nvSpPr>
        <p:spPr>
          <a:xfrm>
            <a:off x="804672" y="1527048"/>
            <a:ext cx="10607040" cy="621792"/>
          </a:xfrm>
          <a:prstGeom prst="roundRect">
            <a:avLst/>
          </a:prstGeom>
          <a:solidFill>
            <a:srgbClr val="FFFFFF"/>
          </a:solidFill>
          <a:ln w="12700">
            <a:solidFill>
              <a:srgbClr val="D4DDD6"/>
            </a:solidFill>
            <a:prstDash val="solid"/>
          </a:ln>
        </p:spPr>
      </p:sp>
      <p:sp>
        <p:nvSpPr>
          <p:cNvPr id="8" name="Shape 6"/>
          <p:cNvSpPr/>
          <p:nvPr/>
        </p:nvSpPr>
        <p:spPr>
          <a:xfrm>
            <a:off x="804672" y="1527048"/>
            <a:ext cx="82296" cy="621792"/>
          </a:xfrm>
          <a:prstGeom prst="rect">
            <a:avLst/>
          </a:prstGeom>
          <a:solidFill>
            <a:srgbClr val="D36B56"/>
          </a:solidFill>
          <a:ln w="12700">
            <a:solidFill>
              <a:srgbClr val="D36B56">
                <a:alpha val="0"/>
              </a:srgbClr>
            </a:solidFill>
            <a:prstDash val="solid"/>
          </a:ln>
        </p:spPr>
      </p:sp>
      <p:sp>
        <p:nvSpPr>
          <p:cNvPr id="9" name="Text 7"/>
          <p:cNvSpPr txBox="1"/>
          <p:nvPr/>
        </p:nvSpPr>
        <p:spPr>
          <a:xfrm>
            <a:off x="1078992" y="1673352"/>
            <a:ext cx="2331720" cy="256032"/>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Line unknown</a:t>
            </a:r>
            <a:endParaRPr lang="en-US" sz="1300" dirty="0"/>
          </a:p>
        </p:txBody>
      </p:sp>
      <p:sp>
        <p:nvSpPr>
          <p:cNvPr id="10" name="Text 8"/>
          <p:cNvSpPr txBox="1"/>
          <p:nvPr/>
        </p:nvSpPr>
        <p:spPr>
          <a:xfrm>
            <a:off x="3529584" y="1636776"/>
            <a:ext cx="7470648" cy="356616"/>
          </a:xfrm>
          <a:prstGeom prst="rect">
            <a:avLst/>
          </a:prstGeom>
          <a:noFill/>
          <a:ln/>
        </p:spPr>
        <p:txBody>
          <a:bodyPr wrap="square" lIns="0" tIns="0" rIns="0" bIns="0" rtlCol="0" anchor="ctr">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Model line is nullable and not verified against changed diff positions.</a:t>
            </a:r>
            <a:endParaRPr lang="en-US" sz="1100" dirty="0"/>
          </a:p>
        </p:txBody>
      </p:sp>
      <p:sp>
        <p:nvSpPr>
          <p:cNvPr id="11" name="Shape 9"/>
          <p:cNvSpPr/>
          <p:nvPr/>
        </p:nvSpPr>
        <p:spPr>
          <a:xfrm>
            <a:off x="804672" y="2340864"/>
            <a:ext cx="10607040" cy="621792"/>
          </a:xfrm>
          <a:prstGeom prst="roundRect">
            <a:avLst/>
          </a:prstGeom>
          <a:solidFill>
            <a:srgbClr val="FFFFFF"/>
          </a:solidFill>
          <a:ln w="12700">
            <a:solidFill>
              <a:srgbClr val="D4DDD6"/>
            </a:solidFill>
            <a:prstDash val="solid"/>
          </a:ln>
        </p:spPr>
      </p:sp>
      <p:sp>
        <p:nvSpPr>
          <p:cNvPr id="12" name="Shape 10"/>
          <p:cNvSpPr/>
          <p:nvPr/>
        </p:nvSpPr>
        <p:spPr>
          <a:xfrm>
            <a:off x="804672" y="2340864"/>
            <a:ext cx="82296" cy="621792"/>
          </a:xfrm>
          <a:prstGeom prst="rect">
            <a:avLst/>
          </a:prstGeom>
          <a:solidFill>
            <a:srgbClr val="E4AE45"/>
          </a:solidFill>
          <a:ln w="12700">
            <a:solidFill>
              <a:srgbClr val="E4AE45">
                <a:alpha val="0"/>
              </a:srgbClr>
            </a:solidFill>
            <a:prstDash val="solid"/>
          </a:ln>
        </p:spPr>
      </p:sp>
      <p:sp>
        <p:nvSpPr>
          <p:cNvPr id="13" name="Text 11"/>
          <p:cNvSpPr txBox="1"/>
          <p:nvPr/>
        </p:nvSpPr>
        <p:spPr>
          <a:xfrm>
            <a:off x="1078992" y="2487168"/>
            <a:ext cx="2331720" cy="256032"/>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Summary only</a:t>
            </a:r>
            <a:endParaRPr lang="en-US" sz="1300" dirty="0"/>
          </a:p>
        </p:txBody>
      </p:sp>
      <p:sp>
        <p:nvSpPr>
          <p:cNvPr id="14" name="Text 12"/>
          <p:cNvSpPr txBox="1"/>
          <p:nvPr/>
        </p:nvSpPr>
        <p:spPr>
          <a:xfrm>
            <a:off x="3529584" y="2450592"/>
            <a:ext cx="7470648" cy="356616"/>
          </a:xfrm>
          <a:prstGeom prst="rect">
            <a:avLst/>
          </a:prstGeom>
          <a:noFill/>
          <a:ln/>
        </p:spPr>
        <p:txBody>
          <a:bodyPr wrap="square" lIns="0" tIns="0" rIns="0" bIns="0" rtlCol="0" anchor="ctr">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One PR-level review; no inline comments or resolved threads.</a:t>
            </a:r>
            <a:endParaRPr lang="en-US" sz="1100" dirty="0"/>
          </a:p>
        </p:txBody>
      </p:sp>
      <p:sp>
        <p:nvSpPr>
          <p:cNvPr id="15" name="Shape 13"/>
          <p:cNvSpPr/>
          <p:nvPr/>
        </p:nvSpPr>
        <p:spPr>
          <a:xfrm>
            <a:off x="804672" y="3154680"/>
            <a:ext cx="10607040" cy="621792"/>
          </a:xfrm>
          <a:prstGeom prst="roundRect">
            <a:avLst/>
          </a:prstGeom>
          <a:solidFill>
            <a:srgbClr val="FFFFFF"/>
          </a:solidFill>
          <a:ln w="12700">
            <a:solidFill>
              <a:srgbClr val="D4DDD6"/>
            </a:solidFill>
            <a:prstDash val="solid"/>
          </a:ln>
        </p:spPr>
      </p:sp>
      <p:sp>
        <p:nvSpPr>
          <p:cNvPr id="16" name="Shape 14"/>
          <p:cNvSpPr/>
          <p:nvPr/>
        </p:nvSpPr>
        <p:spPr>
          <a:xfrm>
            <a:off x="804672" y="3154680"/>
            <a:ext cx="82296" cy="621792"/>
          </a:xfrm>
          <a:prstGeom prst="rect">
            <a:avLst/>
          </a:prstGeom>
          <a:solidFill>
            <a:srgbClr val="54809A"/>
          </a:solidFill>
          <a:ln w="12700">
            <a:solidFill>
              <a:srgbClr val="54809A">
                <a:alpha val="0"/>
              </a:srgbClr>
            </a:solidFill>
            <a:prstDash val="solid"/>
          </a:ln>
        </p:spPr>
      </p:sp>
      <p:sp>
        <p:nvSpPr>
          <p:cNvPr id="17" name="Text 15"/>
          <p:cNvSpPr txBox="1"/>
          <p:nvPr/>
        </p:nvSpPr>
        <p:spPr>
          <a:xfrm>
            <a:off x="1078992" y="3300984"/>
            <a:ext cx="2331720" cy="256032"/>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No duplicate handling</a:t>
            </a:r>
            <a:endParaRPr lang="en-US" sz="1300" dirty="0"/>
          </a:p>
        </p:txBody>
      </p:sp>
      <p:sp>
        <p:nvSpPr>
          <p:cNvPr id="18" name="Text 16"/>
          <p:cNvSpPr txBox="1"/>
          <p:nvPr/>
        </p:nvSpPr>
        <p:spPr>
          <a:xfrm>
            <a:off x="3529584" y="3264408"/>
            <a:ext cx="7470648" cy="356616"/>
          </a:xfrm>
          <a:prstGeom prst="rect">
            <a:avLst/>
          </a:prstGeom>
          <a:noFill/>
          <a:ln/>
        </p:spPr>
        <p:txBody>
          <a:bodyPr wrap="square" lIns="0" tIns="0" rIns="0" bIns="0" rtlCol="0" anchor="ctr">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Repeated findings across synchronize runs are not tracked.</a:t>
            </a:r>
            <a:endParaRPr lang="en-US" sz="1100" dirty="0"/>
          </a:p>
        </p:txBody>
      </p:sp>
      <p:sp>
        <p:nvSpPr>
          <p:cNvPr id="19" name="Shape 17"/>
          <p:cNvSpPr/>
          <p:nvPr/>
        </p:nvSpPr>
        <p:spPr>
          <a:xfrm>
            <a:off x="804672" y="3968496"/>
            <a:ext cx="10607040" cy="621792"/>
          </a:xfrm>
          <a:prstGeom prst="roundRect">
            <a:avLst/>
          </a:prstGeom>
          <a:solidFill>
            <a:srgbClr val="FFFFFF"/>
          </a:solidFill>
          <a:ln w="12700">
            <a:solidFill>
              <a:srgbClr val="D4DDD6"/>
            </a:solidFill>
            <a:prstDash val="solid"/>
          </a:ln>
        </p:spPr>
      </p:sp>
      <p:sp>
        <p:nvSpPr>
          <p:cNvPr id="20" name="Shape 18"/>
          <p:cNvSpPr/>
          <p:nvPr/>
        </p:nvSpPr>
        <p:spPr>
          <a:xfrm>
            <a:off x="804672" y="3968496"/>
            <a:ext cx="82296" cy="621792"/>
          </a:xfrm>
          <a:prstGeom prst="rect">
            <a:avLst/>
          </a:prstGeom>
          <a:solidFill>
            <a:srgbClr val="28715F"/>
          </a:solidFill>
          <a:ln w="12700">
            <a:solidFill>
              <a:srgbClr val="28715F">
                <a:alpha val="0"/>
              </a:srgbClr>
            </a:solidFill>
            <a:prstDash val="solid"/>
          </a:ln>
        </p:spPr>
      </p:sp>
      <p:sp>
        <p:nvSpPr>
          <p:cNvPr id="21" name="Text 19"/>
          <p:cNvSpPr txBox="1"/>
          <p:nvPr/>
        </p:nvSpPr>
        <p:spPr>
          <a:xfrm>
            <a:off x="1078992" y="4114800"/>
            <a:ext cx="2331720" cy="256032"/>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No language toolchain</a:t>
            </a:r>
            <a:endParaRPr lang="en-US" sz="1300" dirty="0"/>
          </a:p>
        </p:txBody>
      </p:sp>
      <p:sp>
        <p:nvSpPr>
          <p:cNvPr id="22" name="Text 20"/>
          <p:cNvSpPr txBox="1"/>
          <p:nvPr/>
        </p:nvSpPr>
        <p:spPr>
          <a:xfrm>
            <a:off x="3529584" y="4078224"/>
            <a:ext cx="7470648" cy="356616"/>
          </a:xfrm>
          <a:prstGeom prst="rect">
            <a:avLst/>
          </a:prstGeom>
          <a:noFill/>
          <a:ln/>
        </p:spPr>
        <p:txBody>
          <a:bodyPr wrap="square" lIns="0" tIns="0" rIns="0" bIns="0" rtlCol="0" anchor="ctr">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No compile, lint, or target-repository test execution.</a:t>
            </a:r>
            <a:endParaRPr lang="en-US" sz="1100" dirty="0"/>
          </a:p>
        </p:txBody>
      </p:sp>
      <p:sp>
        <p:nvSpPr>
          <p:cNvPr id="23" name="Shape 21"/>
          <p:cNvSpPr/>
          <p:nvPr/>
        </p:nvSpPr>
        <p:spPr>
          <a:xfrm>
            <a:off x="804672" y="4782312"/>
            <a:ext cx="10607040" cy="621792"/>
          </a:xfrm>
          <a:prstGeom prst="roundRect">
            <a:avLst/>
          </a:prstGeom>
          <a:solidFill>
            <a:srgbClr val="FFFFFF"/>
          </a:solidFill>
          <a:ln w="12700">
            <a:solidFill>
              <a:srgbClr val="D4DDD6"/>
            </a:solidFill>
            <a:prstDash val="solid"/>
          </a:ln>
        </p:spPr>
      </p:sp>
      <p:sp>
        <p:nvSpPr>
          <p:cNvPr id="24" name="Shape 22"/>
          <p:cNvSpPr/>
          <p:nvPr/>
        </p:nvSpPr>
        <p:spPr>
          <a:xfrm>
            <a:off x="804672" y="4782312"/>
            <a:ext cx="82296" cy="621792"/>
          </a:xfrm>
          <a:prstGeom prst="rect">
            <a:avLst/>
          </a:prstGeom>
          <a:solidFill>
            <a:srgbClr val="183D35"/>
          </a:solidFill>
          <a:ln w="12700">
            <a:solidFill>
              <a:srgbClr val="183D35">
                <a:alpha val="0"/>
              </a:srgbClr>
            </a:solidFill>
            <a:prstDash val="solid"/>
          </a:ln>
        </p:spPr>
      </p:sp>
      <p:sp>
        <p:nvSpPr>
          <p:cNvPr id="25" name="Text 23"/>
          <p:cNvSpPr txBox="1"/>
          <p:nvPr/>
        </p:nvSpPr>
        <p:spPr>
          <a:xfrm>
            <a:off x="1078992" y="4928616"/>
            <a:ext cx="2331720" cy="256032"/>
          </a:xfrm>
          <a:prstGeom prst="rect">
            <a:avLst/>
          </a:prstGeom>
          <a:noFill/>
          <a:ln/>
        </p:spPr>
        <p:txBody>
          <a:bodyPr wrap="square" lIns="0" tIns="0" rIns="0" bIns="0" rtlCol="0" anchor="ctr">
            <a:normAutofit/>
          </a:bodyPr>
          <a:lstStyle/>
          <a:p>
            <a:pPr algn="l" indent="0" marL="0">
              <a:buNone/>
            </a:pPr>
            <a:r>
              <a:rPr lang="en-US" sz="1300" b="1" dirty="0">
                <a:solidFill>
                  <a:srgbClr val="142421"/>
                </a:solidFill>
                <a:latin typeface="Aptos" pitchFamily="34" charset="0"/>
                <a:ea typeface="Aptos" pitchFamily="34" charset="-122"/>
                <a:cs typeface="Aptos" pitchFamily="34" charset="-120"/>
              </a:rPr>
              <a:t>Operational evidence</a:t>
            </a:r>
            <a:endParaRPr lang="en-US" sz="1300" dirty="0"/>
          </a:p>
        </p:txBody>
      </p:sp>
      <p:sp>
        <p:nvSpPr>
          <p:cNvPr id="26" name="Text 24"/>
          <p:cNvSpPr txBox="1"/>
          <p:nvPr/>
        </p:nvSpPr>
        <p:spPr>
          <a:xfrm>
            <a:off x="3529584" y="4892040"/>
            <a:ext cx="7470648" cy="356616"/>
          </a:xfrm>
          <a:prstGeom prst="rect">
            <a:avLst/>
          </a:prstGeom>
          <a:noFill/>
          <a:ln/>
        </p:spPr>
        <p:txBody>
          <a:bodyPr wrap="square" lIns="0" tIns="0" rIns="0" bIns="0" rtlCol="0" anchor="ctr">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No recorded live PR/model run or production monitoring in this repo.</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3"/>
        </a:solidFill>
      </p:bgPr>
    </p:bg>
    <p:spTree>
      <p:nvGrpSpPr>
        <p:cNvPr id="1" name=""/>
        <p:cNvGrpSpPr/>
        <p:nvPr/>
      </p:nvGrpSpPr>
      <p:grpSpPr>
        <a:xfrm>
          <a:off x="0" y="0"/>
          <a:ext cx="0" cy="0"/>
          <a:chOff x="0" y="0"/>
          <a:chExt cx="0" cy="0"/>
        </a:xfrm>
      </p:grpSpPr>
      <p:sp>
        <p:nvSpPr>
          <p:cNvPr id="2" name="Text 0"/>
          <p:cNvSpPr txBox="1"/>
          <p:nvPr/>
        </p:nvSpPr>
        <p:spPr>
          <a:xfrm>
            <a:off x="566928" y="246888"/>
            <a:ext cx="585216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28715F"/>
                </a:solidFill>
                <a:latin typeface="Aptos" pitchFamily="34" charset="0"/>
                <a:ea typeface="Aptos" pitchFamily="34" charset="-122"/>
                <a:cs typeface="Aptos" pitchFamily="34" charset="-120"/>
              </a:rPr>
              <a:t>NEXT: DETERMINISTIC DIFF MAPPING</a:t>
            </a:r>
            <a:endParaRPr lang="en-US" sz="900" dirty="0"/>
          </a:p>
        </p:txBody>
      </p:sp>
      <p:sp>
        <p:nvSpPr>
          <p:cNvPr id="3" name="Text 1"/>
          <p:cNvSpPr txBox="1"/>
          <p:nvPr/>
        </p:nvSpPr>
        <p:spPr>
          <a:xfrm>
            <a:off x="566928" y="557784"/>
            <a:ext cx="11064240" cy="484632"/>
          </a:xfrm>
          <a:prstGeom prst="rect">
            <a:avLst/>
          </a:prstGeom>
          <a:noFill/>
          <a:ln/>
        </p:spPr>
        <p:txBody>
          <a:bodyPr wrap="square" lIns="0" tIns="0" rIns="0" bIns="0" rtlCol="0" anchor="ctr">
            <a:normAutofit/>
          </a:bodyPr>
          <a:lstStyle/>
          <a:p>
            <a:pPr algn="l" indent="0" marL="0">
              <a:buNone/>
            </a:pPr>
            <a:r>
              <a:rPr lang="en-US" sz="2700" b="1" dirty="0">
                <a:solidFill>
                  <a:srgbClr val="142421"/>
                </a:solidFill>
                <a:latin typeface="Aptos Display" pitchFamily="34" charset="0"/>
                <a:ea typeface="Aptos Display" pitchFamily="34" charset="-122"/>
                <a:cs typeface="Aptos Display" pitchFamily="34" charset="-120"/>
              </a:rPr>
              <a:t>P2 Roadmap</a:t>
            </a:r>
            <a:endParaRPr lang="en-US" sz="2700" dirty="0"/>
          </a:p>
        </p:txBody>
      </p:sp>
      <p:sp>
        <p:nvSpPr>
          <p:cNvPr id="4" name="Shape 2"/>
          <p:cNvSpPr/>
          <p:nvPr/>
        </p:nvSpPr>
        <p:spPr>
          <a:xfrm>
            <a:off x="566928" y="1197864"/>
            <a:ext cx="11045952" cy="10973"/>
          </a:xfrm>
          <a:prstGeom prst="line">
            <a:avLst/>
          </a:prstGeom>
          <a:solidFill>
            <a:srgbClr val="D4DDD6"/>
          </a:solidFill>
          <a:ln w="12700">
            <a:solidFill>
              <a:srgbClr val="D4DDD6">
                <a:alpha val="0"/>
              </a:srgbClr>
            </a:solidFill>
            <a:prstDash val="solid"/>
          </a:ln>
        </p:spPr>
      </p:sp>
      <p:sp>
        <p:nvSpPr>
          <p:cNvPr id="5" name="Text 3"/>
          <p:cNvSpPr txBox="1"/>
          <p:nvPr/>
        </p:nvSpPr>
        <p:spPr>
          <a:xfrm>
            <a:off x="566928" y="6537960"/>
            <a:ext cx="7315200" cy="146304"/>
          </a:xfrm>
          <a:prstGeom prst="rect">
            <a:avLst/>
          </a:prstGeom>
          <a:noFill/>
          <a:ln/>
        </p:spPr>
        <p:txBody>
          <a:bodyPr wrap="square" lIns="0" tIns="0" rIns="0" bIns="0" rtlCol="0" anchor="ctr">
            <a:normAutofit/>
          </a:bodyPr>
          <a:lstStyle/>
          <a:p>
            <a:pPr algn="l" indent="0" marL="0">
              <a:buNone/>
            </a:pPr>
            <a:r>
              <a:rPr lang="en-US" sz="800" spc="40" kern="0" dirty="0">
                <a:solidFill>
                  <a:srgbClr val="63736D"/>
                </a:solidFill>
                <a:latin typeface="Aptos" pitchFamily="34" charset="0"/>
                <a:ea typeface="Aptos" pitchFamily="34" charset="-122"/>
                <a:cs typeface="Aptos" pitchFamily="34" charset="-120"/>
              </a:rPr>
              <a:t>AI CODE REVIEW AGENT  /  MENTOR DEMO</a:t>
            </a:r>
            <a:endParaRPr lang="en-US" sz="800" dirty="0"/>
          </a:p>
        </p:txBody>
      </p:sp>
      <p:sp>
        <p:nvSpPr>
          <p:cNvPr id="6" name="Text 4"/>
          <p:cNvSpPr txBox="1"/>
          <p:nvPr/>
        </p:nvSpPr>
        <p:spPr>
          <a:xfrm>
            <a:off x="11018520" y="6510528"/>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28715F"/>
                </a:solidFill>
                <a:latin typeface="Aptos" pitchFamily="34" charset="0"/>
                <a:ea typeface="Aptos" pitchFamily="34" charset="-122"/>
                <a:cs typeface="Aptos" pitchFamily="34" charset="-120"/>
              </a:rPr>
              <a:t>14</a:t>
            </a:r>
            <a:endParaRPr lang="en-US" sz="900" dirty="0"/>
          </a:p>
        </p:txBody>
      </p:sp>
      <p:sp>
        <p:nvSpPr>
          <p:cNvPr id="7" name="Shape 5"/>
          <p:cNvSpPr/>
          <p:nvPr/>
        </p:nvSpPr>
        <p:spPr>
          <a:xfrm>
            <a:off x="822960" y="1709928"/>
            <a:ext cx="5166360" cy="3593592"/>
          </a:xfrm>
          <a:prstGeom prst="roundRect">
            <a:avLst/>
          </a:prstGeom>
          <a:solidFill>
            <a:srgbClr val="142421"/>
          </a:solidFill>
          <a:ln w="12700">
            <a:solidFill>
              <a:srgbClr val="142421">
                <a:alpha val="0"/>
              </a:srgbClr>
            </a:solidFill>
            <a:prstDash val="solid"/>
          </a:ln>
        </p:spPr>
      </p:sp>
      <p:sp>
        <p:nvSpPr>
          <p:cNvPr id="8" name="Text 6"/>
          <p:cNvSpPr txBox="1"/>
          <p:nvPr/>
        </p:nvSpPr>
        <p:spPr>
          <a:xfrm>
            <a:off x="1161288" y="1993392"/>
            <a:ext cx="1097280" cy="530352"/>
          </a:xfrm>
          <a:prstGeom prst="rect">
            <a:avLst/>
          </a:prstGeom>
          <a:noFill/>
          <a:ln/>
        </p:spPr>
        <p:txBody>
          <a:bodyPr wrap="square" lIns="0" tIns="0" rIns="0" bIns="0" rtlCol="0" anchor="ctr">
            <a:normAutofit/>
          </a:bodyPr>
          <a:lstStyle/>
          <a:p>
            <a:pPr algn="l" indent="0" marL="0">
              <a:buNone/>
            </a:pPr>
            <a:r>
              <a:rPr lang="en-US" sz="3300" b="1" dirty="0">
                <a:solidFill>
                  <a:srgbClr val="C7ED65"/>
                </a:solidFill>
                <a:latin typeface="Aptos Display" pitchFamily="34" charset="0"/>
                <a:ea typeface="Aptos Display" pitchFamily="34" charset="-122"/>
                <a:cs typeface="Aptos Display" pitchFamily="34" charset="-120"/>
              </a:rPr>
              <a:t>P2</a:t>
            </a:r>
            <a:endParaRPr lang="en-US" sz="3300" dirty="0"/>
          </a:p>
        </p:txBody>
      </p:sp>
      <p:sp>
        <p:nvSpPr>
          <p:cNvPr id="9" name="Text 7"/>
          <p:cNvSpPr txBox="1"/>
          <p:nvPr/>
        </p:nvSpPr>
        <p:spPr>
          <a:xfrm>
            <a:off x="1161288" y="2670048"/>
            <a:ext cx="4297680" cy="566928"/>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Aptos" pitchFamily="34" charset="0"/>
                <a:ea typeface="Aptos" pitchFamily="34" charset="-122"/>
                <a:cs typeface="Aptos" pitchFamily="34" charset="-120"/>
              </a:rPr>
              <a:t>Make locations trustworthy</a:t>
            </a:r>
            <a:endParaRPr lang="en-US" sz="2100" dirty="0"/>
          </a:p>
        </p:txBody>
      </p:sp>
      <p:sp>
        <p:nvSpPr>
          <p:cNvPr id="10" name="Shape 8"/>
          <p:cNvSpPr/>
          <p:nvPr/>
        </p:nvSpPr>
        <p:spPr>
          <a:xfrm>
            <a:off x="1161288" y="3547872"/>
            <a:ext cx="82296" cy="82296"/>
          </a:xfrm>
          <a:prstGeom prst="ellipse">
            <a:avLst/>
          </a:prstGeom>
          <a:solidFill>
            <a:srgbClr val="C7ED65"/>
          </a:solidFill>
          <a:ln w="12700">
            <a:solidFill>
              <a:srgbClr val="C7ED65">
                <a:alpha val="0"/>
              </a:srgbClr>
            </a:solidFill>
            <a:prstDash val="solid"/>
          </a:ln>
        </p:spPr>
      </p:sp>
      <p:sp>
        <p:nvSpPr>
          <p:cNvPr id="11" name="Text 9"/>
          <p:cNvSpPr txBox="1"/>
          <p:nvPr/>
        </p:nvSpPr>
        <p:spPr>
          <a:xfrm>
            <a:off x="1362456" y="3474720"/>
            <a:ext cx="4114800" cy="246888"/>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Deterministic diff mapping</a:t>
            </a:r>
            <a:endParaRPr lang="en-US" sz="1500" dirty="0"/>
          </a:p>
        </p:txBody>
      </p:sp>
      <p:sp>
        <p:nvSpPr>
          <p:cNvPr id="12" name="Text 10"/>
          <p:cNvSpPr txBox="1"/>
          <p:nvPr/>
        </p:nvSpPr>
        <p:spPr>
          <a:xfrm>
            <a:off x="1362456" y="3776472"/>
            <a:ext cx="4114800" cy="438912"/>
          </a:xfrm>
          <a:prstGeom prst="rect">
            <a:avLst/>
          </a:prstGeom>
          <a:noFill/>
          <a:ln/>
        </p:spPr>
        <p:txBody>
          <a:bodyPr wrap="square" lIns="0" tIns="0" rIns="0" bIns="0" rtlCol="0" anchor="t">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Resolve findings against actual changed lines and GitHub diff positions.</a:t>
            </a:r>
            <a:endParaRPr lang="en-US" sz="1100" dirty="0"/>
          </a:p>
        </p:txBody>
      </p:sp>
      <p:sp>
        <p:nvSpPr>
          <p:cNvPr id="13" name="Shape 11"/>
          <p:cNvSpPr/>
          <p:nvPr/>
        </p:nvSpPr>
        <p:spPr>
          <a:xfrm>
            <a:off x="1161288" y="4489704"/>
            <a:ext cx="82296" cy="82296"/>
          </a:xfrm>
          <a:prstGeom prst="ellipse">
            <a:avLst/>
          </a:prstGeom>
          <a:solidFill>
            <a:srgbClr val="D36B56"/>
          </a:solidFill>
          <a:ln w="12700">
            <a:solidFill>
              <a:srgbClr val="D36B56">
                <a:alpha val="0"/>
              </a:srgbClr>
            </a:solidFill>
            <a:prstDash val="solid"/>
          </a:ln>
        </p:spPr>
      </p:sp>
      <p:sp>
        <p:nvSpPr>
          <p:cNvPr id="14" name="Text 12"/>
          <p:cNvSpPr txBox="1"/>
          <p:nvPr/>
        </p:nvSpPr>
        <p:spPr>
          <a:xfrm>
            <a:off x="1362456" y="4416552"/>
            <a:ext cx="4114800" cy="246888"/>
          </a:xfrm>
          <a:prstGeom prst="rect">
            <a:avLst/>
          </a:prstGeom>
          <a:noFill/>
          <a:ln/>
        </p:spPr>
        <p:txBody>
          <a:bodyPr wrap="square" lIns="0" tIns="0" rIns="0" bIns="0" rtlCol="0" anchor="ctr">
            <a:normAutofit/>
          </a:bodyPr>
          <a:lstStyle/>
          <a:p>
            <a:pPr algn="l" indent="0" marL="0">
              <a:buNone/>
            </a:pPr>
            <a:r>
              <a:rPr lang="en-US" sz="1500" b="1" dirty="0">
                <a:solidFill>
                  <a:srgbClr val="142421"/>
                </a:solidFill>
                <a:latin typeface="Aptos" pitchFamily="34" charset="0"/>
                <a:ea typeface="Aptos" pitchFamily="34" charset="-122"/>
                <a:cs typeface="Aptos" pitchFamily="34" charset="-120"/>
              </a:rPr>
              <a:t>Inline comments</a:t>
            </a:r>
            <a:endParaRPr lang="en-US" sz="1500" dirty="0"/>
          </a:p>
        </p:txBody>
      </p:sp>
      <p:sp>
        <p:nvSpPr>
          <p:cNvPr id="15" name="Text 13"/>
          <p:cNvSpPr txBox="1"/>
          <p:nvPr/>
        </p:nvSpPr>
        <p:spPr>
          <a:xfrm>
            <a:off x="1362456" y="4718304"/>
            <a:ext cx="4114800" cy="438912"/>
          </a:xfrm>
          <a:prstGeom prst="rect">
            <a:avLst/>
          </a:prstGeom>
          <a:noFill/>
          <a:ln/>
        </p:spPr>
        <p:txBody>
          <a:bodyPr wrap="square" lIns="0" tIns="0" rIns="0" bIns="0" rtlCol="0" anchor="t">
            <a:normAutofit/>
          </a:bodyPr>
          <a:lstStyle/>
          <a:p>
            <a:pPr algn="l" indent="0" marL="0">
              <a:buNone/>
            </a:pPr>
            <a:r>
              <a:rPr lang="en-US" sz="1100" dirty="0">
                <a:solidFill>
                  <a:srgbClr val="63736D"/>
                </a:solidFill>
                <a:latin typeface="Aptos" pitchFamily="34" charset="0"/>
                <a:ea typeface="Aptos" pitchFamily="34" charset="-122"/>
                <a:cs typeface="Aptos" pitchFamily="34" charset="-120"/>
              </a:rPr>
              <a:t>Post only when the file and line map to a valid changed location.</a:t>
            </a:r>
            <a:endParaRPr lang="en-US" sz="1100" dirty="0"/>
          </a:p>
        </p:txBody>
      </p:sp>
      <p:sp>
        <p:nvSpPr>
          <p:cNvPr id="16" name="Shape 14"/>
          <p:cNvSpPr/>
          <p:nvPr/>
        </p:nvSpPr>
        <p:spPr>
          <a:xfrm>
            <a:off x="6583680" y="2331720"/>
            <a:ext cx="4434840" cy="1856232"/>
          </a:xfrm>
          <a:prstGeom prst="roundRect">
            <a:avLst>
              <a:gd name="adj" fmla="val 3941"/>
            </a:avLst>
          </a:prstGeom>
          <a:solidFill>
            <a:srgbClr val="FFFFFF"/>
          </a:solidFill>
          <a:ln w="12700">
            <a:solidFill>
              <a:srgbClr val="D4DDD6"/>
            </a:solidFill>
            <a:prstDash val="solid"/>
          </a:ln>
        </p:spPr>
      </p:sp>
      <p:sp>
        <p:nvSpPr>
          <p:cNvPr id="17" name="Text 15"/>
          <p:cNvSpPr txBox="1"/>
          <p:nvPr/>
        </p:nvSpPr>
        <p:spPr>
          <a:xfrm>
            <a:off x="6729984" y="2423160"/>
            <a:ext cx="4142232" cy="164592"/>
          </a:xfrm>
          <a:prstGeom prst="rect">
            <a:avLst/>
          </a:prstGeom>
          <a:noFill/>
          <a:ln/>
        </p:spPr>
        <p:txBody>
          <a:bodyPr wrap="square" lIns="0" tIns="0" rIns="0" bIns="0" rtlCol="0" anchor="ctr">
            <a:normAutofit/>
          </a:bodyPr>
          <a:lstStyle/>
          <a:p>
            <a:pPr algn="l" indent="0" marL="0">
              <a:buNone/>
            </a:pPr>
            <a:r>
              <a:rPr lang="en-US" sz="900" b="1" dirty="0">
                <a:solidFill>
                  <a:srgbClr val="28715F"/>
                </a:solidFill>
                <a:latin typeface="Aptos" pitchFamily="34" charset="0"/>
                <a:ea typeface="Aptos" pitchFamily="34" charset="-122"/>
                <a:cs typeface="Aptos" pitchFamily="34" charset="-120"/>
              </a:rPr>
              <a:t>P2 ACCEPTANCE FOCUS</a:t>
            </a:r>
            <a:endParaRPr lang="en-US" sz="900" dirty="0"/>
          </a:p>
        </p:txBody>
      </p:sp>
      <p:sp>
        <p:nvSpPr>
          <p:cNvPr id="18" name="Text 16"/>
          <p:cNvSpPr txBox="1"/>
          <p:nvPr/>
        </p:nvSpPr>
        <p:spPr>
          <a:xfrm>
            <a:off x="6729984" y="2642616"/>
            <a:ext cx="4142232" cy="1563624"/>
          </a:xfrm>
          <a:prstGeom prst="rect">
            <a:avLst/>
          </a:prstGeom>
          <a:noFill/>
          <a:ln/>
        </p:spPr>
        <p:txBody>
          <a:bodyPr wrap="square" lIns="0" tIns="0" rIns="0" bIns="0" rtlCol="0" anchor="ctr">
            <a:normAutofit/>
          </a:bodyPr>
          <a:lstStyle/>
          <a:p>
            <a:pPr algn="l" indent="0" marL="0">
              <a:buNone/>
            </a:pPr>
            <a:r>
              <a:rPr lang="en-US" sz="1600" b="1" dirty="0">
                <a:solidFill>
                  <a:srgbClr val="142421"/>
                </a:solidFill>
                <a:latin typeface="Aptos" pitchFamily="34" charset="0"/>
                <a:ea typeface="Aptos" pitchFamily="34" charset="-122"/>
                <a:cs typeface="Aptos" pitchFamily="34" charset="-120"/>
              </a:rPr>
              <a:t>Validation before rollout</a:t>
            </a:r>
            <a:endParaRPr lang="en-US" sz="1600" dirty="0"/>
          </a:p>
        </p:txBody>
      </p:sp>
      <p:sp>
        <p:nvSpPr>
          <p:cNvPr id="19" name="Text 17"/>
          <p:cNvSpPr txBox="1"/>
          <p:nvPr/>
        </p:nvSpPr>
        <p:spPr>
          <a:xfrm>
            <a:off x="6729984" y="3035808"/>
            <a:ext cx="4142232" cy="1051560"/>
          </a:xfrm>
          <a:prstGeom prst="rect">
            <a:avLst/>
          </a:prstGeom>
          <a:noFill/>
          <a:ln/>
        </p:spPr>
        <p:txBody>
          <a:bodyPr wrap="square" lIns="0" tIns="0" rIns="0" bIns="0" rtlCol="0" anchor="t">
            <a:normAutofit/>
          </a:bodyPr>
          <a:lstStyle/>
          <a:p>
            <a:pPr algn="l" indent="0" marL="0">
              <a:lnSpc>
                <a:spcPct val="100000"/>
              </a:lnSpc>
              <a:buNone/>
            </a:pPr>
            <a:r>
              <a:rPr lang="en-US" sz="1200" dirty="0">
                <a:solidFill>
                  <a:srgbClr val="63736D"/>
                </a:solidFill>
                <a:latin typeface="Aptos" pitchFamily="34" charset="0"/>
                <a:ea typeface="Aptos" pitchFamily="34" charset="-122"/>
                <a:cs typeface="Aptos" pitchFamily="34" charset="-120"/>
              </a:rPr>
              <a:t>Cover added/deleted lines, multiple hunks, renames, invalid locations, and fallback summary behavior.</a:t>
            </a:r>
            <a:endParaRPr lang="en-US" sz="1200" dirty="0"/>
          </a:p>
        </p:txBody>
      </p:sp>
      <p:sp>
        <p:nvSpPr>
          <p:cNvPr id="20" name="Text 18"/>
          <p:cNvSpPr txBox="1"/>
          <p:nvPr/>
        </p:nvSpPr>
        <p:spPr>
          <a:xfrm>
            <a:off x="6611112" y="4590288"/>
            <a:ext cx="4389120" cy="347472"/>
          </a:xfrm>
          <a:prstGeom prst="rect">
            <a:avLst/>
          </a:prstGeom>
          <a:noFill/>
          <a:ln/>
        </p:spPr>
        <p:txBody>
          <a:bodyPr wrap="square" lIns="0" tIns="0" rIns="0" bIns="0" rtlCol="0" anchor="ctr">
            <a:normAutofit/>
          </a:bodyPr>
          <a:lstStyle/>
          <a:p>
            <a:pPr algn="l" indent="0" marL="0">
              <a:buNone/>
            </a:pPr>
            <a:r>
              <a:rPr lang="en-US" sz="1200" b="1" dirty="0">
                <a:solidFill>
                  <a:srgbClr val="D36B56"/>
                </a:solidFill>
                <a:latin typeface="Aptos" pitchFamily="34" charset="0"/>
                <a:ea typeface="Aptos" pitchFamily="34" charset="-122"/>
                <a:cs typeface="Aptos" pitchFamily="34" charset="-120"/>
              </a:rPr>
              <a:t>No P2 code is included in this P1 deliverable.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83D35"/>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C7ED65"/>
          </a:solidFill>
          <a:ln w="12700">
            <a:solidFill>
              <a:srgbClr val="C7ED65">
                <a:alpha val="0"/>
              </a:srgbClr>
            </a:solidFill>
            <a:prstDash val="solid"/>
          </a:ln>
        </p:spPr>
      </p:sp>
      <p:sp>
        <p:nvSpPr>
          <p:cNvPr id="3" name="Text 1"/>
          <p:cNvSpPr txBox="1"/>
          <p:nvPr/>
        </p:nvSpPr>
        <p:spPr>
          <a:xfrm>
            <a:off x="804672" y="685800"/>
            <a:ext cx="3200400" cy="219456"/>
          </a:xfrm>
          <a:prstGeom prst="rect">
            <a:avLst/>
          </a:prstGeom>
          <a:noFill/>
          <a:ln/>
        </p:spPr>
        <p:txBody>
          <a:bodyPr wrap="square" lIns="0" tIns="0" rIns="0" bIns="0" rtlCol="0" anchor="ctr">
            <a:normAutofit/>
          </a:bodyPr>
          <a:lstStyle/>
          <a:p>
            <a:pPr algn="l" indent="0" marL="0">
              <a:buNone/>
            </a:pPr>
            <a:r>
              <a:rPr lang="en-US" sz="1000" b="1" spc="80" kern="0" dirty="0">
                <a:solidFill>
                  <a:srgbClr val="C7ED65"/>
                </a:solidFill>
                <a:latin typeface="Aptos" pitchFamily="34" charset="0"/>
                <a:ea typeface="Aptos" pitchFamily="34" charset="-122"/>
                <a:cs typeface="Aptos" pitchFamily="34" charset="-120"/>
              </a:rPr>
              <a:t>CONCLUSION</a:t>
            </a:r>
            <a:endParaRPr lang="en-US" sz="1000" dirty="0"/>
          </a:p>
        </p:txBody>
      </p:sp>
      <p:sp>
        <p:nvSpPr>
          <p:cNvPr id="4" name="Text 2"/>
          <p:cNvSpPr txBox="1"/>
          <p:nvPr/>
        </p:nvSpPr>
        <p:spPr>
          <a:xfrm>
            <a:off x="804672" y="1316736"/>
            <a:ext cx="9875520" cy="1371600"/>
          </a:xfrm>
          <a:prstGeom prst="rect">
            <a:avLst/>
          </a:prstGeom>
          <a:noFill/>
          <a:ln/>
        </p:spPr>
        <p:txBody>
          <a:bodyPr wrap="square" lIns="0" tIns="0" rIns="0" bIns="0" rtlCol="0" anchor="t">
            <a:normAutofit/>
          </a:bodyPr>
          <a:lstStyle/>
          <a:p>
            <a:pPr algn="l" indent="0" marL="0">
              <a:buNone/>
            </a:pPr>
            <a:r>
              <a:rPr lang="en-US" sz="3200" b="1" dirty="0">
                <a:solidFill>
                  <a:srgbClr val="FFFFFF"/>
                </a:solidFill>
                <a:latin typeface="Aptos Display" pitchFamily="34" charset="0"/>
                <a:ea typeface="Aptos Display" pitchFamily="34" charset="-122"/>
                <a:cs typeface="Aptos Display" pitchFamily="34" charset="-120"/>
              </a:rPr>
              <a:t>A smaller operational footprint.</a:t>
            </a:r>
            <a:endParaRPr lang="en-US" sz="3200" dirty="0"/>
          </a:p>
          <a:p>
            <a:pPr algn="l" indent="0" marL="0">
              <a:buNone/>
            </a:pPr>
            <a:r>
              <a:rPr lang="en-US" sz="3200" b="1" dirty="0">
                <a:solidFill>
                  <a:srgbClr val="FFFFFF"/>
                </a:solidFill>
                <a:latin typeface="Aptos Display" pitchFamily="34" charset="0"/>
                <a:ea typeface="Aptos Display" pitchFamily="34" charset="-122"/>
                <a:cs typeface="Aptos Display" pitchFamily="34" charset="-120"/>
              </a:rPr>
              <a:t>A clearer next step.</a:t>
            </a:r>
            <a:endParaRPr lang="en-US" sz="3200" dirty="0"/>
          </a:p>
        </p:txBody>
      </p:sp>
      <p:sp>
        <p:nvSpPr>
          <p:cNvPr id="5" name="Text 3"/>
          <p:cNvSpPr txBox="1"/>
          <p:nvPr/>
        </p:nvSpPr>
        <p:spPr>
          <a:xfrm>
            <a:off x="822960" y="3127248"/>
            <a:ext cx="10424160" cy="420624"/>
          </a:xfrm>
          <a:prstGeom prst="rect">
            <a:avLst/>
          </a:prstGeom>
          <a:noFill/>
          <a:ln/>
        </p:spPr>
        <p:txBody>
          <a:bodyPr wrap="square" lIns="0" tIns="0" rIns="0" bIns="0" rtlCol="0" anchor="ctr">
            <a:normAutofit/>
          </a:bodyPr>
          <a:lstStyle/>
          <a:p>
            <a:pPr algn="l" indent="0" marL="0">
              <a:buNone/>
            </a:pPr>
            <a:r>
              <a:rPr lang="en-US" sz="1700" dirty="0">
                <a:solidFill>
                  <a:srgbClr val="D6E3DC"/>
                </a:solidFill>
                <a:latin typeface="Aptos" pitchFamily="34" charset="0"/>
                <a:ea typeface="Aptos" pitchFamily="34" charset="-122"/>
                <a:cs typeface="Aptos" pitchFamily="34" charset="-120"/>
              </a:rPr>
              <a:t>PR event  →  reusable workflow  →  central policy  →  validated advisory review</a:t>
            </a:r>
            <a:endParaRPr lang="en-US" sz="1700" dirty="0"/>
          </a:p>
        </p:txBody>
      </p:sp>
      <p:sp>
        <p:nvSpPr>
          <p:cNvPr id="6" name="Shape 4"/>
          <p:cNvSpPr/>
          <p:nvPr/>
        </p:nvSpPr>
        <p:spPr>
          <a:xfrm>
            <a:off x="832104" y="4142232"/>
            <a:ext cx="10149840" cy="914400"/>
          </a:xfrm>
          <a:prstGeom prst="roundRect">
            <a:avLst/>
          </a:prstGeom>
          <a:solidFill>
            <a:srgbClr val="245449"/>
          </a:solidFill>
          <a:ln w="12700">
            <a:solidFill>
              <a:srgbClr val="3F7162"/>
            </a:solidFill>
            <a:prstDash val="solid"/>
          </a:ln>
        </p:spPr>
      </p:sp>
      <p:sp>
        <p:nvSpPr>
          <p:cNvPr id="7" name="Text 5"/>
          <p:cNvSpPr txBox="1"/>
          <p:nvPr/>
        </p:nvSpPr>
        <p:spPr>
          <a:xfrm>
            <a:off x="1115568" y="4425696"/>
            <a:ext cx="9601200" cy="310896"/>
          </a:xfrm>
          <a:prstGeom prst="rect">
            <a:avLst/>
          </a:prstGeom>
          <a:noFill/>
          <a:ln/>
        </p:spPr>
        <p:txBody>
          <a:bodyPr wrap="square" lIns="0" tIns="0" rIns="0" bIns="0" rtlCol="0" anchor="ctr">
            <a:normAutofit/>
          </a:bodyPr>
          <a:lstStyle/>
          <a:p>
            <a:pPr algn="ctr" indent="0" marL="0">
              <a:buNone/>
            </a:pPr>
            <a:r>
              <a:rPr lang="en-US" sz="1600" b="1" dirty="0">
                <a:solidFill>
                  <a:srgbClr val="C7ED65"/>
                </a:solidFill>
                <a:latin typeface="Aptos" pitchFamily="34" charset="0"/>
                <a:ea typeface="Aptos" pitchFamily="34" charset="-122"/>
                <a:cs typeface="Aptos" pitchFamily="34" charset="-120"/>
              </a:rPr>
              <a:t>P1 establishes the path.  P2 makes finding locations deterministic.</a:t>
            </a:r>
            <a:endParaRPr lang="en-US" sz="1600" dirty="0"/>
          </a:p>
        </p:txBody>
      </p:sp>
      <p:sp>
        <p:nvSpPr>
          <p:cNvPr id="8" name="Text 6"/>
          <p:cNvSpPr txBox="1"/>
          <p:nvPr/>
        </p:nvSpPr>
        <p:spPr>
          <a:xfrm>
            <a:off x="850392" y="5733288"/>
            <a:ext cx="7406640" cy="274320"/>
          </a:xfrm>
          <a:prstGeom prst="rect">
            <a:avLst/>
          </a:prstGeom>
          <a:noFill/>
          <a:ln/>
        </p:spPr>
        <p:txBody>
          <a:bodyPr wrap="square" lIns="0" tIns="0" rIns="0" bIns="0" rtlCol="0" anchor="ctr">
            <a:normAutofit/>
          </a:bodyPr>
          <a:lstStyle/>
          <a:p>
            <a:pPr algn="l" indent="0" marL="0">
              <a:buNone/>
            </a:pPr>
            <a:r>
              <a:rPr lang="en-US" sz="1200" dirty="0">
                <a:solidFill>
                  <a:srgbClr val="FFFFFF"/>
                </a:solidFill>
                <a:latin typeface="Aptos" pitchFamily="34" charset="0"/>
                <a:ea typeface="Aptos" pitchFamily="34" charset="-122"/>
                <a:cs typeface="Aptos" pitchFamily="34" charset="-120"/>
              </a:rPr>
              <a:t>AI findings remain advisory; human approval is required.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Code Review Agent: GitHub Actions Migration</dc:title>
  <dc:subject>P1 GitHub Actions migration for AI-assisted pull request review</dc:subject>
  <dc:creator>AI Code Review Agent POC</dc:creator>
  <cp:lastModifiedBy>AI Code Review Agent POC</cp:lastModifiedBy>
  <cp:revision>1</cp:revision>
  <dcterms:created xsi:type="dcterms:W3CDTF">2026-10-05T06:36:03Z</dcterms:created>
  <dcterms:modified xsi:type="dcterms:W3CDTF">2026-10-05T06:36:03Z</dcterms:modified>
</cp:coreProperties>
</file>