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purpose and scope: this is a reusable, event-driven first-pass PR reviewer. GitHub Actions runs the workflow, the official GitHub MCP Server handles GitHub reads and review publishing, and Capgemini Generative Engine is the separate HTTP inference service. P1 and P2 are complete; P3 is roadmap. Human approval remains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need as consistent first-pass coverage, not a claim that AI is more accurate than people. The policy considers security, architecture, logical correctness, performance, testing, and maintainability. The objective is to assist reviewers with evidence-based feedback; the human remains responsible for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responsibility boundaries. The consumer PR event invokes GitHub Actions and a reusable central workflow. The reviewer reads through the GitHub MCP Server, filters and bounds the diff, calls GEP over HTTP, validates JSON and candidate locations, and uses MCP to publish a pending COMMENT review. The human reviewer is the final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only selected and bounded PR diff text is sent. The unified-diff parser creates new-file line numbers for added lines. The model may propose a location, but the application independently validates the file and line against the map made from the bounded diff. Invalid, absent, truncated-away, or deletion-side locations remain summary-only.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of the output rather than a fabricated screenshot: overall risk, severity counts, file/line when validated, issue, recommendation, suggested fix, and merge guidance. The pending MCP review collects the enterprise summary and eligible inline comments into one COMMENT review. Findings without valid added-line locations stay in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live evidence: ai-code-review-demo and Spring-petclinic validated the reusable Actions, MCP read/write, GEP, Pydantic, summary, and inline flow. Python, Java, and JavaScript changes were reviewed through the generic path. Rename-only, metadata-only, and zero-effective-change revisions were exercised. This is not evidence that dedicated compilers or linters run, nor production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status. P1 is complete: Actions, reuse, multiple repositories, lifecycle triggers, configuration, and MCP reads. P2 is complete: summary, deterministic added-line validation, inline comments, and MCP pending-review publication. P3 is not implemented; stable identities, deduplication, cross-commit finding state, and thread lifecycle are roadmap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the live sequence: (1) show the Pull Request; (2) push one controlled commit; (3) show the GitHub Action starting automatically; (4) show MCP retrieving changes; (5) show AI/GEP analysis; (6) show Pydantic and deterministic location validation; (7) show MCP review publishing; (8) refresh the Pull Request; (9) show the enterprise summary; (10) show inline comments; (11) fix one detected issue; (12) push another commit; (13) explain synchronize and re-review against the current diff; (14) mention duplicate/thread lifecycle as P3 roadmap. Close by stating that AI accelerates first-pass review while human reviewers retain final engineering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p:cSld name="Slide 1">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969DA"/>
          </a:solidFill>
          <a:ln w="12700">
            <a:solidFill>
              <a:srgbClr val="0969DA">
                <a:alpha val="0"/>
              </a:srgbClr>
            </a:solidFill>
            <a:prstDash val="solid"/>
          </a:ln>
        </p:spPr>
      </p:sp>
      <p:sp>
        <p:nvSpPr>
          <p:cNvPr id="3" name="Text 1"/>
          <p:cNvSpPr/>
          <p:nvPr/>
        </p:nvSpPr>
        <p:spPr>
          <a:xfrm>
            <a:off x="694944" y="621792"/>
            <a:ext cx="6217920" cy="182880"/>
          </a:xfrm>
          <a:prstGeom prst="rect">
            <a:avLst/>
          </a:prstGeom>
          <a:noFill/>
          <a:ln/>
        </p:spPr>
        <p:txBody>
          <a:bodyPr wrap="square" lIns="0" tIns="0" rIns="0" bIns="0" rtlCol="0" anchor="ctr">
            <a:normAutofit/>
          </a:bodyPr>
          <a:lstStyle/>
          <a:p>
            <a:pPr algn="l" indent="0" marL="0">
              <a:lnSpc>
                <a:spcPct val="100000"/>
              </a:lnSpc>
              <a:buNone/>
            </a:pPr>
            <a:r>
              <a:rPr lang="en-US" sz="1000" b="1" spc="100" kern="0" dirty="0">
                <a:solidFill>
                  <a:srgbClr val="54A6FF"/>
                </a:solidFill>
                <a:latin typeface="Aptos" pitchFamily="34" charset="0"/>
                <a:ea typeface="Aptos" pitchFamily="34" charset="-122"/>
                <a:cs typeface="Aptos" pitchFamily="34" charset="-120"/>
              </a:rPr>
              <a:t>ENGINEERING ENABLEMENT  /  MENTOR DEMO</a:t>
            </a:r>
            <a:endParaRPr lang="en-US" sz="1000" dirty="0"/>
          </a:p>
        </p:txBody>
      </p:sp>
      <p:sp>
        <p:nvSpPr>
          <p:cNvPr id="4" name="Text 2"/>
          <p:cNvSpPr/>
          <p:nvPr/>
        </p:nvSpPr>
        <p:spPr>
          <a:xfrm>
            <a:off x="694944" y="1170432"/>
            <a:ext cx="5669280" cy="685800"/>
          </a:xfrm>
          <a:prstGeom prst="rect">
            <a:avLst/>
          </a:prstGeom>
          <a:noFill/>
          <a:ln/>
        </p:spPr>
        <p:txBody>
          <a:bodyPr wrap="square" lIns="0" tIns="0" rIns="0" bIns="0" rtlCol="0" anchor="ctr">
            <a:normAutofit/>
          </a:bodyPr>
          <a:lstStyle/>
          <a:p>
            <a:pPr algn="l" indent="0" marL="0">
              <a:lnSpc>
                <a:spcPct val="100000"/>
              </a:lnSpc>
              <a:buNone/>
            </a:pPr>
            <a:r>
              <a:rPr lang="en-US" sz="3600" b="1" dirty="0">
                <a:solidFill>
                  <a:srgbClr val="FFFFFF"/>
                </a:solidFill>
                <a:latin typeface="Aptos Display" pitchFamily="34" charset="0"/>
                <a:ea typeface="Aptos Display" pitchFamily="34" charset="-122"/>
                <a:cs typeface="Aptos Display" pitchFamily="34" charset="-120"/>
              </a:rPr>
              <a:t>AI Code Review Agent</a:t>
            </a:r>
            <a:endParaRPr lang="en-US" sz="3600" dirty="0"/>
          </a:p>
        </p:txBody>
      </p:sp>
      <p:sp>
        <p:nvSpPr>
          <p:cNvPr id="5" name="Text 3"/>
          <p:cNvSpPr/>
          <p:nvPr/>
        </p:nvSpPr>
        <p:spPr>
          <a:xfrm>
            <a:off x="722376" y="1947672"/>
            <a:ext cx="5486400" cy="841248"/>
          </a:xfrm>
          <a:prstGeom prst="rect">
            <a:avLst/>
          </a:prstGeom>
          <a:noFill/>
          <a:ln/>
        </p:spPr>
        <p:txBody>
          <a:bodyPr wrap="square" lIns="0" tIns="0" rIns="0" bIns="0" rtlCol="0" anchor="t">
            <a:normAutofit/>
          </a:bodyPr>
          <a:lstStyle/>
          <a:p>
            <a:pPr algn="l" indent="0" marL="0">
              <a:lnSpc>
                <a:spcPct val="100000"/>
              </a:lnSpc>
              <a:buNone/>
            </a:pPr>
            <a:r>
              <a:rPr lang="en-US" sz="2000" dirty="0">
                <a:solidFill>
                  <a:srgbClr val="D4E0F1"/>
                </a:solidFill>
                <a:latin typeface="Aptos" pitchFamily="34" charset="0"/>
                <a:ea typeface="Aptos" pitchFamily="34" charset="-122"/>
                <a:cs typeface="Aptos" pitchFamily="34" charset="-120"/>
              </a:rPr>
              <a:t>Automated Pull Request Review with</a:t>
            </a:r>
            <a:endParaRPr lang="en-US" sz="2000" dirty="0"/>
          </a:p>
          <a:p>
            <a:pPr algn="l" indent="0" marL="0">
              <a:lnSpc>
                <a:spcPct val="100000"/>
              </a:lnSpc>
              <a:buNone/>
            </a:pPr>
            <a:r>
              <a:rPr lang="en-US" sz="2000" dirty="0">
                <a:solidFill>
                  <a:srgbClr val="D4E0F1"/>
                </a:solidFill>
                <a:latin typeface="Aptos" pitchFamily="34" charset="0"/>
                <a:ea typeface="Aptos" pitchFamily="34" charset="-122"/>
                <a:cs typeface="Aptos" pitchFamily="34" charset="-120"/>
              </a:rPr>
              <a:t>GitHub Actions, GitHub MCP and Generative AI</a:t>
            </a:r>
            <a:endParaRPr lang="en-US" sz="2000" dirty="0"/>
          </a:p>
        </p:txBody>
      </p:sp>
      <p:sp>
        <p:nvSpPr>
          <p:cNvPr id="6" name="Shape 4"/>
          <p:cNvSpPr/>
          <p:nvPr/>
        </p:nvSpPr>
        <p:spPr>
          <a:xfrm>
            <a:off x="722376" y="3182112"/>
            <a:ext cx="1307592" cy="310896"/>
          </a:xfrm>
          <a:prstGeom prst="roundRect">
            <a:avLst>
              <a:gd name="adj" fmla="val 17647"/>
            </a:avLst>
          </a:prstGeom>
          <a:solidFill>
            <a:srgbClr val="132544"/>
          </a:solidFill>
          <a:ln w="12700">
            <a:solidFill>
              <a:srgbClr val="132544">
                <a:alpha val="0"/>
              </a:srgbClr>
            </a:solidFill>
            <a:prstDash val="solid"/>
          </a:ln>
        </p:spPr>
      </p:sp>
      <p:sp>
        <p:nvSpPr>
          <p:cNvPr id="7" name="Text 5"/>
          <p:cNvSpPr/>
          <p:nvPr/>
        </p:nvSpPr>
        <p:spPr>
          <a:xfrm>
            <a:off x="813816" y="3214116"/>
            <a:ext cx="1124712"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GitHub Actions</a:t>
            </a:r>
            <a:endParaRPr lang="en-US" sz="900" dirty="0"/>
          </a:p>
        </p:txBody>
      </p:sp>
      <p:sp>
        <p:nvSpPr>
          <p:cNvPr id="8" name="Shape 6"/>
          <p:cNvSpPr/>
          <p:nvPr/>
        </p:nvSpPr>
        <p:spPr>
          <a:xfrm>
            <a:off x="2130552" y="3182112"/>
            <a:ext cx="1078992" cy="310896"/>
          </a:xfrm>
          <a:prstGeom prst="roundRect">
            <a:avLst>
              <a:gd name="adj" fmla="val 17647"/>
            </a:avLst>
          </a:prstGeom>
          <a:solidFill>
            <a:srgbClr val="132544"/>
          </a:solidFill>
          <a:ln w="12700">
            <a:solidFill>
              <a:srgbClr val="132544">
                <a:alpha val="0"/>
              </a:srgbClr>
            </a:solidFill>
            <a:prstDash val="solid"/>
          </a:ln>
        </p:spPr>
      </p:sp>
      <p:sp>
        <p:nvSpPr>
          <p:cNvPr id="9" name="Text 7"/>
          <p:cNvSpPr/>
          <p:nvPr/>
        </p:nvSpPr>
        <p:spPr>
          <a:xfrm>
            <a:off x="2221992" y="3214116"/>
            <a:ext cx="896112"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GitHub MCP</a:t>
            </a:r>
            <a:endParaRPr lang="en-US" sz="900" dirty="0"/>
          </a:p>
        </p:txBody>
      </p:sp>
      <p:sp>
        <p:nvSpPr>
          <p:cNvPr id="10" name="Shape 8"/>
          <p:cNvSpPr/>
          <p:nvPr/>
        </p:nvSpPr>
        <p:spPr>
          <a:xfrm>
            <a:off x="3310128" y="3182112"/>
            <a:ext cx="1828800" cy="310896"/>
          </a:xfrm>
          <a:prstGeom prst="roundRect">
            <a:avLst>
              <a:gd name="adj" fmla="val 17647"/>
            </a:avLst>
          </a:prstGeom>
          <a:solidFill>
            <a:srgbClr val="132544"/>
          </a:solidFill>
          <a:ln w="12700">
            <a:solidFill>
              <a:srgbClr val="132544">
                <a:alpha val="0"/>
              </a:srgbClr>
            </a:solidFill>
            <a:prstDash val="solid"/>
          </a:ln>
        </p:spPr>
      </p:sp>
      <p:sp>
        <p:nvSpPr>
          <p:cNvPr id="11" name="Text 9"/>
          <p:cNvSpPr/>
          <p:nvPr/>
        </p:nvSpPr>
        <p:spPr>
          <a:xfrm>
            <a:off x="3401568" y="3214116"/>
            <a:ext cx="1645920"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Capgemini Generative Engine</a:t>
            </a:r>
            <a:endParaRPr lang="en-US" sz="900" dirty="0"/>
          </a:p>
        </p:txBody>
      </p:sp>
      <p:sp>
        <p:nvSpPr>
          <p:cNvPr id="12" name="Shape 10"/>
          <p:cNvSpPr/>
          <p:nvPr/>
        </p:nvSpPr>
        <p:spPr>
          <a:xfrm>
            <a:off x="5239512" y="3182112"/>
            <a:ext cx="1371600" cy="310896"/>
          </a:xfrm>
          <a:prstGeom prst="roundRect">
            <a:avLst>
              <a:gd name="adj" fmla="val 17647"/>
            </a:avLst>
          </a:prstGeom>
          <a:solidFill>
            <a:srgbClr val="132544"/>
          </a:solidFill>
          <a:ln w="12700">
            <a:solidFill>
              <a:srgbClr val="132544">
                <a:alpha val="0"/>
              </a:srgbClr>
            </a:solidFill>
            <a:prstDash val="solid"/>
          </a:ln>
        </p:spPr>
      </p:sp>
      <p:sp>
        <p:nvSpPr>
          <p:cNvPr id="13" name="Text 11"/>
          <p:cNvSpPr/>
          <p:nvPr/>
        </p:nvSpPr>
        <p:spPr>
          <a:xfrm>
            <a:off x="5330952" y="3214116"/>
            <a:ext cx="1188720"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Human-in-the-loop</a:t>
            </a:r>
            <a:endParaRPr lang="en-US" sz="900" dirty="0"/>
          </a:p>
        </p:txBody>
      </p:sp>
      <p:sp>
        <p:nvSpPr>
          <p:cNvPr id="14" name="Text 12"/>
          <p:cNvSpPr/>
          <p:nvPr/>
        </p:nvSpPr>
        <p:spPr>
          <a:xfrm>
            <a:off x="731520" y="3913632"/>
            <a:ext cx="5394960" cy="338328"/>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54A6FF"/>
                </a:solidFill>
                <a:latin typeface="Aptos" pitchFamily="34" charset="0"/>
                <a:ea typeface="Aptos" pitchFamily="34" charset="-122"/>
                <a:cs typeface="Aptos" pitchFamily="34" charset="-120"/>
              </a:rPr>
              <a:t>First-pass review. Evidence-bound feedback. Human decision.</a:t>
            </a:r>
            <a:endParaRPr lang="en-US" sz="1300" dirty="0"/>
          </a:p>
        </p:txBody>
      </p:sp>
      <p:sp>
        <p:nvSpPr>
          <p:cNvPr id="15" name="Text 13"/>
          <p:cNvSpPr/>
          <p:nvPr/>
        </p:nvSpPr>
        <p:spPr>
          <a:xfrm>
            <a:off x="731520" y="6181344"/>
            <a:ext cx="5760720" cy="182880"/>
          </a:xfrm>
          <a:prstGeom prst="rect">
            <a:avLst/>
          </a:prstGeom>
          <a:noFill/>
          <a:ln/>
        </p:spPr>
        <p:txBody>
          <a:bodyPr wrap="square" lIns="0" tIns="0" rIns="0" bIns="0" rtlCol="0" anchor="ctr">
            <a:normAutofit/>
          </a:bodyPr>
          <a:lstStyle/>
          <a:p>
            <a:pPr algn="l" indent="0" marL="0">
              <a:lnSpc>
                <a:spcPct val="100000"/>
              </a:lnSpc>
              <a:buNone/>
            </a:pPr>
            <a:r>
              <a:rPr lang="en-US" sz="900" b="1" spc="45" kern="0" dirty="0">
                <a:solidFill>
                  <a:srgbClr val="AFC0D6"/>
                </a:solidFill>
                <a:latin typeface="Aptos" pitchFamily="34" charset="0"/>
                <a:ea typeface="Aptos" pitchFamily="34" charset="-122"/>
                <a:cs typeface="Aptos" pitchFamily="34" charset="-120"/>
              </a:rPr>
              <a:t>P1 COMPLETE  ·  P2 COMPLETE  ·  P3 ROADMAP</a:t>
            </a:r>
            <a:endParaRPr lang="en-US" sz="900" dirty="0"/>
          </a:p>
        </p:txBody>
      </p:sp>
      <p:sp>
        <p:nvSpPr>
          <p:cNvPr id="16" name="Shape 14"/>
          <p:cNvSpPr/>
          <p:nvPr/>
        </p:nvSpPr>
        <p:spPr>
          <a:xfrm>
            <a:off x="6675120" y="1005840"/>
            <a:ext cx="4754880" cy="4800600"/>
          </a:xfrm>
          <a:prstGeom prst="roundRect">
            <a:avLst>
              <a:gd name="adj" fmla="val 1923"/>
            </a:avLst>
          </a:prstGeom>
          <a:solidFill>
            <a:srgbClr val="132544"/>
          </a:solidFill>
          <a:ln w="15240">
            <a:solidFill>
              <a:srgbClr val="294263"/>
            </a:solidFill>
            <a:prstDash val="solid"/>
          </a:ln>
        </p:spPr>
      </p:sp>
      <p:sp>
        <p:nvSpPr>
          <p:cNvPr id="17" name="Text 15"/>
          <p:cNvSpPr/>
          <p:nvPr/>
        </p:nvSpPr>
        <p:spPr>
          <a:xfrm>
            <a:off x="6995160" y="1335024"/>
            <a:ext cx="4096512" cy="201168"/>
          </a:xfrm>
          <a:prstGeom prst="rect">
            <a:avLst/>
          </a:prstGeom>
          <a:noFill/>
          <a:ln/>
        </p:spPr>
        <p:txBody>
          <a:bodyPr wrap="square" lIns="0" tIns="0" rIns="0" bIns="0" rtlCol="0" anchor="ctr">
            <a:normAutofit/>
          </a:bodyPr>
          <a:lstStyle/>
          <a:p>
            <a:pPr algn="ctr" indent="0" marL="0">
              <a:lnSpc>
                <a:spcPct val="100000"/>
              </a:lnSpc>
              <a:buNone/>
            </a:pPr>
            <a:r>
              <a:rPr lang="en-US" sz="1000" b="1" spc="60" kern="0" dirty="0">
                <a:solidFill>
                  <a:srgbClr val="54A6FF"/>
                </a:solidFill>
                <a:latin typeface="Aptos" pitchFamily="34" charset="0"/>
                <a:ea typeface="Aptos" pitchFamily="34" charset="-122"/>
                <a:cs typeface="Aptos" pitchFamily="34" charset="-120"/>
              </a:rPr>
              <a:t>PULL REQUEST  →  REVIEW</a:t>
            </a:r>
            <a:endParaRPr lang="en-US" sz="1000" dirty="0"/>
          </a:p>
        </p:txBody>
      </p:sp>
      <p:sp>
        <p:nvSpPr>
          <p:cNvPr id="18" name="Shape 16"/>
          <p:cNvSpPr/>
          <p:nvPr/>
        </p:nvSpPr>
        <p:spPr>
          <a:xfrm>
            <a:off x="7022592" y="1993392"/>
            <a:ext cx="1691640" cy="841248"/>
          </a:xfrm>
          <a:prstGeom prst="roundRect">
            <a:avLst>
              <a:gd name="adj" fmla="val 8696"/>
            </a:avLst>
          </a:prstGeom>
          <a:solidFill>
            <a:srgbClr val="1B3458"/>
          </a:solidFill>
          <a:ln w="15240">
            <a:solidFill>
              <a:srgbClr val="345173"/>
            </a:solidFill>
            <a:prstDash val="solid"/>
          </a:ln>
        </p:spPr>
      </p:sp>
      <p:sp>
        <p:nvSpPr>
          <p:cNvPr id="19" name="Text 17"/>
          <p:cNvSpPr/>
          <p:nvPr/>
        </p:nvSpPr>
        <p:spPr>
          <a:xfrm>
            <a:off x="7132320" y="2139696"/>
            <a:ext cx="1472184" cy="22860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PR event</a:t>
            </a:r>
            <a:endParaRPr lang="en-US" sz="1300" dirty="0"/>
          </a:p>
        </p:txBody>
      </p:sp>
      <p:sp>
        <p:nvSpPr>
          <p:cNvPr id="20" name="Text 18"/>
          <p:cNvSpPr/>
          <p:nvPr/>
        </p:nvSpPr>
        <p:spPr>
          <a:xfrm>
            <a:off x="7095744" y="2450592"/>
            <a:ext cx="1545336" cy="182880"/>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6C6DB"/>
                </a:solidFill>
                <a:latin typeface="Aptos" pitchFamily="34" charset="0"/>
                <a:ea typeface="Aptos" pitchFamily="34" charset="-122"/>
                <a:cs typeface="Aptos" pitchFamily="34" charset="-120"/>
              </a:rPr>
              <a:t>opened · reopened · sync</a:t>
            </a:r>
            <a:endParaRPr lang="en-US" sz="800" dirty="0"/>
          </a:p>
        </p:txBody>
      </p:sp>
      <p:sp>
        <p:nvSpPr>
          <p:cNvPr id="21" name="Shape 19"/>
          <p:cNvSpPr/>
          <p:nvPr/>
        </p:nvSpPr>
        <p:spPr>
          <a:xfrm>
            <a:off x="9372600" y="1993392"/>
            <a:ext cx="1691640" cy="841248"/>
          </a:xfrm>
          <a:prstGeom prst="roundRect">
            <a:avLst>
              <a:gd name="adj" fmla="val 8696"/>
            </a:avLst>
          </a:prstGeom>
          <a:solidFill>
            <a:srgbClr val="1B3458"/>
          </a:solidFill>
          <a:ln w="15240">
            <a:solidFill>
              <a:srgbClr val="0969DA"/>
            </a:solidFill>
            <a:prstDash val="solid"/>
          </a:ln>
        </p:spPr>
      </p:sp>
      <p:sp>
        <p:nvSpPr>
          <p:cNvPr id="22" name="Text 20"/>
          <p:cNvSpPr/>
          <p:nvPr/>
        </p:nvSpPr>
        <p:spPr>
          <a:xfrm>
            <a:off x="9482328" y="2139696"/>
            <a:ext cx="1472184" cy="22860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Actions</a:t>
            </a:r>
            <a:endParaRPr lang="en-US" sz="1300" dirty="0"/>
          </a:p>
        </p:txBody>
      </p:sp>
      <p:sp>
        <p:nvSpPr>
          <p:cNvPr id="23" name="Text 21"/>
          <p:cNvSpPr/>
          <p:nvPr/>
        </p:nvSpPr>
        <p:spPr>
          <a:xfrm>
            <a:off x="9445752" y="2450592"/>
            <a:ext cx="1545336" cy="182880"/>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6C6DB"/>
                </a:solidFill>
                <a:latin typeface="Aptos" pitchFamily="34" charset="0"/>
                <a:ea typeface="Aptos" pitchFamily="34" charset="-122"/>
                <a:cs typeface="Aptos" pitchFamily="34" charset="-120"/>
              </a:rPr>
              <a:t>reusable workflow</a:t>
            </a:r>
            <a:endParaRPr lang="en-US" sz="800" dirty="0"/>
          </a:p>
        </p:txBody>
      </p:sp>
      <p:sp>
        <p:nvSpPr>
          <p:cNvPr id="24" name="Shape 22"/>
          <p:cNvSpPr/>
          <p:nvPr/>
        </p:nvSpPr>
        <p:spPr>
          <a:xfrm>
            <a:off x="9372600" y="3776472"/>
            <a:ext cx="1691640" cy="841248"/>
          </a:xfrm>
          <a:prstGeom prst="roundRect">
            <a:avLst>
              <a:gd name="adj" fmla="val 8696"/>
            </a:avLst>
          </a:prstGeom>
          <a:solidFill>
            <a:srgbClr val="1B3458"/>
          </a:solidFill>
          <a:ln w="15240">
            <a:solidFill>
              <a:srgbClr val="0969DA"/>
            </a:solidFill>
            <a:prstDash val="solid"/>
          </a:ln>
        </p:spPr>
      </p:sp>
      <p:sp>
        <p:nvSpPr>
          <p:cNvPr id="25" name="Text 23"/>
          <p:cNvSpPr/>
          <p:nvPr/>
        </p:nvSpPr>
        <p:spPr>
          <a:xfrm>
            <a:off x="9482328" y="3922776"/>
            <a:ext cx="1472184" cy="22860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MCP + AI</a:t>
            </a:r>
            <a:endParaRPr lang="en-US" sz="1300" dirty="0"/>
          </a:p>
        </p:txBody>
      </p:sp>
      <p:sp>
        <p:nvSpPr>
          <p:cNvPr id="26" name="Text 24"/>
          <p:cNvSpPr/>
          <p:nvPr/>
        </p:nvSpPr>
        <p:spPr>
          <a:xfrm>
            <a:off x="9445752" y="4233672"/>
            <a:ext cx="1545336" cy="182880"/>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6C6DB"/>
                </a:solidFill>
                <a:latin typeface="Aptos" pitchFamily="34" charset="0"/>
                <a:ea typeface="Aptos" pitchFamily="34" charset="-122"/>
                <a:cs typeface="Aptos" pitchFamily="34" charset="-120"/>
              </a:rPr>
              <a:t>read · reason · publish</a:t>
            </a:r>
            <a:endParaRPr lang="en-US" sz="800" dirty="0"/>
          </a:p>
        </p:txBody>
      </p:sp>
      <p:sp>
        <p:nvSpPr>
          <p:cNvPr id="27" name="Shape 25"/>
          <p:cNvSpPr/>
          <p:nvPr/>
        </p:nvSpPr>
        <p:spPr>
          <a:xfrm>
            <a:off x="7022592" y="3776472"/>
            <a:ext cx="1691640" cy="841248"/>
          </a:xfrm>
          <a:prstGeom prst="roundRect">
            <a:avLst>
              <a:gd name="adj" fmla="val 8696"/>
            </a:avLst>
          </a:prstGeom>
          <a:solidFill>
            <a:srgbClr val="1B3458"/>
          </a:solidFill>
          <a:ln w="15240">
            <a:solidFill>
              <a:srgbClr val="345173"/>
            </a:solidFill>
            <a:prstDash val="solid"/>
          </a:ln>
        </p:spPr>
      </p:sp>
      <p:sp>
        <p:nvSpPr>
          <p:cNvPr id="28" name="Text 26"/>
          <p:cNvSpPr/>
          <p:nvPr/>
        </p:nvSpPr>
        <p:spPr>
          <a:xfrm>
            <a:off x="7132320" y="3922776"/>
            <a:ext cx="1472184" cy="22860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Review</a:t>
            </a:r>
            <a:endParaRPr lang="en-US" sz="1300" dirty="0"/>
          </a:p>
        </p:txBody>
      </p:sp>
      <p:sp>
        <p:nvSpPr>
          <p:cNvPr id="29" name="Text 27"/>
          <p:cNvSpPr/>
          <p:nvPr/>
        </p:nvSpPr>
        <p:spPr>
          <a:xfrm>
            <a:off x="7095744" y="4233672"/>
            <a:ext cx="1545336" cy="182880"/>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6C6DB"/>
                </a:solidFill>
                <a:latin typeface="Aptos" pitchFamily="34" charset="0"/>
                <a:ea typeface="Aptos" pitchFamily="34" charset="-122"/>
                <a:cs typeface="Aptos" pitchFamily="34" charset="-120"/>
              </a:rPr>
              <a:t>summary + validated lines</a:t>
            </a:r>
            <a:endParaRPr lang="en-US" sz="800" dirty="0"/>
          </a:p>
        </p:txBody>
      </p:sp>
      <p:sp>
        <p:nvSpPr>
          <p:cNvPr id="30" name="Shape 28"/>
          <p:cNvSpPr/>
          <p:nvPr/>
        </p:nvSpPr>
        <p:spPr>
          <a:xfrm>
            <a:off x="8741664" y="2414016"/>
            <a:ext cx="530352" cy="0"/>
          </a:xfrm>
          <a:prstGeom prst="line">
            <a:avLst/>
          </a:prstGeom>
          <a:noFill/>
          <a:ln w="25400">
            <a:solidFill>
              <a:srgbClr val="54A6FF"/>
            </a:solidFill>
            <a:prstDash val="solid"/>
            <a:tailEnd type="triangle"/>
          </a:ln>
        </p:spPr>
      </p:sp>
      <p:sp>
        <p:nvSpPr>
          <p:cNvPr id="31" name="Shape 29"/>
          <p:cNvSpPr/>
          <p:nvPr/>
        </p:nvSpPr>
        <p:spPr>
          <a:xfrm>
            <a:off x="10213848" y="2871216"/>
            <a:ext cx="0" cy="813816"/>
          </a:xfrm>
          <a:prstGeom prst="line">
            <a:avLst/>
          </a:prstGeom>
          <a:noFill/>
          <a:ln w="25400">
            <a:solidFill>
              <a:srgbClr val="54A6FF"/>
            </a:solidFill>
            <a:prstDash val="solid"/>
            <a:tailEnd type="triangle"/>
          </a:ln>
        </p:spPr>
      </p:sp>
      <p:sp>
        <p:nvSpPr>
          <p:cNvPr id="32" name="Shape 30"/>
          <p:cNvSpPr/>
          <p:nvPr/>
        </p:nvSpPr>
        <p:spPr>
          <a:xfrm>
            <a:off x="9272016" y="4197096"/>
            <a:ext cx="-530352" cy="0"/>
          </a:xfrm>
          <a:prstGeom prst="line">
            <a:avLst/>
          </a:prstGeom>
          <a:noFill/>
          <a:ln w="25400">
            <a:solidFill>
              <a:srgbClr val="54A6FF"/>
            </a:solidFill>
            <a:prstDash val="solid"/>
            <a:tailEnd type="triangle"/>
          </a:ln>
        </p:spPr>
      </p:sp>
      <p:sp>
        <p:nvSpPr>
          <p:cNvPr id="33" name="Shape 31"/>
          <p:cNvSpPr/>
          <p:nvPr/>
        </p:nvSpPr>
        <p:spPr>
          <a:xfrm>
            <a:off x="7854696" y="3685032"/>
            <a:ext cx="0" cy="-813816"/>
          </a:xfrm>
          <a:prstGeom prst="line">
            <a:avLst/>
          </a:prstGeom>
          <a:noFill/>
          <a:ln w="25400">
            <a:solidFill>
              <a:srgbClr val="54A6FF"/>
            </a:solidFill>
            <a:prstDash val="solid"/>
            <a:tailEnd type="triangle"/>
          </a:ln>
        </p:spPr>
      </p:sp>
      <p:sp>
        <p:nvSpPr>
          <p:cNvPr id="34" name="Text 32"/>
          <p:cNvSpPr/>
          <p:nvPr/>
        </p:nvSpPr>
        <p:spPr>
          <a:xfrm>
            <a:off x="7040880" y="5102352"/>
            <a:ext cx="4023360" cy="22860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AI advises  /  People decide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969DA"/>
          </a:solidFill>
          <a:ln w="12700">
            <a:solidFill>
              <a:srgbClr val="0969DA">
                <a:alpha val="0"/>
              </a:srgbClr>
            </a:solidFill>
            <a:prstDash val="solid"/>
          </a:ln>
        </p:spPr>
      </p:sp>
      <p:sp>
        <p:nvSpPr>
          <p:cNvPr id="3" name="Text 1"/>
          <p:cNvSpPr/>
          <p:nvPr/>
        </p:nvSpPr>
        <p:spPr>
          <a:xfrm>
            <a:off x="566928" y="283464"/>
            <a:ext cx="7132320" cy="173736"/>
          </a:xfrm>
          <a:prstGeom prst="rect">
            <a:avLst/>
          </a:prstGeom>
          <a:noFill/>
          <a:ln/>
        </p:spPr>
        <p:txBody>
          <a:bodyPr wrap="square" lIns="0" tIns="0" rIns="0" bIns="0" rtlCol="0" anchor="ctr">
            <a:normAutofit/>
          </a:bodyPr>
          <a:lstStyle/>
          <a:p>
            <a:pPr algn="l" indent="0" marL="0">
              <a:lnSpc>
                <a:spcPct val="100000"/>
              </a:lnSpc>
              <a:buNone/>
            </a:pPr>
            <a:r>
              <a:rPr lang="en-US" sz="900" b="1" spc="90" kern="0" dirty="0">
                <a:solidFill>
                  <a:srgbClr val="0969DA"/>
                </a:solidFill>
                <a:latin typeface="Aptos" pitchFamily="34" charset="0"/>
                <a:ea typeface="Aptos" pitchFamily="34" charset="-122"/>
                <a:cs typeface="Aptos" pitchFamily="34" charset="-120"/>
              </a:rPr>
              <a:t>WHY THE FIRST PASS MATTERS</a:t>
            </a:r>
            <a:endParaRPr lang="en-US" sz="900" dirty="0"/>
          </a:p>
        </p:txBody>
      </p:sp>
      <p:sp>
        <p:nvSpPr>
          <p:cNvPr id="4" name="Text 2"/>
          <p:cNvSpPr/>
          <p:nvPr/>
        </p:nvSpPr>
        <p:spPr>
          <a:xfrm>
            <a:off x="566928" y="603504"/>
            <a:ext cx="10972800"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33D"/>
                </a:solidFill>
                <a:latin typeface="Aptos Display" pitchFamily="34" charset="0"/>
                <a:ea typeface="Aptos Display" pitchFamily="34" charset="-122"/>
                <a:cs typeface="Aptos Display" pitchFamily="34" charset="-120"/>
              </a:rPr>
              <a:t>Problem &amp; Objective</a:t>
            </a:r>
            <a:endParaRPr lang="en-US" sz="2700" dirty="0"/>
          </a:p>
        </p:txBody>
      </p:sp>
      <p:sp>
        <p:nvSpPr>
          <p:cNvPr id="5" name="Shape 3"/>
          <p:cNvSpPr/>
          <p:nvPr/>
        </p:nvSpPr>
        <p:spPr>
          <a:xfrm>
            <a:off x="566928" y="1207008"/>
            <a:ext cx="11064240" cy="0"/>
          </a:xfrm>
          <a:prstGeom prst="line">
            <a:avLst/>
          </a:prstGeom>
          <a:noFill/>
          <a:ln w="11430">
            <a:solidFill>
              <a:srgbClr val="D4DEEA"/>
            </a:solidFill>
            <a:prstDash val="solid"/>
            <a:tailEnd type="none"/>
          </a:ln>
        </p:spPr>
      </p:sp>
      <p:sp>
        <p:nvSpPr>
          <p:cNvPr id="6" name="Text 4"/>
          <p:cNvSpPr/>
          <p:nvPr/>
        </p:nvSpPr>
        <p:spPr>
          <a:xfrm>
            <a:off x="566928" y="6537960"/>
            <a:ext cx="5669280" cy="137160"/>
          </a:xfrm>
          <a:prstGeom prst="rect">
            <a:avLst/>
          </a:prstGeom>
          <a:noFill/>
          <a:ln/>
        </p:spPr>
        <p:txBody>
          <a:bodyPr wrap="square" lIns="0" tIns="0" rIns="0" bIns="0" rtlCol="0" anchor="ctr">
            <a:normAutofit/>
          </a:bodyPr>
          <a:lstStyle/>
          <a:p>
            <a:pPr algn="l" indent="0" marL="0">
              <a:lnSpc>
                <a:spcPct val="100000"/>
              </a:lnSpc>
              <a:buNone/>
            </a:pPr>
            <a:r>
              <a:rPr lang="en-US" sz="800" b="1" spc="40" kern="0" dirty="0">
                <a:solidFill>
                  <a:srgbClr val="8492A6"/>
                </a:solidFill>
                <a:latin typeface="Aptos" pitchFamily="34" charset="0"/>
                <a:ea typeface="Aptos" pitchFamily="34" charset="-122"/>
                <a:cs typeface="Aptos" pitchFamily="34" charset="-120"/>
              </a:rPr>
              <a:t>AI CODE REVIEW AGENT  /  P1 + P2</a:t>
            </a:r>
            <a:endParaRPr lang="en-US" sz="800" dirty="0"/>
          </a:p>
        </p:txBody>
      </p:sp>
      <p:sp>
        <p:nvSpPr>
          <p:cNvPr id="7" name="Text 5"/>
          <p:cNvSpPr/>
          <p:nvPr/>
        </p:nvSpPr>
        <p:spPr>
          <a:xfrm>
            <a:off x="11018520" y="6510528"/>
            <a:ext cx="530352" cy="164592"/>
          </a:xfrm>
          <a:prstGeom prst="rect">
            <a:avLst/>
          </a:prstGeom>
          <a:noFill/>
          <a:ln/>
        </p:spPr>
        <p:txBody>
          <a:bodyPr wrap="square" lIns="0" tIns="0" rIns="0" bIns="0" rtlCol="0" anchor="ctr">
            <a:normAutofit/>
          </a:bodyPr>
          <a:lstStyle/>
          <a:p>
            <a:pPr algn="r" indent="0" marL="0">
              <a:lnSpc>
                <a:spcPct val="100000"/>
              </a:lnSpc>
              <a:buNone/>
            </a:pPr>
            <a:r>
              <a:rPr lang="en-US" sz="900" b="1" dirty="0">
                <a:solidFill>
                  <a:srgbClr val="0969DA"/>
                </a:solidFill>
                <a:latin typeface="Aptos" pitchFamily="34" charset="0"/>
                <a:ea typeface="Aptos" pitchFamily="34" charset="-122"/>
                <a:cs typeface="Aptos" pitchFamily="34" charset="-120"/>
              </a:rPr>
              <a:t>02</a:t>
            </a:r>
            <a:endParaRPr lang="en-US" sz="900" dirty="0"/>
          </a:p>
        </p:txBody>
      </p:sp>
      <p:sp>
        <p:nvSpPr>
          <p:cNvPr id="8" name="Text 6"/>
          <p:cNvSpPr/>
          <p:nvPr/>
        </p:nvSpPr>
        <p:spPr>
          <a:xfrm>
            <a:off x="694944" y="1572768"/>
            <a:ext cx="4572000" cy="713232"/>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13233D"/>
                </a:solidFill>
                <a:latin typeface="Aptos Display" pitchFamily="34" charset="0"/>
                <a:ea typeface="Aptos Display" pitchFamily="34" charset="-122"/>
                <a:cs typeface="Aptos Display" pitchFamily="34" charset="-120"/>
              </a:rPr>
              <a:t>Code review is essential; repetitive checks consume attention.</a:t>
            </a:r>
            <a:endParaRPr lang="en-US" sz="2300" dirty="0"/>
          </a:p>
        </p:txBody>
      </p:sp>
      <p:sp>
        <p:nvSpPr>
          <p:cNvPr id="9" name="Text 7"/>
          <p:cNvSpPr/>
          <p:nvPr/>
        </p:nvSpPr>
        <p:spPr>
          <a:xfrm>
            <a:off x="713232" y="2432304"/>
            <a:ext cx="4443984" cy="621792"/>
          </a:xfrm>
          <a:prstGeom prst="rect">
            <a:avLst/>
          </a:prstGeom>
          <a:noFill/>
          <a:ln/>
        </p:spPr>
        <p:txBody>
          <a:bodyPr wrap="square" lIns="0" tIns="0" rIns="0" bIns="0" rtlCol="0" anchor="t">
            <a:normAutofit/>
          </a:bodyPr>
          <a:lstStyle/>
          <a:p>
            <a:pPr algn="l" indent="0" marL="0">
              <a:lnSpc>
                <a:spcPct val="100000"/>
              </a:lnSpc>
              <a:buNone/>
            </a:pPr>
            <a:r>
              <a:rPr lang="en-US" sz="1300" dirty="0">
                <a:solidFill>
                  <a:srgbClr val="53647B"/>
                </a:solidFill>
                <a:latin typeface="Aptos" pitchFamily="34" charset="0"/>
                <a:ea typeface="Aptos" pitchFamily="34" charset="-122"/>
                <a:cs typeface="Aptos" pitchFamily="34" charset="-120"/>
              </a:rPr>
              <a:t>A consistent first pass can surface evidence-backed concerns earlier while keeping engineering judgment in the loop.</a:t>
            </a:r>
            <a:endParaRPr lang="en-US" sz="1300" dirty="0"/>
          </a:p>
        </p:txBody>
      </p:sp>
      <p:sp>
        <p:nvSpPr>
          <p:cNvPr id="10" name="Text 8"/>
          <p:cNvSpPr/>
          <p:nvPr/>
        </p:nvSpPr>
        <p:spPr>
          <a:xfrm>
            <a:off x="731520" y="3429000"/>
            <a:ext cx="1828800" cy="182880"/>
          </a:xfrm>
          <a:prstGeom prst="rect">
            <a:avLst/>
          </a:prstGeom>
          <a:noFill/>
          <a:ln/>
        </p:spPr>
        <p:txBody>
          <a:bodyPr wrap="square" lIns="0" tIns="0" rIns="0" bIns="0" rtlCol="0" anchor="ctr">
            <a:normAutofit/>
          </a:bodyPr>
          <a:lstStyle/>
          <a:p>
            <a:pPr algn="l" indent="0" marL="0">
              <a:lnSpc>
                <a:spcPct val="100000"/>
              </a:lnSpc>
              <a:buNone/>
            </a:pPr>
            <a:r>
              <a:rPr lang="en-US" sz="900" b="1" spc="70" kern="0" dirty="0">
                <a:solidFill>
                  <a:srgbClr val="0969DA"/>
                </a:solidFill>
                <a:latin typeface="Aptos" pitchFamily="34" charset="0"/>
                <a:ea typeface="Aptos" pitchFamily="34" charset="-122"/>
                <a:cs typeface="Aptos" pitchFamily="34" charset="-120"/>
              </a:rPr>
              <a:t>REVIEW FOCUS</a:t>
            </a:r>
            <a:endParaRPr lang="en-US" sz="900" dirty="0"/>
          </a:p>
        </p:txBody>
      </p:sp>
      <p:sp>
        <p:nvSpPr>
          <p:cNvPr id="11" name="Shape 9"/>
          <p:cNvSpPr/>
          <p:nvPr/>
        </p:nvSpPr>
        <p:spPr>
          <a:xfrm>
            <a:off x="731520" y="3767328"/>
            <a:ext cx="1938528" cy="310896"/>
          </a:xfrm>
          <a:prstGeom prst="roundRect">
            <a:avLst>
              <a:gd name="adj" fmla="val 17647"/>
            </a:avLst>
          </a:prstGeom>
          <a:solidFill>
            <a:srgbClr val="E7F0FC"/>
          </a:solidFill>
          <a:ln w="12700">
            <a:solidFill>
              <a:srgbClr val="E7F0FC">
                <a:alpha val="0"/>
              </a:srgbClr>
            </a:solidFill>
            <a:prstDash val="solid"/>
          </a:ln>
        </p:spPr>
      </p:sp>
      <p:sp>
        <p:nvSpPr>
          <p:cNvPr id="12" name="Text 10"/>
          <p:cNvSpPr/>
          <p:nvPr/>
        </p:nvSpPr>
        <p:spPr>
          <a:xfrm>
            <a:off x="822960" y="3799332"/>
            <a:ext cx="1755648"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0969DA"/>
                </a:solidFill>
                <a:latin typeface="Aptos" pitchFamily="34" charset="0"/>
                <a:ea typeface="Aptos" pitchFamily="34" charset="-122"/>
                <a:cs typeface="Aptos" pitchFamily="34" charset="-120"/>
              </a:rPr>
              <a:t>Security</a:t>
            </a:r>
            <a:endParaRPr lang="en-US" sz="900" dirty="0"/>
          </a:p>
        </p:txBody>
      </p:sp>
      <p:sp>
        <p:nvSpPr>
          <p:cNvPr id="13" name="Shape 11"/>
          <p:cNvSpPr/>
          <p:nvPr/>
        </p:nvSpPr>
        <p:spPr>
          <a:xfrm>
            <a:off x="2907792" y="3767328"/>
            <a:ext cx="1938528" cy="310896"/>
          </a:xfrm>
          <a:prstGeom prst="roundRect">
            <a:avLst>
              <a:gd name="adj" fmla="val 17647"/>
            </a:avLst>
          </a:prstGeom>
          <a:solidFill>
            <a:srgbClr val="FFFFFF"/>
          </a:solidFill>
          <a:ln w="12700">
            <a:solidFill>
              <a:srgbClr val="FFFFFF">
                <a:alpha val="0"/>
              </a:srgbClr>
            </a:solidFill>
            <a:prstDash val="solid"/>
          </a:ln>
        </p:spPr>
      </p:sp>
      <p:sp>
        <p:nvSpPr>
          <p:cNvPr id="14" name="Text 12"/>
          <p:cNvSpPr/>
          <p:nvPr/>
        </p:nvSpPr>
        <p:spPr>
          <a:xfrm>
            <a:off x="2999232" y="3799332"/>
            <a:ext cx="1755648"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3233D"/>
                </a:solidFill>
                <a:latin typeface="Aptos" pitchFamily="34" charset="0"/>
                <a:ea typeface="Aptos" pitchFamily="34" charset="-122"/>
                <a:cs typeface="Aptos" pitchFamily="34" charset="-120"/>
              </a:rPr>
              <a:t>Architecture</a:t>
            </a:r>
            <a:endParaRPr lang="en-US" sz="900" dirty="0"/>
          </a:p>
        </p:txBody>
      </p:sp>
      <p:sp>
        <p:nvSpPr>
          <p:cNvPr id="15" name="Shape 13"/>
          <p:cNvSpPr/>
          <p:nvPr/>
        </p:nvSpPr>
        <p:spPr>
          <a:xfrm>
            <a:off x="731520" y="4206240"/>
            <a:ext cx="1938528" cy="310896"/>
          </a:xfrm>
          <a:prstGeom prst="roundRect">
            <a:avLst>
              <a:gd name="adj" fmla="val 17647"/>
            </a:avLst>
          </a:prstGeom>
          <a:solidFill>
            <a:srgbClr val="FFFFFF"/>
          </a:solidFill>
          <a:ln w="12700">
            <a:solidFill>
              <a:srgbClr val="FFFFFF">
                <a:alpha val="0"/>
              </a:srgbClr>
            </a:solidFill>
            <a:prstDash val="solid"/>
          </a:ln>
        </p:spPr>
      </p:sp>
      <p:sp>
        <p:nvSpPr>
          <p:cNvPr id="16" name="Text 14"/>
          <p:cNvSpPr/>
          <p:nvPr/>
        </p:nvSpPr>
        <p:spPr>
          <a:xfrm>
            <a:off x="822960" y="4238244"/>
            <a:ext cx="1755648"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3233D"/>
                </a:solidFill>
                <a:latin typeface="Aptos" pitchFamily="34" charset="0"/>
                <a:ea typeface="Aptos" pitchFamily="34" charset="-122"/>
                <a:cs typeface="Aptos" pitchFamily="34" charset="-120"/>
              </a:rPr>
              <a:t>Logical correctness</a:t>
            </a:r>
            <a:endParaRPr lang="en-US" sz="900" dirty="0"/>
          </a:p>
        </p:txBody>
      </p:sp>
      <p:sp>
        <p:nvSpPr>
          <p:cNvPr id="17" name="Shape 15"/>
          <p:cNvSpPr/>
          <p:nvPr/>
        </p:nvSpPr>
        <p:spPr>
          <a:xfrm>
            <a:off x="2907792" y="4206240"/>
            <a:ext cx="1938528" cy="310896"/>
          </a:xfrm>
          <a:prstGeom prst="roundRect">
            <a:avLst>
              <a:gd name="adj" fmla="val 17647"/>
            </a:avLst>
          </a:prstGeom>
          <a:solidFill>
            <a:srgbClr val="FFFFFF"/>
          </a:solidFill>
          <a:ln w="12700">
            <a:solidFill>
              <a:srgbClr val="FFFFFF">
                <a:alpha val="0"/>
              </a:srgbClr>
            </a:solidFill>
            <a:prstDash val="solid"/>
          </a:ln>
        </p:spPr>
      </p:sp>
      <p:sp>
        <p:nvSpPr>
          <p:cNvPr id="18" name="Text 16"/>
          <p:cNvSpPr/>
          <p:nvPr/>
        </p:nvSpPr>
        <p:spPr>
          <a:xfrm>
            <a:off x="2999232" y="4238244"/>
            <a:ext cx="1755648"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3233D"/>
                </a:solidFill>
                <a:latin typeface="Aptos" pitchFamily="34" charset="0"/>
                <a:ea typeface="Aptos" pitchFamily="34" charset="-122"/>
                <a:cs typeface="Aptos" pitchFamily="34" charset="-120"/>
              </a:rPr>
              <a:t>Performance</a:t>
            </a:r>
            <a:endParaRPr lang="en-US" sz="900" dirty="0"/>
          </a:p>
        </p:txBody>
      </p:sp>
      <p:sp>
        <p:nvSpPr>
          <p:cNvPr id="19" name="Shape 17"/>
          <p:cNvSpPr/>
          <p:nvPr/>
        </p:nvSpPr>
        <p:spPr>
          <a:xfrm>
            <a:off x="731520" y="4645152"/>
            <a:ext cx="1938528" cy="310896"/>
          </a:xfrm>
          <a:prstGeom prst="roundRect">
            <a:avLst>
              <a:gd name="adj" fmla="val 17647"/>
            </a:avLst>
          </a:prstGeom>
          <a:solidFill>
            <a:srgbClr val="FFFFFF"/>
          </a:solidFill>
          <a:ln w="12700">
            <a:solidFill>
              <a:srgbClr val="FFFFFF">
                <a:alpha val="0"/>
              </a:srgbClr>
            </a:solidFill>
            <a:prstDash val="solid"/>
          </a:ln>
        </p:spPr>
      </p:sp>
      <p:sp>
        <p:nvSpPr>
          <p:cNvPr id="20" name="Text 18"/>
          <p:cNvSpPr/>
          <p:nvPr/>
        </p:nvSpPr>
        <p:spPr>
          <a:xfrm>
            <a:off x="822960" y="4677156"/>
            <a:ext cx="1755648"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3233D"/>
                </a:solidFill>
                <a:latin typeface="Aptos" pitchFamily="34" charset="0"/>
                <a:ea typeface="Aptos" pitchFamily="34" charset="-122"/>
                <a:cs typeface="Aptos" pitchFamily="34" charset="-120"/>
              </a:rPr>
              <a:t>Testing</a:t>
            </a:r>
            <a:endParaRPr lang="en-US" sz="900" dirty="0"/>
          </a:p>
        </p:txBody>
      </p:sp>
      <p:sp>
        <p:nvSpPr>
          <p:cNvPr id="21" name="Shape 19"/>
          <p:cNvSpPr/>
          <p:nvPr/>
        </p:nvSpPr>
        <p:spPr>
          <a:xfrm>
            <a:off x="2907792" y="4645152"/>
            <a:ext cx="1938528" cy="310896"/>
          </a:xfrm>
          <a:prstGeom prst="roundRect">
            <a:avLst>
              <a:gd name="adj" fmla="val 17647"/>
            </a:avLst>
          </a:prstGeom>
          <a:solidFill>
            <a:srgbClr val="FFFFFF"/>
          </a:solidFill>
          <a:ln w="12700">
            <a:solidFill>
              <a:srgbClr val="FFFFFF">
                <a:alpha val="0"/>
              </a:srgbClr>
            </a:solidFill>
            <a:prstDash val="solid"/>
          </a:ln>
        </p:spPr>
      </p:sp>
      <p:sp>
        <p:nvSpPr>
          <p:cNvPr id="22" name="Text 20"/>
          <p:cNvSpPr/>
          <p:nvPr/>
        </p:nvSpPr>
        <p:spPr>
          <a:xfrm>
            <a:off x="2999232" y="4677156"/>
            <a:ext cx="1755648"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3233D"/>
                </a:solidFill>
                <a:latin typeface="Aptos" pitchFamily="34" charset="0"/>
                <a:ea typeface="Aptos" pitchFamily="34" charset="-122"/>
                <a:cs typeface="Aptos" pitchFamily="34" charset="-120"/>
              </a:rPr>
              <a:t>Maintainability</a:t>
            </a:r>
            <a:endParaRPr lang="en-US" sz="900" dirty="0"/>
          </a:p>
        </p:txBody>
      </p:sp>
      <p:sp>
        <p:nvSpPr>
          <p:cNvPr id="23" name="Shape 21"/>
          <p:cNvSpPr/>
          <p:nvPr/>
        </p:nvSpPr>
        <p:spPr>
          <a:xfrm>
            <a:off x="5577840" y="1627632"/>
            <a:ext cx="5833872" cy="4261104"/>
          </a:xfrm>
          <a:prstGeom prst="roundRect">
            <a:avLst>
              <a:gd name="adj" fmla="val 2146"/>
            </a:avLst>
          </a:prstGeom>
          <a:solidFill>
            <a:srgbClr val="0B1730"/>
          </a:solidFill>
          <a:ln w="12700">
            <a:solidFill>
              <a:srgbClr val="0B1730">
                <a:alpha val="0"/>
              </a:srgbClr>
            </a:solidFill>
            <a:prstDash val="solid"/>
          </a:ln>
        </p:spPr>
      </p:sp>
      <p:sp>
        <p:nvSpPr>
          <p:cNvPr id="24" name="Text 22"/>
          <p:cNvSpPr/>
          <p:nvPr/>
        </p:nvSpPr>
        <p:spPr>
          <a:xfrm>
            <a:off x="5961888" y="1975104"/>
            <a:ext cx="2011680" cy="182880"/>
          </a:xfrm>
          <a:prstGeom prst="rect">
            <a:avLst/>
          </a:prstGeom>
          <a:noFill/>
          <a:ln/>
        </p:spPr>
        <p:txBody>
          <a:bodyPr wrap="square" lIns="0" tIns="0" rIns="0" bIns="0" rtlCol="0" anchor="ctr">
            <a:normAutofit/>
          </a:bodyPr>
          <a:lstStyle/>
          <a:p>
            <a:pPr algn="l" indent="0" marL="0">
              <a:lnSpc>
                <a:spcPct val="100000"/>
              </a:lnSpc>
              <a:buNone/>
            </a:pPr>
            <a:r>
              <a:rPr lang="en-US" sz="900" b="1" spc="80" kern="0" dirty="0">
                <a:solidFill>
                  <a:srgbClr val="54A6FF"/>
                </a:solidFill>
                <a:latin typeface="Aptos" pitchFamily="34" charset="0"/>
                <a:ea typeface="Aptos" pitchFamily="34" charset="-122"/>
                <a:cs typeface="Aptos" pitchFamily="34" charset="-120"/>
              </a:rPr>
              <a:t>OBJECTIVE</a:t>
            </a:r>
            <a:endParaRPr lang="en-US" sz="900" dirty="0"/>
          </a:p>
        </p:txBody>
      </p:sp>
      <p:sp>
        <p:nvSpPr>
          <p:cNvPr id="25" name="Text 23"/>
          <p:cNvSpPr/>
          <p:nvPr/>
        </p:nvSpPr>
        <p:spPr>
          <a:xfrm>
            <a:off x="5961888" y="2395728"/>
            <a:ext cx="4754880" cy="548640"/>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FFFFFF"/>
                </a:solidFill>
                <a:latin typeface="Aptos Display" pitchFamily="34" charset="0"/>
                <a:ea typeface="Aptos Display" pitchFamily="34" charset="-122"/>
                <a:cs typeface="Aptos Display" pitchFamily="34" charset="-120"/>
              </a:rPr>
              <a:t>Automate the first-pass review.</a:t>
            </a:r>
            <a:endParaRPr lang="en-US" sz="2500" dirty="0"/>
          </a:p>
        </p:txBody>
      </p:sp>
      <p:sp>
        <p:nvSpPr>
          <p:cNvPr id="26" name="Text 24"/>
          <p:cNvSpPr/>
          <p:nvPr/>
        </p:nvSpPr>
        <p:spPr>
          <a:xfrm>
            <a:off x="5980176" y="3154680"/>
            <a:ext cx="4645152" cy="71323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D4E0F1"/>
                </a:solidFill>
                <a:latin typeface="Aptos" pitchFamily="34" charset="0"/>
                <a:ea typeface="Aptos" pitchFamily="34" charset="-122"/>
                <a:cs typeface="Aptos" pitchFamily="34" charset="-120"/>
              </a:rPr>
              <a:t>Return actionable feedback in the Pull Request, with every inline location checked against the actual added lines.</a:t>
            </a:r>
            <a:endParaRPr lang="en-US" sz="1500" dirty="0"/>
          </a:p>
        </p:txBody>
      </p:sp>
      <p:sp>
        <p:nvSpPr>
          <p:cNvPr id="27" name="Shape 25"/>
          <p:cNvSpPr/>
          <p:nvPr/>
        </p:nvSpPr>
        <p:spPr>
          <a:xfrm>
            <a:off x="5961888" y="4160520"/>
            <a:ext cx="4992624" cy="0"/>
          </a:xfrm>
          <a:prstGeom prst="line">
            <a:avLst/>
          </a:prstGeom>
          <a:noFill/>
          <a:ln w="12700">
            <a:solidFill>
              <a:srgbClr val="345173"/>
            </a:solidFill>
            <a:prstDash val="solid"/>
            <a:tailEnd type="none"/>
          </a:ln>
        </p:spPr>
      </p:sp>
      <p:sp>
        <p:nvSpPr>
          <p:cNvPr id="28" name="Text 26"/>
          <p:cNvSpPr/>
          <p:nvPr/>
        </p:nvSpPr>
        <p:spPr>
          <a:xfrm>
            <a:off x="5980176" y="4498848"/>
            <a:ext cx="2194560" cy="182880"/>
          </a:xfrm>
          <a:prstGeom prst="rect">
            <a:avLst/>
          </a:prstGeom>
          <a:noFill/>
          <a:ln/>
        </p:spPr>
        <p:txBody>
          <a:bodyPr wrap="square" lIns="0" tIns="0" rIns="0" bIns="0" rtlCol="0" anchor="ctr">
            <a:normAutofit/>
          </a:bodyPr>
          <a:lstStyle/>
          <a:p>
            <a:pPr algn="l" indent="0" marL="0">
              <a:lnSpc>
                <a:spcPct val="100000"/>
              </a:lnSpc>
              <a:buNone/>
            </a:pPr>
            <a:r>
              <a:rPr lang="en-US" sz="900" b="1" spc="60" kern="0" dirty="0">
                <a:solidFill>
                  <a:srgbClr val="54A6FF"/>
                </a:solidFill>
                <a:latin typeface="Aptos" pitchFamily="34" charset="0"/>
                <a:ea typeface="Aptos" pitchFamily="34" charset="-122"/>
                <a:cs typeface="Aptos" pitchFamily="34" charset="-120"/>
              </a:rPr>
              <a:t>FINAL AUTHORITY</a:t>
            </a:r>
            <a:endParaRPr lang="en-US" sz="900" dirty="0"/>
          </a:p>
        </p:txBody>
      </p:sp>
      <p:sp>
        <p:nvSpPr>
          <p:cNvPr id="29" name="Text 27"/>
          <p:cNvSpPr/>
          <p:nvPr/>
        </p:nvSpPr>
        <p:spPr>
          <a:xfrm>
            <a:off x="5980176" y="4846320"/>
            <a:ext cx="2011680" cy="301752"/>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FFFFFF"/>
                </a:solidFill>
                <a:latin typeface="Aptos" pitchFamily="34" charset="0"/>
                <a:ea typeface="Aptos" pitchFamily="34" charset="-122"/>
                <a:cs typeface="Aptos" pitchFamily="34" charset="-120"/>
              </a:rPr>
              <a:t>Human reviewer</a:t>
            </a:r>
            <a:endParaRPr lang="en-US" sz="1800" dirty="0"/>
          </a:p>
        </p:txBody>
      </p:sp>
      <p:sp>
        <p:nvSpPr>
          <p:cNvPr id="30" name="Text 28"/>
          <p:cNvSpPr/>
          <p:nvPr/>
        </p:nvSpPr>
        <p:spPr>
          <a:xfrm>
            <a:off x="8092440" y="4873752"/>
            <a:ext cx="2560320" cy="237744"/>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D4E0F1"/>
                </a:solidFill>
                <a:latin typeface="Aptos" pitchFamily="34" charset="0"/>
                <a:ea typeface="Aptos" pitchFamily="34" charset="-122"/>
                <a:cs typeface="Aptos" pitchFamily="34" charset="-120"/>
              </a:rPr>
              <a:t>No AI approval or merge action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730"/>
          </a:solidFill>
          <a:ln w="12700">
            <a:solidFill>
              <a:srgbClr val="0B1730">
                <a:alpha val="0"/>
              </a:srgbClr>
            </a:solidFill>
            <a:prstDash val="solid"/>
          </a:ln>
        </p:spPr>
      </p:sp>
      <p:sp>
        <p:nvSpPr>
          <p:cNvPr id="3" name="Text 1"/>
          <p:cNvSpPr/>
          <p:nvPr/>
        </p:nvSpPr>
        <p:spPr>
          <a:xfrm>
            <a:off x="566928" y="274320"/>
            <a:ext cx="7315200" cy="164592"/>
          </a:xfrm>
          <a:prstGeom prst="rect">
            <a:avLst/>
          </a:prstGeom>
          <a:noFill/>
          <a:ln/>
        </p:spPr>
        <p:txBody>
          <a:bodyPr wrap="square" lIns="0" tIns="0" rIns="0" bIns="0" rtlCol="0" anchor="ctr">
            <a:normAutofit/>
          </a:bodyPr>
          <a:lstStyle/>
          <a:p>
            <a:pPr algn="l" indent="0" marL="0">
              <a:lnSpc>
                <a:spcPct val="100000"/>
              </a:lnSpc>
              <a:buNone/>
            </a:pPr>
            <a:r>
              <a:rPr lang="en-US" sz="900" b="1" spc="80" kern="0" dirty="0">
                <a:solidFill>
                  <a:srgbClr val="54A6FF"/>
                </a:solidFill>
                <a:latin typeface="Aptos" pitchFamily="34" charset="0"/>
                <a:ea typeface="Aptos" pitchFamily="34" charset="-122"/>
                <a:cs typeface="Aptos" pitchFamily="34" charset="-120"/>
              </a:rPr>
              <a:t>ONE FLOW, CLEAR RESPONSIBILITIES</a:t>
            </a:r>
            <a:endParaRPr lang="en-US" sz="900" dirty="0"/>
          </a:p>
        </p:txBody>
      </p:sp>
      <p:sp>
        <p:nvSpPr>
          <p:cNvPr id="4" name="Text 2"/>
          <p:cNvSpPr/>
          <p:nvPr/>
        </p:nvSpPr>
        <p:spPr>
          <a:xfrm>
            <a:off x="566928" y="585216"/>
            <a:ext cx="10972800" cy="475488"/>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FFFFFF"/>
                </a:solidFill>
                <a:latin typeface="Aptos Display" pitchFamily="34" charset="0"/>
                <a:ea typeface="Aptos Display" pitchFamily="34" charset="-122"/>
                <a:cs typeface="Aptos Display" pitchFamily="34" charset="-120"/>
              </a:rPr>
              <a:t>Final Architecture</a:t>
            </a:r>
            <a:endParaRPr lang="en-US" sz="2700" dirty="0"/>
          </a:p>
        </p:txBody>
      </p:sp>
      <p:sp>
        <p:nvSpPr>
          <p:cNvPr id="5" name="Shape 3"/>
          <p:cNvSpPr/>
          <p:nvPr/>
        </p:nvSpPr>
        <p:spPr>
          <a:xfrm>
            <a:off x="566928" y="1216152"/>
            <a:ext cx="11064240" cy="0"/>
          </a:xfrm>
          <a:prstGeom prst="line">
            <a:avLst/>
          </a:prstGeom>
          <a:noFill/>
          <a:ln w="11430">
            <a:solidFill>
              <a:srgbClr val="294263"/>
            </a:solidFill>
            <a:prstDash val="solid"/>
            <a:tailEnd type="none"/>
          </a:ln>
        </p:spPr>
      </p:sp>
      <p:sp>
        <p:nvSpPr>
          <p:cNvPr id="6" name="Text 4"/>
          <p:cNvSpPr/>
          <p:nvPr/>
        </p:nvSpPr>
        <p:spPr>
          <a:xfrm>
            <a:off x="566928" y="6537960"/>
            <a:ext cx="5669280" cy="137160"/>
          </a:xfrm>
          <a:prstGeom prst="rect">
            <a:avLst/>
          </a:prstGeom>
          <a:noFill/>
          <a:ln/>
        </p:spPr>
        <p:txBody>
          <a:bodyPr wrap="square" lIns="0" tIns="0" rIns="0" bIns="0" rtlCol="0" anchor="ctr">
            <a:normAutofit/>
          </a:bodyPr>
          <a:lstStyle/>
          <a:p>
            <a:pPr algn="l" indent="0" marL="0">
              <a:lnSpc>
                <a:spcPct val="100000"/>
              </a:lnSpc>
              <a:buNone/>
            </a:pPr>
            <a:r>
              <a:rPr lang="en-US" sz="800" b="1" spc="40" kern="0" dirty="0">
                <a:solidFill>
                  <a:srgbClr val="99AAC0"/>
                </a:solidFill>
                <a:latin typeface="Aptos" pitchFamily="34" charset="0"/>
                <a:ea typeface="Aptos" pitchFamily="34" charset="-122"/>
                <a:cs typeface="Aptos" pitchFamily="34" charset="-120"/>
              </a:rPr>
              <a:t>AI CODE REVIEW AGENT  /  P1 + P2</a:t>
            </a:r>
            <a:endParaRPr lang="en-US" sz="800" dirty="0"/>
          </a:p>
        </p:txBody>
      </p:sp>
      <p:sp>
        <p:nvSpPr>
          <p:cNvPr id="7" name="Text 5"/>
          <p:cNvSpPr/>
          <p:nvPr/>
        </p:nvSpPr>
        <p:spPr>
          <a:xfrm>
            <a:off x="11018520" y="6510528"/>
            <a:ext cx="530352" cy="164592"/>
          </a:xfrm>
          <a:prstGeom prst="rect">
            <a:avLst/>
          </a:prstGeom>
          <a:noFill/>
          <a:ln/>
        </p:spPr>
        <p:txBody>
          <a:bodyPr wrap="square" lIns="0" tIns="0" rIns="0" bIns="0" rtlCol="0" anchor="ctr">
            <a:normAutofit/>
          </a:bodyPr>
          <a:lstStyle/>
          <a:p>
            <a:pPr algn="r" indent="0" marL="0">
              <a:lnSpc>
                <a:spcPct val="100000"/>
              </a:lnSpc>
              <a:buNone/>
            </a:pPr>
            <a:r>
              <a:rPr lang="en-US" sz="900" b="1" dirty="0">
                <a:solidFill>
                  <a:srgbClr val="54A6FF"/>
                </a:solidFill>
                <a:latin typeface="Aptos" pitchFamily="34" charset="0"/>
                <a:ea typeface="Aptos" pitchFamily="34" charset="-122"/>
                <a:cs typeface="Aptos" pitchFamily="34" charset="-120"/>
              </a:rPr>
              <a:t>03</a:t>
            </a:r>
            <a:endParaRPr lang="en-US" sz="900" dirty="0"/>
          </a:p>
        </p:txBody>
      </p:sp>
      <p:sp>
        <p:nvSpPr>
          <p:cNvPr id="8" name="Shape 6"/>
          <p:cNvSpPr/>
          <p:nvPr/>
        </p:nvSpPr>
        <p:spPr>
          <a:xfrm>
            <a:off x="667512" y="1572768"/>
            <a:ext cx="1554480" cy="1078992"/>
          </a:xfrm>
          <a:prstGeom prst="roundRect">
            <a:avLst>
              <a:gd name="adj" fmla="val 6780"/>
            </a:avLst>
          </a:prstGeom>
          <a:solidFill>
            <a:srgbClr val="152846"/>
          </a:solidFill>
          <a:ln w="15240">
            <a:solidFill>
              <a:srgbClr val="345173"/>
            </a:solidFill>
            <a:prstDash val="solid"/>
          </a:ln>
        </p:spPr>
      </p:sp>
      <p:sp>
        <p:nvSpPr>
          <p:cNvPr id="9" name="Text 7"/>
          <p:cNvSpPr/>
          <p:nvPr/>
        </p:nvSpPr>
        <p:spPr>
          <a:xfrm>
            <a:off x="777240" y="1682496"/>
            <a:ext cx="1335024" cy="31089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Multiple repos</a:t>
            </a:r>
            <a:endParaRPr lang="en-US" sz="1100" dirty="0"/>
          </a:p>
        </p:txBody>
      </p:sp>
      <p:sp>
        <p:nvSpPr>
          <p:cNvPr id="10" name="Text 8"/>
          <p:cNvSpPr/>
          <p:nvPr/>
        </p:nvSpPr>
        <p:spPr>
          <a:xfrm>
            <a:off x="758952" y="2340864"/>
            <a:ext cx="1371600"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consumer PRs</a:t>
            </a:r>
            <a:endParaRPr lang="en-US" sz="800" dirty="0"/>
          </a:p>
        </p:txBody>
      </p:sp>
      <p:sp>
        <p:nvSpPr>
          <p:cNvPr id="11" name="Shape 9"/>
          <p:cNvSpPr/>
          <p:nvPr/>
        </p:nvSpPr>
        <p:spPr>
          <a:xfrm>
            <a:off x="2249424" y="2112264"/>
            <a:ext cx="137160" cy="0"/>
          </a:xfrm>
          <a:prstGeom prst="line">
            <a:avLst/>
          </a:prstGeom>
          <a:noFill/>
          <a:ln w="22860">
            <a:solidFill>
              <a:srgbClr val="54A6FF"/>
            </a:solidFill>
            <a:prstDash val="solid"/>
            <a:tailEnd type="triangle"/>
          </a:ln>
        </p:spPr>
      </p:sp>
      <p:sp>
        <p:nvSpPr>
          <p:cNvPr id="12" name="Shape 10"/>
          <p:cNvSpPr/>
          <p:nvPr/>
        </p:nvSpPr>
        <p:spPr>
          <a:xfrm>
            <a:off x="2606040" y="1572768"/>
            <a:ext cx="1572768" cy="1078992"/>
          </a:xfrm>
          <a:prstGeom prst="roundRect">
            <a:avLst>
              <a:gd name="adj" fmla="val 6780"/>
            </a:avLst>
          </a:prstGeom>
          <a:solidFill>
            <a:srgbClr val="152846"/>
          </a:solidFill>
          <a:ln w="15240">
            <a:solidFill>
              <a:srgbClr val="345173"/>
            </a:solidFill>
            <a:prstDash val="solid"/>
          </a:ln>
        </p:spPr>
      </p:sp>
      <p:sp>
        <p:nvSpPr>
          <p:cNvPr id="13" name="Text 11"/>
          <p:cNvSpPr/>
          <p:nvPr/>
        </p:nvSpPr>
        <p:spPr>
          <a:xfrm>
            <a:off x="2715768" y="1682496"/>
            <a:ext cx="1353312" cy="31089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GitHub PR</a:t>
            </a:r>
            <a:endParaRPr lang="en-US" sz="1100" dirty="0"/>
          </a:p>
        </p:txBody>
      </p:sp>
      <p:sp>
        <p:nvSpPr>
          <p:cNvPr id="14" name="Text 12"/>
          <p:cNvSpPr/>
          <p:nvPr/>
        </p:nvSpPr>
        <p:spPr>
          <a:xfrm>
            <a:off x="2697480" y="2340864"/>
            <a:ext cx="1389888"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PR lifecycle</a:t>
            </a:r>
            <a:endParaRPr lang="en-US" sz="800" dirty="0"/>
          </a:p>
        </p:txBody>
      </p:sp>
      <p:sp>
        <p:nvSpPr>
          <p:cNvPr id="15" name="Shape 13"/>
          <p:cNvSpPr/>
          <p:nvPr/>
        </p:nvSpPr>
        <p:spPr>
          <a:xfrm>
            <a:off x="4206240" y="2112264"/>
            <a:ext cx="137160" cy="0"/>
          </a:xfrm>
          <a:prstGeom prst="line">
            <a:avLst/>
          </a:prstGeom>
          <a:noFill/>
          <a:ln w="22860">
            <a:solidFill>
              <a:srgbClr val="54A6FF"/>
            </a:solidFill>
            <a:prstDash val="solid"/>
            <a:tailEnd type="triangle"/>
          </a:ln>
        </p:spPr>
      </p:sp>
      <p:sp>
        <p:nvSpPr>
          <p:cNvPr id="16" name="Shape 14"/>
          <p:cNvSpPr/>
          <p:nvPr/>
        </p:nvSpPr>
        <p:spPr>
          <a:xfrm>
            <a:off x="4562856" y="1572768"/>
            <a:ext cx="1572768" cy="1078992"/>
          </a:xfrm>
          <a:prstGeom prst="roundRect">
            <a:avLst>
              <a:gd name="adj" fmla="val 6780"/>
            </a:avLst>
          </a:prstGeom>
          <a:solidFill>
            <a:srgbClr val="152846"/>
          </a:solidFill>
          <a:ln w="15240">
            <a:solidFill>
              <a:srgbClr val="0969DA"/>
            </a:solidFill>
            <a:prstDash val="solid"/>
          </a:ln>
        </p:spPr>
      </p:sp>
      <p:sp>
        <p:nvSpPr>
          <p:cNvPr id="17" name="Text 15"/>
          <p:cNvSpPr/>
          <p:nvPr/>
        </p:nvSpPr>
        <p:spPr>
          <a:xfrm>
            <a:off x="4672584" y="1682496"/>
            <a:ext cx="1353312" cy="31089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GitHub Actions</a:t>
            </a:r>
            <a:endParaRPr lang="en-US" sz="1100" dirty="0"/>
          </a:p>
        </p:txBody>
      </p:sp>
      <p:sp>
        <p:nvSpPr>
          <p:cNvPr id="18" name="Text 16"/>
          <p:cNvSpPr/>
          <p:nvPr/>
        </p:nvSpPr>
        <p:spPr>
          <a:xfrm>
            <a:off x="4654296" y="2340864"/>
            <a:ext cx="1389888"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trigger + runner</a:t>
            </a:r>
            <a:endParaRPr lang="en-US" sz="800" dirty="0"/>
          </a:p>
        </p:txBody>
      </p:sp>
      <p:sp>
        <p:nvSpPr>
          <p:cNvPr id="19" name="Shape 17"/>
          <p:cNvSpPr/>
          <p:nvPr/>
        </p:nvSpPr>
        <p:spPr>
          <a:xfrm>
            <a:off x="6163056" y="2112264"/>
            <a:ext cx="137160" cy="0"/>
          </a:xfrm>
          <a:prstGeom prst="line">
            <a:avLst/>
          </a:prstGeom>
          <a:noFill/>
          <a:ln w="22860">
            <a:solidFill>
              <a:srgbClr val="54A6FF"/>
            </a:solidFill>
            <a:prstDash val="solid"/>
            <a:tailEnd type="triangle"/>
          </a:ln>
        </p:spPr>
      </p:sp>
      <p:sp>
        <p:nvSpPr>
          <p:cNvPr id="20" name="Shape 18"/>
          <p:cNvSpPr/>
          <p:nvPr/>
        </p:nvSpPr>
        <p:spPr>
          <a:xfrm>
            <a:off x="6519672" y="1572768"/>
            <a:ext cx="1737360" cy="1078992"/>
          </a:xfrm>
          <a:prstGeom prst="roundRect">
            <a:avLst>
              <a:gd name="adj" fmla="val 6780"/>
            </a:avLst>
          </a:prstGeom>
          <a:solidFill>
            <a:srgbClr val="152846"/>
          </a:solidFill>
          <a:ln w="15240">
            <a:solidFill>
              <a:srgbClr val="345173"/>
            </a:solidFill>
            <a:prstDash val="solid"/>
          </a:ln>
        </p:spPr>
      </p:sp>
      <p:sp>
        <p:nvSpPr>
          <p:cNvPr id="21" name="Text 19"/>
          <p:cNvSpPr/>
          <p:nvPr/>
        </p:nvSpPr>
        <p:spPr>
          <a:xfrm>
            <a:off x="6629400" y="1682496"/>
            <a:ext cx="1517904" cy="31089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Reusable workflow</a:t>
            </a:r>
            <a:endParaRPr lang="en-US" sz="1100" dirty="0"/>
          </a:p>
        </p:txBody>
      </p:sp>
      <p:sp>
        <p:nvSpPr>
          <p:cNvPr id="22" name="Text 20"/>
          <p:cNvSpPr/>
          <p:nvPr/>
        </p:nvSpPr>
        <p:spPr>
          <a:xfrm>
            <a:off x="6611112" y="2340864"/>
            <a:ext cx="1554480"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central execution</a:t>
            </a:r>
            <a:endParaRPr lang="en-US" sz="800" dirty="0"/>
          </a:p>
        </p:txBody>
      </p:sp>
      <p:sp>
        <p:nvSpPr>
          <p:cNvPr id="23" name="Shape 21"/>
          <p:cNvSpPr/>
          <p:nvPr/>
        </p:nvSpPr>
        <p:spPr>
          <a:xfrm>
            <a:off x="8284464" y="2112264"/>
            <a:ext cx="137160" cy="0"/>
          </a:xfrm>
          <a:prstGeom prst="line">
            <a:avLst/>
          </a:prstGeom>
          <a:noFill/>
          <a:ln w="22860">
            <a:solidFill>
              <a:srgbClr val="54A6FF"/>
            </a:solidFill>
            <a:prstDash val="solid"/>
            <a:tailEnd type="triangle"/>
          </a:ln>
        </p:spPr>
      </p:sp>
      <p:sp>
        <p:nvSpPr>
          <p:cNvPr id="24" name="Shape 22"/>
          <p:cNvSpPr/>
          <p:nvPr/>
        </p:nvSpPr>
        <p:spPr>
          <a:xfrm>
            <a:off x="8641080" y="1572768"/>
            <a:ext cx="1691640" cy="1078992"/>
          </a:xfrm>
          <a:prstGeom prst="roundRect">
            <a:avLst>
              <a:gd name="adj" fmla="val 6780"/>
            </a:avLst>
          </a:prstGeom>
          <a:solidFill>
            <a:srgbClr val="152846"/>
          </a:solidFill>
          <a:ln w="15240">
            <a:solidFill>
              <a:srgbClr val="345173"/>
            </a:solidFill>
            <a:prstDash val="solid"/>
          </a:ln>
        </p:spPr>
      </p:sp>
      <p:sp>
        <p:nvSpPr>
          <p:cNvPr id="25" name="Text 23"/>
          <p:cNvSpPr/>
          <p:nvPr/>
        </p:nvSpPr>
        <p:spPr>
          <a:xfrm>
            <a:off x="8750808" y="1682496"/>
            <a:ext cx="1472184" cy="31089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AI Review Agent</a:t>
            </a:r>
            <a:endParaRPr lang="en-US" sz="1100" dirty="0"/>
          </a:p>
        </p:txBody>
      </p:sp>
      <p:sp>
        <p:nvSpPr>
          <p:cNvPr id="26" name="Text 24"/>
          <p:cNvSpPr/>
          <p:nvPr/>
        </p:nvSpPr>
        <p:spPr>
          <a:xfrm>
            <a:off x="8732520" y="2340864"/>
            <a:ext cx="1508760"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bounded orchestration</a:t>
            </a:r>
            <a:endParaRPr lang="en-US" sz="800" dirty="0"/>
          </a:p>
        </p:txBody>
      </p:sp>
      <p:sp>
        <p:nvSpPr>
          <p:cNvPr id="27" name="Text 25"/>
          <p:cNvSpPr/>
          <p:nvPr/>
        </p:nvSpPr>
        <p:spPr>
          <a:xfrm>
            <a:off x="694944" y="2816352"/>
            <a:ext cx="2103120" cy="182880"/>
          </a:xfrm>
          <a:prstGeom prst="rect">
            <a:avLst/>
          </a:prstGeom>
          <a:noFill/>
          <a:ln/>
        </p:spPr>
        <p:txBody>
          <a:bodyPr wrap="square" lIns="0" tIns="0" rIns="0" bIns="0" rtlCol="0" anchor="ctr">
            <a:normAutofit/>
          </a:bodyPr>
          <a:lstStyle/>
          <a:p>
            <a:pPr algn="l" indent="0" marL="0">
              <a:lnSpc>
                <a:spcPct val="100000"/>
              </a:lnSpc>
              <a:buNone/>
            </a:pPr>
            <a:r>
              <a:rPr lang="en-US" sz="900" b="1" spc="70" kern="0" dirty="0">
                <a:solidFill>
                  <a:srgbClr val="54A6FF"/>
                </a:solidFill>
                <a:latin typeface="Aptos" pitchFamily="34" charset="0"/>
                <a:ea typeface="Aptos" pitchFamily="34" charset="-122"/>
                <a:cs typeface="Aptos" pitchFamily="34" charset="-120"/>
              </a:rPr>
              <a:t>GITHUB MCP  /  READ</a:t>
            </a:r>
            <a:endParaRPr lang="en-US" sz="900" dirty="0"/>
          </a:p>
        </p:txBody>
      </p:sp>
      <p:sp>
        <p:nvSpPr>
          <p:cNvPr id="28" name="Shape 26"/>
          <p:cNvSpPr/>
          <p:nvPr/>
        </p:nvSpPr>
        <p:spPr>
          <a:xfrm>
            <a:off x="667512" y="3127248"/>
            <a:ext cx="1737360" cy="1078992"/>
          </a:xfrm>
          <a:prstGeom prst="roundRect">
            <a:avLst>
              <a:gd name="adj" fmla="val 6780"/>
            </a:avLst>
          </a:prstGeom>
          <a:solidFill>
            <a:srgbClr val="152846"/>
          </a:solidFill>
          <a:ln w="15240">
            <a:solidFill>
              <a:srgbClr val="345173"/>
            </a:solidFill>
            <a:prstDash val="solid"/>
          </a:ln>
        </p:spPr>
      </p:sp>
      <p:sp>
        <p:nvSpPr>
          <p:cNvPr id="29" name="Text 27"/>
          <p:cNvSpPr/>
          <p:nvPr/>
        </p:nvSpPr>
        <p:spPr>
          <a:xfrm>
            <a:off x="777240" y="3236976"/>
            <a:ext cx="1517904"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pull_request_read</a:t>
            </a:r>
            <a:endParaRPr lang="en-US" sz="1000" dirty="0"/>
          </a:p>
        </p:txBody>
      </p:sp>
      <p:sp>
        <p:nvSpPr>
          <p:cNvPr id="30" name="Text 28"/>
          <p:cNvSpPr/>
          <p:nvPr/>
        </p:nvSpPr>
        <p:spPr>
          <a:xfrm>
            <a:off x="758952" y="3886200"/>
            <a:ext cx="1554480"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get_files / get_diff</a:t>
            </a:r>
            <a:endParaRPr lang="en-US" sz="800" dirty="0"/>
          </a:p>
        </p:txBody>
      </p:sp>
      <p:sp>
        <p:nvSpPr>
          <p:cNvPr id="31" name="Shape 29"/>
          <p:cNvSpPr/>
          <p:nvPr/>
        </p:nvSpPr>
        <p:spPr>
          <a:xfrm>
            <a:off x="2432304" y="3666744"/>
            <a:ext cx="310896" cy="0"/>
          </a:xfrm>
          <a:prstGeom prst="line">
            <a:avLst/>
          </a:prstGeom>
          <a:noFill/>
          <a:ln w="19050">
            <a:solidFill>
              <a:srgbClr val="54A6FF"/>
            </a:solidFill>
            <a:prstDash val="solid"/>
            <a:tailEnd type="triangle"/>
          </a:ln>
        </p:spPr>
      </p:sp>
      <p:sp>
        <p:nvSpPr>
          <p:cNvPr id="32" name="Shape 30"/>
          <p:cNvSpPr/>
          <p:nvPr/>
        </p:nvSpPr>
        <p:spPr>
          <a:xfrm>
            <a:off x="2788920" y="3127248"/>
            <a:ext cx="1737360" cy="1078992"/>
          </a:xfrm>
          <a:prstGeom prst="roundRect">
            <a:avLst>
              <a:gd name="adj" fmla="val 6780"/>
            </a:avLst>
          </a:prstGeom>
          <a:solidFill>
            <a:srgbClr val="152846"/>
          </a:solidFill>
          <a:ln w="15240">
            <a:solidFill>
              <a:srgbClr val="345173"/>
            </a:solidFill>
            <a:prstDash val="solid"/>
          </a:ln>
        </p:spPr>
      </p:sp>
      <p:sp>
        <p:nvSpPr>
          <p:cNvPr id="33" name="Text 31"/>
          <p:cNvSpPr/>
          <p:nvPr/>
        </p:nvSpPr>
        <p:spPr>
          <a:xfrm>
            <a:off x="2898648" y="3236976"/>
            <a:ext cx="1517904"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Filter + bound</a:t>
            </a:r>
            <a:endParaRPr lang="en-US" sz="1000" dirty="0"/>
          </a:p>
        </p:txBody>
      </p:sp>
      <p:sp>
        <p:nvSpPr>
          <p:cNvPr id="34" name="Text 32"/>
          <p:cNvSpPr/>
          <p:nvPr/>
        </p:nvSpPr>
        <p:spPr>
          <a:xfrm>
            <a:off x="2880360" y="3886200"/>
            <a:ext cx="1554480"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reviewable diff</a:t>
            </a:r>
            <a:endParaRPr lang="en-US" sz="800" dirty="0"/>
          </a:p>
        </p:txBody>
      </p:sp>
      <p:sp>
        <p:nvSpPr>
          <p:cNvPr id="35" name="Shape 33"/>
          <p:cNvSpPr/>
          <p:nvPr/>
        </p:nvSpPr>
        <p:spPr>
          <a:xfrm>
            <a:off x="4553712" y="3666744"/>
            <a:ext cx="310896" cy="0"/>
          </a:xfrm>
          <a:prstGeom prst="line">
            <a:avLst/>
          </a:prstGeom>
          <a:noFill/>
          <a:ln w="19050">
            <a:solidFill>
              <a:srgbClr val="54A6FF"/>
            </a:solidFill>
            <a:prstDash val="solid"/>
            <a:tailEnd type="triangle"/>
          </a:ln>
        </p:spPr>
      </p:sp>
      <p:sp>
        <p:nvSpPr>
          <p:cNvPr id="36" name="Shape 34"/>
          <p:cNvSpPr/>
          <p:nvPr/>
        </p:nvSpPr>
        <p:spPr>
          <a:xfrm>
            <a:off x="4910328" y="3127248"/>
            <a:ext cx="1737360" cy="1078992"/>
          </a:xfrm>
          <a:prstGeom prst="roundRect">
            <a:avLst>
              <a:gd name="adj" fmla="val 6780"/>
            </a:avLst>
          </a:prstGeom>
          <a:solidFill>
            <a:srgbClr val="152846"/>
          </a:solidFill>
          <a:ln w="15240">
            <a:solidFill>
              <a:srgbClr val="345173"/>
            </a:solidFill>
            <a:prstDash val="solid"/>
          </a:ln>
        </p:spPr>
      </p:sp>
      <p:sp>
        <p:nvSpPr>
          <p:cNvPr id="37" name="Text 35"/>
          <p:cNvSpPr/>
          <p:nvPr/>
        </p:nvSpPr>
        <p:spPr>
          <a:xfrm>
            <a:off x="5020056" y="3236976"/>
            <a:ext cx="1517904"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GEP / GPT</a:t>
            </a:r>
            <a:endParaRPr lang="en-US" sz="1000" dirty="0"/>
          </a:p>
        </p:txBody>
      </p:sp>
      <p:sp>
        <p:nvSpPr>
          <p:cNvPr id="38" name="Text 36"/>
          <p:cNvSpPr/>
          <p:nvPr/>
        </p:nvSpPr>
        <p:spPr>
          <a:xfrm>
            <a:off x="5001768" y="3886200"/>
            <a:ext cx="1554480"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HTTP inference</a:t>
            </a:r>
            <a:endParaRPr lang="en-US" sz="800" dirty="0"/>
          </a:p>
        </p:txBody>
      </p:sp>
      <p:sp>
        <p:nvSpPr>
          <p:cNvPr id="39" name="Shape 37"/>
          <p:cNvSpPr/>
          <p:nvPr/>
        </p:nvSpPr>
        <p:spPr>
          <a:xfrm>
            <a:off x="6675120" y="3666744"/>
            <a:ext cx="310896" cy="0"/>
          </a:xfrm>
          <a:prstGeom prst="line">
            <a:avLst/>
          </a:prstGeom>
          <a:noFill/>
          <a:ln w="19050">
            <a:solidFill>
              <a:srgbClr val="54A6FF"/>
            </a:solidFill>
            <a:prstDash val="solid"/>
            <a:tailEnd type="triangle"/>
          </a:ln>
        </p:spPr>
      </p:sp>
      <p:sp>
        <p:nvSpPr>
          <p:cNvPr id="40" name="Shape 38"/>
          <p:cNvSpPr/>
          <p:nvPr/>
        </p:nvSpPr>
        <p:spPr>
          <a:xfrm>
            <a:off x="7031736" y="3127248"/>
            <a:ext cx="1737360" cy="1078992"/>
          </a:xfrm>
          <a:prstGeom prst="roundRect">
            <a:avLst>
              <a:gd name="adj" fmla="val 6780"/>
            </a:avLst>
          </a:prstGeom>
          <a:solidFill>
            <a:srgbClr val="152846"/>
          </a:solidFill>
          <a:ln w="15240">
            <a:solidFill>
              <a:srgbClr val="345173"/>
            </a:solidFill>
            <a:prstDash val="solid"/>
          </a:ln>
        </p:spPr>
      </p:sp>
      <p:sp>
        <p:nvSpPr>
          <p:cNvPr id="41" name="Text 39"/>
          <p:cNvSpPr/>
          <p:nvPr/>
        </p:nvSpPr>
        <p:spPr>
          <a:xfrm>
            <a:off x="7141464" y="3236976"/>
            <a:ext cx="1517904"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Pydantic + map</a:t>
            </a:r>
            <a:endParaRPr lang="en-US" sz="1000" dirty="0"/>
          </a:p>
        </p:txBody>
      </p:sp>
      <p:sp>
        <p:nvSpPr>
          <p:cNvPr id="42" name="Text 40"/>
          <p:cNvSpPr/>
          <p:nvPr/>
        </p:nvSpPr>
        <p:spPr>
          <a:xfrm>
            <a:off x="7123176" y="3886200"/>
            <a:ext cx="1554480"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schema + line safety</a:t>
            </a:r>
            <a:endParaRPr lang="en-US" sz="800" dirty="0"/>
          </a:p>
        </p:txBody>
      </p:sp>
      <p:sp>
        <p:nvSpPr>
          <p:cNvPr id="43" name="Shape 41"/>
          <p:cNvSpPr/>
          <p:nvPr/>
        </p:nvSpPr>
        <p:spPr>
          <a:xfrm>
            <a:off x="8796528" y="3666744"/>
            <a:ext cx="310896" cy="0"/>
          </a:xfrm>
          <a:prstGeom prst="line">
            <a:avLst/>
          </a:prstGeom>
          <a:noFill/>
          <a:ln w="19050">
            <a:solidFill>
              <a:srgbClr val="54A6FF"/>
            </a:solidFill>
            <a:prstDash val="solid"/>
            <a:tailEnd type="triangle"/>
          </a:ln>
        </p:spPr>
      </p:sp>
      <p:sp>
        <p:nvSpPr>
          <p:cNvPr id="44" name="Shape 42"/>
          <p:cNvSpPr/>
          <p:nvPr/>
        </p:nvSpPr>
        <p:spPr>
          <a:xfrm>
            <a:off x="9153144" y="3127248"/>
            <a:ext cx="1737360" cy="1078992"/>
          </a:xfrm>
          <a:prstGeom prst="roundRect">
            <a:avLst>
              <a:gd name="adj" fmla="val 6780"/>
            </a:avLst>
          </a:prstGeom>
          <a:solidFill>
            <a:srgbClr val="173754"/>
          </a:solidFill>
          <a:ln w="15240">
            <a:solidFill>
              <a:srgbClr val="30C7D9"/>
            </a:solidFill>
            <a:prstDash val="solid"/>
          </a:ln>
        </p:spPr>
      </p:sp>
      <p:sp>
        <p:nvSpPr>
          <p:cNvPr id="45" name="Text 43"/>
          <p:cNvSpPr/>
          <p:nvPr/>
        </p:nvSpPr>
        <p:spPr>
          <a:xfrm>
            <a:off x="9262872" y="3236976"/>
            <a:ext cx="1517904"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MCP review</a:t>
            </a:r>
            <a:endParaRPr lang="en-US" sz="1000" dirty="0"/>
          </a:p>
        </p:txBody>
      </p:sp>
      <p:sp>
        <p:nvSpPr>
          <p:cNvPr id="46" name="Text 44"/>
          <p:cNvSpPr/>
          <p:nvPr/>
        </p:nvSpPr>
        <p:spPr>
          <a:xfrm>
            <a:off x="9244584" y="3886200"/>
            <a:ext cx="1554480" cy="173736"/>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B9C9DE"/>
                </a:solidFill>
                <a:latin typeface="Aptos" pitchFamily="34" charset="0"/>
                <a:ea typeface="Aptos" pitchFamily="34" charset="-122"/>
                <a:cs typeface="Aptos" pitchFamily="34" charset="-120"/>
              </a:rPr>
              <a:t>summary + inline</a:t>
            </a:r>
            <a:endParaRPr lang="en-US" sz="800" dirty="0"/>
          </a:p>
        </p:txBody>
      </p:sp>
      <p:sp>
        <p:nvSpPr>
          <p:cNvPr id="47" name="Shape 45"/>
          <p:cNvSpPr/>
          <p:nvPr/>
        </p:nvSpPr>
        <p:spPr>
          <a:xfrm>
            <a:off x="10058400" y="4352544"/>
            <a:ext cx="0" cy="612648"/>
          </a:xfrm>
          <a:prstGeom prst="line">
            <a:avLst/>
          </a:prstGeom>
          <a:noFill/>
          <a:ln w="19050">
            <a:solidFill>
              <a:srgbClr val="30C7D9"/>
            </a:solidFill>
            <a:prstDash val="solid"/>
            <a:tailEnd type="triangle"/>
          </a:ln>
        </p:spPr>
      </p:sp>
      <p:sp>
        <p:nvSpPr>
          <p:cNvPr id="48" name="Shape 46"/>
          <p:cNvSpPr/>
          <p:nvPr/>
        </p:nvSpPr>
        <p:spPr>
          <a:xfrm>
            <a:off x="4069080" y="5001768"/>
            <a:ext cx="4069080" cy="658368"/>
          </a:xfrm>
          <a:prstGeom prst="roundRect">
            <a:avLst>
              <a:gd name="adj" fmla="val 11111"/>
            </a:avLst>
          </a:prstGeom>
          <a:solidFill>
            <a:srgbClr val="1A3153"/>
          </a:solidFill>
          <a:ln w="12700">
            <a:solidFill>
              <a:srgbClr val="345173"/>
            </a:solidFill>
            <a:prstDash val="solid"/>
          </a:ln>
        </p:spPr>
      </p:sp>
      <p:sp>
        <p:nvSpPr>
          <p:cNvPr id="49" name="Text 47"/>
          <p:cNvSpPr/>
          <p:nvPr/>
        </p:nvSpPr>
        <p:spPr>
          <a:xfrm>
            <a:off x="4261104" y="5193792"/>
            <a:ext cx="3685032" cy="22860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GitHub Pull Request  ·  COMMENT review  ·  human decides</a:t>
            </a:r>
            <a:endParaRPr lang="en-US" sz="1200" dirty="0"/>
          </a:p>
        </p:txBody>
      </p:sp>
      <p:sp>
        <p:nvSpPr>
          <p:cNvPr id="50" name="Text 48"/>
          <p:cNvSpPr/>
          <p:nvPr/>
        </p:nvSpPr>
        <p:spPr>
          <a:xfrm>
            <a:off x="914400" y="5998464"/>
            <a:ext cx="1508760" cy="18288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54A6FF"/>
                </a:solidFill>
                <a:latin typeface="Aptos" pitchFamily="34" charset="0"/>
                <a:ea typeface="Aptos" pitchFamily="34" charset="-122"/>
                <a:cs typeface="Aptos" pitchFamily="34" charset="-120"/>
              </a:rPr>
              <a:t>Actions</a:t>
            </a:r>
            <a:endParaRPr lang="en-US" sz="900" dirty="0"/>
          </a:p>
        </p:txBody>
      </p:sp>
      <p:sp>
        <p:nvSpPr>
          <p:cNvPr id="51" name="Text 49"/>
          <p:cNvSpPr/>
          <p:nvPr/>
        </p:nvSpPr>
        <p:spPr>
          <a:xfrm>
            <a:off x="2944368" y="5998464"/>
            <a:ext cx="1508760" cy="18288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30C7D9"/>
                </a:solidFill>
                <a:latin typeface="Aptos" pitchFamily="34" charset="0"/>
                <a:ea typeface="Aptos" pitchFamily="34" charset="-122"/>
                <a:cs typeface="Aptos" pitchFamily="34" charset="-120"/>
              </a:rPr>
              <a:t>GitHub MCP</a:t>
            </a:r>
            <a:endParaRPr lang="en-US" sz="900" dirty="0"/>
          </a:p>
        </p:txBody>
      </p:sp>
      <p:sp>
        <p:nvSpPr>
          <p:cNvPr id="52" name="Text 50"/>
          <p:cNvSpPr/>
          <p:nvPr/>
        </p:nvSpPr>
        <p:spPr>
          <a:xfrm>
            <a:off x="4974336" y="5998464"/>
            <a:ext cx="1508760" cy="18288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GEP reasoning</a:t>
            </a:r>
            <a:endParaRPr lang="en-US" sz="900" dirty="0"/>
          </a:p>
        </p:txBody>
      </p:sp>
      <p:sp>
        <p:nvSpPr>
          <p:cNvPr id="53" name="Text 51"/>
          <p:cNvSpPr/>
          <p:nvPr/>
        </p:nvSpPr>
        <p:spPr>
          <a:xfrm>
            <a:off x="7004304" y="5998464"/>
            <a:ext cx="1508760" cy="18288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A9D9FF"/>
                </a:solidFill>
                <a:latin typeface="Aptos" pitchFamily="34" charset="0"/>
                <a:ea typeface="Aptos" pitchFamily="34" charset="-122"/>
                <a:cs typeface="Aptos" pitchFamily="34" charset="-120"/>
              </a:rPr>
              <a:t>Validation</a:t>
            </a:r>
            <a:endParaRPr lang="en-US" sz="900" dirty="0"/>
          </a:p>
        </p:txBody>
      </p:sp>
      <p:sp>
        <p:nvSpPr>
          <p:cNvPr id="54" name="Text 52"/>
          <p:cNvSpPr/>
          <p:nvPr/>
        </p:nvSpPr>
        <p:spPr>
          <a:xfrm>
            <a:off x="9034272" y="5998464"/>
            <a:ext cx="1508760" cy="18288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Human authority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969DA"/>
          </a:solidFill>
          <a:ln w="12700">
            <a:solidFill>
              <a:srgbClr val="0969DA">
                <a:alpha val="0"/>
              </a:srgbClr>
            </a:solidFill>
            <a:prstDash val="solid"/>
          </a:ln>
        </p:spPr>
      </p:sp>
      <p:sp>
        <p:nvSpPr>
          <p:cNvPr id="3" name="Text 1"/>
          <p:cNvSpPr/>
          <p:nvPr/>
        </p:nvSpPr>
        <p:spPr>
          <a:xfrm>
            <a:off x="566928" y="283464"/>
            <a:ext cx="7132320" cy="173736"/>
          </a:xfrm>
          <a:prstGeom prst="rect">
            <a:avLst/>
          </a:prstGeom>
          <a:noFill/>
          <a:ln/>
        </p:spPr>
        <p:txBody>
          <a:bodyPr wrap="square" lIns="0" tIns="0" rIns="0" bIns="0" rtlCol="0" anchor="ctr">
            <a:normAutofit/>
          </a:bodyPr>
          <a:lstStyle/>
          <a:p>
            <a:pPr algn="l" indent="0" marL="0">
              <a:lnSpc>
                <a:spcPct val="100000"/>
              </a:lnSpc>
              <a:buNone/>
            </a:pPr>
            <a:r>
              <a:rPr lang="en-US" sz="900" b="1" spc="90" kern="0" dirty="0">
                <a:solidFill>
                  <a:srgbClr val="0969DA"/>
                </a:solidFill>
                <a:latin typeface="Aptos" pitchFamily="34" charset="0"/>
                <a:ea typeface="Aptos" pitchFamily="34" charset="-122"/>
                <a:cs typeface="Aptos" pitchFamily="34" charset="-120"/>
              </a:rPr>
              <a:t>BOUNDED INPUT, VALIDATED OUTPUT</a:t>
            </a:r>
            <a:endParaRPr lang="en-US" sz="900" dirty="0"/>
          </a:p>
        </p:txBody>
      </p:sp>
      <p:sp>
        <p:nvSpPr>
          <p:cNvPr id="4" name="Text 2"/>
          <p:cNvSpPr/>
          <p:nvPr/>
        </p:nvSpPr>
        <p:spPr>
          <a:xfrm>
            <a:off x="566928" y="603504"/>
            <a:ext cx="10972800"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33D"/>
                </a:solidFill>
                <a:latin typeface="Aptos Display" pitchFamily="34" charset="0"/>
                <a:ea typeface="Aptos Display" pitchFamily="34" charset="-122"/>
                <a:cs typeface="Aptos Display" pitchFamily="34" charset="-120"/>
              </a:rPr>
              <a:t>Review Intelligence &amp; Safety</a:t>
            </a:r>
            <a:endParaRPr lang="en-US" sz="2700" dirty="0"/>
          </a:p>
        </p:txBody>
      </p:sp>
      <p:sp>
        <p:nvSpPr>
          <p:cNvPr id="5" name="Shape 3"/>
          <p:cNvSpPr/>
          <p:nvPr/>
        </p:nvSpPr>
        <p:spPr>
          <a:xfrm>
            <a:off x="566928" y="1207008"/>
            <a:ext cx="11064240" cy="0"/>
          </a:xfrm>
          <a:prstGeom prst="line">
            <a:avLst/>
          </a:prstGeom>
          <a:noFill/>
          <a:ln w="11430">
            <a:solidFill>
              <a:srgbClr val="D4DEEA"/>
            </a:solidFill>
            <a:prstDash val="solid"/>
            <a:tailEnd type="none"/>
          </a:ln>
        </p:spPr>
      </p:sp>
      <p:sp>
        <p:nvSpPr>
          <p:cNvPr id="6" name="Text 4"/>
          <p:cNvSpPr/>
          <p:nvPr/>
        </p:nvSpPr>
        <p:spPr>
          <a:xfrm>
            <a:off x="566928" y="6537960"/>
            <a:ext cx="5669280" cy="137160"/>
          </a:xfrm>
          <a:prstGeom prst="rect">
            <a:avLst/>
          </a:prstGeom>
          <a:noFill/>
          <a:ln/>
        </p:spPr>
        <p:txBody>
          <a:bodyPr wrap="square" lIns="0" tIns="0" rIns="0" bIns="0" rtlCol="0" anchor="ctr">
            <a:normAutofit/>
          </a:bodyPr>
          <a:lstStyle/>
          <a:p>
            <a:pPr algn="l" indent="0" marL="0">
              <a:lnSpc>
                <a:spcPct val="100000"/>
              </a:lnSpc>
              <a:buNone/>
            </a:pPr>
            <a:r>
              <a:rPr lang="en-US" sz="800" b="1" spc="40" kern="0" dirty="0">
                <a:solidFill>
                  <a:srgbClr val="8492A6"/>
                </a:solidFill>
                <a:latin typeface="Aptos" pitchFamily="34" charset="0"/>
                <a:ea typeface="Aptos" pitchFamily="34" charset="-122"/>
                <a:cs typeface="Aptos" pitchFamily="34" charset="-120"/>
              </a:rPr>
              <a:t>AI CODE REVIEW AGENT  /  P1 + P2</a:t>
            </a:r>
            <a:endParaRPr lang="en-US" sz="800" dirty="0"/>
          </a:p>
        </p:txBody>
      </p:sp>
      <p:sp>
        <p:nvSpPr>
          <p:cNvPr id="7" name="Text 5"/>
          <p:cNvSpPr/>
          <p:nvPr/>
        </p:nvSpPr>
        <p:spPr>
          <a:xfrm>
            <a:off x="11018520" y="6510528"/>
            <a:ext cx="530352" cy="164592"/>
          </a:xfrm>
          <a:prstGeom prst="rect">
            <a:avLst/>
          </a:prstGeom>
          <a:noFill/>
          <a:ln/>
        </p:spPr>
        <p:txBody>
          <a:bodyPr wrap="square" lIns="0" tIns="0" rIns="0" bIns="0" rtlCol="0" anchor="ctr">
            <a:normAutofit/>
          </a:bodyPr>
          <a:lstStyle/>
          <a:p>
            <a:pPr algn="r" indent="0" marL="0">
              <a:lnSpc>
                <a:spcPct val="100000"/>
              </a:lnSpc>
              <a:buNone/>
            </a:pPr>
            <a:r>
              <a:rPr lang="en-US" sz="900" b="1" dirty="0">
                <a:solidFill>
                  <a:srgbClr val="0969DA"/>
                </a:solidFill>
                <a:latin typeface="Aptos" pitchFamily="34" charset="0"/>
                <a:ea typeface="Aptos" pitchFamily="34" charset="-122"/>
                <a:cs typeface="Aptos" pitchFamily="34" charset="-120"/>
              </a:rPr>
              <a:t>04</a:t>
            </a:r>
            <a:endParaRPr lang="en-US" sz="900" dirty="0"/>
          </a:p>
        </p:txBody>
      </p:sp>
      <p:sp>
        <p:nvSpPr>
          <p:cNvPr id="8" name="Shape 6"/>
          <p:cNvSpPr/>
          <p:nvPr/>
        </p:nvSpPr>
        <p:spPr>
          <a:xfrm>
            <a:off x="676656" y="1755648"/>
            <a:ext cx="1353312" cy="1353312"/>
          </a:xfrm>
          <a:prstGeom prst="roundRect">
            <a:avLst>
              <a:gd name="adj" fmla="val 5405"/>
            </a:avLst>
          </a:prstGeom>
          <a:solidFill>
            <a:srgbClr val="FFFFFF"/>
          </a:solidFill>
          <a:ln w="13970">
            <a:solidFill>
              <a:srgbClr val="D4DEEA"/>
            </a:solidFill>
            <a:prstDash val="solid"/>
          </a:ln>
        </p:spPr>
      </p:sp>
      <p:sp>
        <p:nvSpPr>
          <p:cNvPr id="9" name="Shape 7"/>
          <p:cNvSpPr/>
          <p:nvPr/>
        </p:nvSpPr>
        <p:spPr>
          <a:xfrm>
            <a:off x="804672" y="1920240"/>
            <a:ext cx="256032" cy="256032"/>
          </a:xfrm>
          <a:prstGeom prst="ellipse">
            <a:avLst/>
          </a:prstGeom>
          <a:solidFill>
            <a:srgbClr val="0969DA"/>
          </a:solidFill>
          <a:ln w="12700">
            <a:solidFill>
              <a:srgbClr val="0969DA">
                <a:alpha val="0"/>
              </a:srgbClr>
            </a:solidFill>
            <a:prstDash val="solid"/>
          </a:ln>
        </p:spPr>
      </p:sp>
      <p:sp>
        <p:nvSpPr>
          <p:cNvPr id="10" name="Text 8"/>
          <p:cNvSpPr/>
          <p:nvPr/>
        </p:nvSpPr>
        <p:spPr>
          <a:xfrm>
            <a:off x="804672" y="1952244"/>
            <a:ext cx="256032" cy="173736"/>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1" name="Text 9"/>
          <p:cNvSpPr/>
          <p:nvPr/>
        </p:nvSpPr>
        <p:spPr>
          <a:xfrm>
            <a:off x="804672" y="2331720"/>
            <a:ext cx="1097280" cy="49377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Changed PR</a:t>
            </a:r>
            <a:endParaRPr lang="en-US" sz="1100" dirty="0"/>
          </a:p>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files</a:t>
            </a:r>
            <a:endParaRPr lang="en-US" sz="1100" dirty="0"/>
          </a:p>
        </p:txBody>
      </p:sp>
      <p:sp>
        <p:nvSpPr>
          <p:cNvPr id="12" name="Shape 10"/>
          <p:cNvSpPr/>
          <p:nvPr/>
        </p:nvSpPr>
        <p:spPr>
          <a:xfrm>
            <a:off x="2057400" y="2432304"/>
            <a:ext cx="256032" cy="0"/>
          </a:xfrm>
          <a:prstGeom prst="line">
            <a:avLst/>
          </a:prstGeom>
          <a:noFill/>
          <a:ln w="19050">
            <a:solidFill>
              <a:srgbClr val="0969DA"/>
            </a:solidFill>
            <a:prstDash val="solid"/>
            <a:tailEnd type="triangle"/>
          </a:ln>
        </p:spPr>
      </p:sp>
      <p:sp>
        <p:nvSpPr>
          <p:cNvPr id="13" name="Shape 11"/>
          <p:cNvSpPr/>
          <p:nvPr/>
        </p:nvSpPr>
        <p:spPr>
          <a:xfrm>
            <a:off x="2350008" y="1755648"/>
            <a:ext cx="1353312" cy="1353312"/>
          </a:xfrm>
          <a:prstGeom prst="roundRect">
            <a:avLst>
              <a:gd name="adj" fmla="val 5405"/>
            </a:avLst>
          </a:prstGeom>
          <a:solidFill>
            <a:srgbClr val="FFFFFF"/>
          </a:solidFill>
          <a:ln w="13970">
            <a:solidFill>
              <a:srgbClr val="D4DEEA"/>
            </a:solidFill>
            <a:prstDash val="solid"/>
          </a:ln>
        </p:spPr>
      </p:sp>
      <p:sp>
        <p:nvSpPr>
          <p:cNvPr id="14" name="Shape 12"/>
          <p:cNvSpPr/>
          <p:nvPr/>
        </p:nvSpPr>
        <p:spPr>
          <a:xfrm>
            <a:off x="2478024" y="1920240"/>
            <a:ext cx="256032" cy="256032"/>
          </a:xfrm>
          <a:prstGeom prst="ellipse">
            <a:avLst/>
          </a:prstGeom>
          <a:solidFill>
            <a:srgbClr val="0969DA"/>
          </a:solidFill>
          <a:ln w="12700">
            <a:solidFill>
              <a:srgbClr val="0969DA">
                <a:alpha val="0"/>
              </a:srgbClr>
            </a:solidFill>
            <a:prstDash val="solid"/>
          </a:ln>
        </p:spPr>
      </p:sp>
      <p:sp>
        <p:nvSpPr>
          <p:cNvPr id="15" name="Text 13"/>
          <p:cNvSpPr/>
          <p:nvPr/>
        </p:nvSpPr>
        <p:spPr>
          <a:xfrm>
            <a:off x="2478024" y="1952244"/>
            <a:ext cx="256032" cy="173736"/>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6" name="Text 14"/>
          <p:cNvSpPr/>
          <p:nvPr/>
        </p:nvSpPr>
        <p:spPr>
          <a:xfrm>
            <a:off x="2478024" y="2331720"/>
            <a:ext cx="1097280" cy="49377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Filter ignored</a:t>
            </a:r>
            <a:endParaRPr lang="en-US" sz="1100" dirty="0"/>
          </a:p>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content</a:t>
            </a:r>
            <a:endParaRPr lang="en-US" sz="1100" dirty="0"/>
          </a:p>
        </p:txBody>
      </p:sp>
      <p:sp>
        <p:nvSpPr>
          <p:cNvPr id="17" name="Shape 15"/>
          <p:cNvSpPr/>
          <p:nvPr/>
        </p:nvSpPr>
        <p:spPr>
          <a:xfrm>
            <a:off x="3730752" y="2432304"/>
            <a:ext cx="256032" cy="0"/>
          </a:xfrm>
          <a:prstGeom prst="line">
            <a:avLst/>
          </a:prstGeom>
          <a:noFill/>
          <a:ln w="19050">
            <a:solidFill>
              <a:srgbClr val="0969DA"/>
            </a:solidFill>
            <a:prstDash val="solid"/>
            <a:tailEnd type="triangle"/>
          </a:ln>
        </p:spPr>
      </p:sp>
      <p:sp>
        <p:nvSpPr>
          <p:cNvPr id="18" name="Shape 16"/>
          <p:cNvSpPr/>
          <p:nvPr/>
        </p:nvSpPr>
        <p:spPr>
          <a:xfrm>
            <a:off x="4023360" y="1755648"/>
            <a:ext cx="1353312" cy="1353312"/>
          </a:xfrm>
          <a:prstGeom prst="roundRect">
            <a:avLst>
              <a:gd name="adj" fmla="val 5405"/>
            </a:avLst>
          </a:prstGeom>
          <a:solidFill>
            <a:srgbClr val="FFFFFF"/>
          </a:solidFill>
          <a:ln w="13970">
            <a:solidFill>
              <a:srgbClr val="D4DEEA"/>
            </a:solidFill>
            <a:prstDash val="solid"/>
          </a:ln>
        </p:spPr>
      </p:sp>
      <p:sp>
        <p:nvSpPr>
          <p:cNvPr id="19" name="Shape 17"/>
          <p:cNvSpPr/>
          <p:nvPr/>
        </p:nvSpPr>
        <p:spPr>
          <a:xfrm>
            <a:off x="4151376" y="1920240"/>
            <a:ext cx="256032" cy="256032"/>
          </a:xfrm>
          <a:prstGeom prst="ellipse">
            <a:avLst/>
          </a:prstGeom>
          <a:solidFill>
            <a:srgbClr val="0969DA"/>
          </a:solidFill>
          <a:ln w="12700">
            <a:solidFill>
              <a:srgbClr val="0969DA">
                <a:alpha val="0"/>
              </a:srgbClr>
            </a:solidFill>
            <a:prstDash val="solid"/>
          </a:ln>
        </p:spPr>
      </p:sp>
      <p:sp>
        <p:nvSpPr>
          <p:cNvPr id="20" name="Text 18"/>
          <p:cNvSpPr/>
          <p:nvPr/>
        </p:nvSpPr>
        <p:spPr>
          <a:xfrm>
            <a:off x="4151376" y="1952244"/>
            <a:ext cx="256032" cy="173736"/>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1" name="Text 19"/>
          <p:cNvSpPr/>
          <p:nvPr/>
        </p:nvSpPr>
        <p:spPr>
          <a:xfrm>
            <a:off x="4151376" y="2331720"/>
            <a:ext cx="1097280" cy="49377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Bound diff</a:t>
            </a:r>
            <a:endParaRPr lang="en-US" sz="1100" dirty="0"/>
          </a:p>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context</a:t>
            </a:r>
            <a:endParaRPr lang="en-US" sz="1100" dirty="0"/>
          </a:p>
        </p:txBody>
      </p:sp>
      <p:sp>
        <p:nvSpPr>
          <p:cNvPr id="22" name="Shape 20"/>
          <p:cNvSpPr/>
          <p:nvPr/>
        </p:nvSpPr>
        <p:spPr>
          <a:xfrm>
            <a:off x="5404104" y="2432304"/>
            <a:ext cx="256032" cy="0"/>
          </a:xfrm>
          <a:prstGeom prst="line">
            <a:avLst/>
          </a:prstGeom>
          <a:noFill/>
          <a:ln w="19050">
            <a:solidFill>
              <a:srgbClr val="0969DA"/>
            </a:solidFill>
            <a:prstDash val="solid"/>
            <a:tailEnd type="triangle"/>
          </a:ln>
        </p:spPr>
      </p:sp>
      <p:sp>
        <p:nvSpPr>
          <p:cNvPr id="23" name="Shape 21"/>
          <p:cNvSpPr/>
          <p:nvPr/>
        </p:nvSpPr>
        <p:spPr>
          <a:xfrm>
            <a:off x="5696712" y="1755648"/>
            <a:ext cx="1353312" cy="1353312"/>
          </a:xfrm>
          <a:prstGeom prst="roundRect">
            <a:avLst>
              <a:gd name="adj" fmla="val 5405"/>
            </a:avLst>
          </a:prstGeom>
          <a:solidFill>
            <a:srgbClr val="FFFFFF"/>
          </a:solidFill>
          <a:ln w="13970">
            <a:solidFill>
              <a:srgbClr val="D4DEEA"/>
            </a:solidFill>
            <a:prstDash val="solid"/>
          </a:ln>
        </p:spPr>
      </p:sp>
      <p:sp>
        <p:nvSpPr>
          <p:cNvPr id="24" name="Shape 22"/>
          <p:cNvSpPr/>
          <p:nvPr/>
        </p:nvSpPr>
        <p:spPr>
          <a:xfrm>
            <a:off x="5824728" y="1920240"/>
            <a:ext cx="256032" cy="256032"/>
          </a:xfrm>
          <a:prstGeom prst="ellipse">
            <a:avLst/>
          </a:prstGeom>
          <a:solidFill>
            <a:srgbClr val="0969DA"/>
          </a:solidFill>
          <a:ln w="12700">
            <a:solidFill>
              <a:srgbClr val="0969DA">
                <a:alpha val="0"/>
              </a:srgbClr>
            </a:solidFill>
            <a:prstDash val="solid"/>
          </a:ln>
        </p:spPr>
      </p:sp>
      <p:sp>
        <p:nvSpPr>
          <p:cNvPr id="25" name="Text 23"/>
          <p:cNvSpPr/>
          <p:nvPr/>
        </p:nvSpPr>
        <p:spPr>
          <a:xfrm>
            <a:off x="5824728" y="1952244"/>
            <a:ext cx="256032" cy="173736"/>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26" name="Text 24"/>
          <p:cNvSpPr/>
          <p:nvPr/>
        </p:nvSpPr>
        <p:spPr>
          <a:xfrm>
            <a:off x="5824728" y="2331720"/>
            <a:ext cx="1097280" cy="49377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Map added</a:t>
            </a:r>
            <a:endParaRPr lang="en-US" sz="1100" dirty="0"/>
          </a:p>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RIGHT lines</a:t>
            </a:r>
            <a:endParaRPr lang="en-US" sz="1100" dirty="0"/>
          </a:p>
        </p:txBody>
      </p:sp>
      <p:sp>
        <p:nvSpPr>
          <p:cNvPr id="27" name="Shape 25"/>
          <p:cNvSpPr/>
          <p:nvPr/>
        </p:nvSpPr>
        <p:spPr>
          <a:xfrm>
            <a:off x="7077456" y="2432304"/>
            <a:ext cx="256032" cy="0"/>
          </a:xfrm>
          <a:prstGeom prst="line">
            <a:avLst/>
          </a:prstGeom>
          <a:noFill/>
          <a:ln w="19050">
            <a:solidFill>
              <a:srgbClr val="0969DA"/>
            </a:solidFill>
            <a:prstDash val="solid"/>
            <a:tailEnd type="triangle"/>
          </a:ln>
        </p:spPr>
      </p:sp>
      <p:sp>
        <p:nvSpPr>
          <p:cNvPr id="28" name="Shape 26"/>
          <p:cNvSpPr/>
          <p:nvPr/>
        </p:nvSpPr>
        <p:spPr>
          <a:xfrm>
            <a:off x="7370064" y="1755648"/>
            <a:ext cx="1353312" cy="1353312"/>
          </a:xfrm>
          <a:prstGeom prst="roundRect">
            <a:avLst>
              <a:gd name="adj" fmla="val 5405"/>
            </a:avLst>
          </a:prstGeom>
          <a:solidFill>
            <a:srgbClr val="FFFFFF"/>
          </a:solidFill>
          <a:ln w="13970">
            <a:solidFill>
              <a:srgbClr val="D4DEEA"/>
            </a:solidFill>
            <a:prstDash val="solid"/>
          </a:ln>
        </p:spPr>
      </p:sp>
      <p:sp>
        <p:nvSpPr>
          <p:cNvPr id="29" name="Shape 27"/>
          <p:cNvSpPr/>
          <p:nvPr/>
        </p:nvSpPr>
        <p:spPr>
          <a:xfrm>
            <a:off x="7498080" y="1920240"/>
            <a:ext cx="256032" cy="256032"/>
          </a:xfrm>
          <a:prstGeom prst="ellipse">
            <a:avLst/>
          </a:prstGeom>
          <a:solidFill>
            <a:srgbClr val="0969DA"/>
          </a:solidFill>
          <a:ln w="12700">
            <a:solidFill>
              <a:srgbClr val="0969DA">
                <a:alpha val="0"/>
              </a:srgbClr>
            </a:solidFill>
            <a:prstDash val="solid"/>
          </a:ln>
        </p:spPr>
      </p:sp>
      <p:sp>
        <p:nvSpPr>
          <p:cNvPr id="30" name="Text 28"/>
          <p:cNvSpPr/>
          <p:nvPr/>
        </p:nvSpPr>
        <p:spPr>
          <a:xfrm>
            <a:off x="7498080" y="1952244"/>
            <a:ext cx="256032" cy="173736"/>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5</a:t>
            </a:r>
            <a:endParaRPr lang="en-US" sz="900" dirty="0"/>
          </a:p>
        </p:txBody>
      </p:sp>
      <p:sp>
        <p:nvSpPr>
          <p:cNvPr id="31" name="Text 29"/>
          <p:cNvSpPr/>
          <p:nvPr/>
        </p:nvSpPr>
        <p:spPr>
          <a:xfrm>
            <a:off x="7498080" y="2331720"/>
            <a:ext cx="1097280" cy="49377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Policy +</a:t>
            </a:r>
            <a:endParaRPr lang="en-US" sz="1100" dirty="0"/>
          </a:p>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GEP analysis</a:t>
            </a:r>
            <a:endParaRPr lang="en-US" sz="1100" dirty="0"/>
          </a:p>
        </p:txBody>
      </p:sp>
      <p:sp>
        <p:nvSpPr>
          <p:cNvPr id="32" name="Shape 30"/>
          <p:cNvSpPr/>
          <p:nvPr/>
        </p:nvSpPr>
        <p:spPr>
          <a:xfrm>
            <a:off x="8750808" y="2432304"/>
            <a:ext cx="256032" cy="0"/>
          </a:xfrm>
          <a:prstGeom prst="line">
            <a:avLst/>
          </a:prstGeom>
          <a:noFill/>
          <a:ln w="19050">
            <a:solidFill>
              <a:srgbClr val="0969DA"/>
            </a:solidFill>
            <a:prstDash val="solid"/>
            <a:tailEnd type="triangle"/>
          </a:ln>
        </p:spPr>
      </p:sp>
      <p:sp>
        <p:nvSpPr>
          <p:cNvPr id="33" name="Shape 31"/>
          <p:cNvSpPr/>
          <p:nvPr/>
        </p:nvSpPr>
        <p:spPr>
          <a:xfrm>
            <a:off x="9043416" y="1755648"/>
            <a:ext cx="1353312" cy="1353312"/>
          </a:xfrm>
          <a:prstGeom prst="roundRect">
            <a:avLst>
              <a:gd name="adj" fmla="val 5405"/>
            </a:avLst>
          </a:prstGeom>
          <a:solidFill>
            <a:srgbClr val="FFFFFF"/>
          </a:solidFill>
          <a:ln w="13970">
            <a:solidFill>
              <a:srgbClr val="D4DEEA"/>
            </a:solidFill>
            <a:prstDash val="solid"/>
          </a:ln>
        </p:spPr>
      </p:sp>
      <p:sp>
        <p:nvSpPr>
          <p:cNvPr id="34" name="Shape 32"/>
          <p:cNvSpPr/>
          <p:nvPr/>
        </p:nvSpPr>
        <p:spPr>
          <a:xfrm>
            <a:off x="9171432" y="1920240"/>
            <a:ext cx="256032" cy="256032"/>
          </a:xfrm>
          <a:prstGeom prst="ellipse">
            <a:avLst/>
          </a:prstGeom>
          <a:solidFill>
            <a:srgbClr val="0969DA"/>
          </a:solidFill>
          <a:ln w="12700">
            <a:solidFill>
              <a:srgbClr val="0969DA">
                <a:alpha val="0"/>
              </a:srgbClr>
            </a:solidFill>
            <a:prstDash val="solid"/>
          </a:ln>
        </p:spPr>
      </p:sp>
      <p:sp>
        <p:nvSpPr>
          <p:cNvPr id="35" name="Text 33"/>
          <p:cNvSpPr/>
          <p:nvPr/>
        </p:nvSpPr>
        <p:spPr>
          <a:xfrm>
            <a:off x="9171432" y="1952244"/>
            <a:ext cx="256032" cy="173736"/>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6</a:t>
            </a:r>
            <a:endParaRPr lang="en-US" sz="900" dirty="0"/>
          </a:p>
        </p:txBody>
      </p:sp>
      <p:sp>
        <p:nvSpPr>
          <p:cNvPr id="36" name="Text 34"/>
          <p:cNvSpPr/>
          <p:nvPr/>
        </p:nvSpPr>
        <p:spPr>
          <a:xfrm>
            <a:off x="9171432" y="2331720"/>
            <a:ext cx="1097280" cy="49377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Pydantic</a:t>
            </a:r>
            <a:endParaRPr lang="en-US" sz="1100" dirty="0"/>
          </a:p>
          <a:p>
            <a:pPr algn="ctr" indent="0" marL="0">
              <a:lnSpc>
                <a:spcPct val="100000"/>
              </a:lnSpc>
              <a:buNone/>
            </a:pPr>
            <a:r>
              <a:rPr lang="en-US" sz="1100" b="1" dirty="0">
                <a:solidFill>
                  <a:srgbClr val="13233D"/>
                </a:solidFill>
                <a:latin typeface="Aptos" pitchFamily="34" charset="0"/>
                <a:ea typeface="Aptos" pitchFamily="34" charset="-122"/>
                <a:cs typeface="Aptos" pitchFamily="34" charset="-120"/>
              </a:rPr>
              <a:t>validation</a:t>
            </a:r>
            <a:endParaRPr lang="en-US" sz="1100" dirty="0"/>
          </a:p>
        </p:txBody>
      </p:sp>
      <p:sp>
        <p:nvSpPr>
          <p:cNvPr id="37" name="Shape 35"/>
          <p:cNvSpPr/>
          <p:nvPr/>
        </p:nvSpPr>
        <p:spPr>
          <a:xfrm>
            <a:off x="10424160" y="2432304"/>
            <a:ext cx="256032" cy="0"/>
          </a:xfrm>
          <a:prstGeom prst="line">
            <a:avLst/>
          </a:prstGeom>
          <a:noFill/>
          <a:ln w="19050">
            <a:solidFill>
              <a:srgbClr val="0969DA"/>
            </a:solidFill>
            <a:prstDash val="solid"/>
            <a:tailEnd type="triangle"/>
          </a:ln>
        </p:spPr>
      </p:sp>
      <p:sp>
        <p:nvSpPr>
          <p:cNvPr id="38" name="Shape 36"/>
          <p:cNvSpPr/>
          <p:nvPr/>
        </p:nvSpPr>
        <p:spPr>
          <a:xfrm>
            <a:off x="10716768" y="1755648"/>
            <a:ext cx="1353312" cy="1353312"/>
          </a:xfrm>
          <a:prstGeom prst="roundRect">
            <a:avLst>
              <a:gd name="adj" fmla="val 5405"/>
            </a:avLst>
          </a:prstGeom>
          <a:solidFill>
            <a:srgbClr val="0B1730"/>
          </a:solidFill>
          <a:ln w="13970">
            <a:solidFill>
              <a:srgbClr val="0B1730"/>
            </a:solidFill>
            <a:prstDash val="solid"/>
          </a:ln>
        </p:spPr>
      </p:sp>
      <p:sp>
        <p:nvSpPr>
          <p:cNvPr id="39" name="Shape 37"/>
          <p:cNvSpPr/>
          <p:nvPr/>
        </p:nvSpPr>
        <p:spPr>
          <a:xfrm>
            <a:off x="10844784" y="1920240"/>
            <a:ext cx="256032" cy="256032"/>
          </a:xfrm>
          <a:prstGeom prst="ellipse">
            <a:avLst/>
          </a:prstGeom>
          <a:solidFill>
            <a:srgbClr val="30C7D9"/>
          </a:solidFill>
          <a:ln w="12700">
            <a:solidFill>
              <a:srgbClr val="30C7D9">
                <a:alpha val="0"/>
              </a:srgbClr>
            </a:solidFill>
            <a:prstDash val="solid"/>
          </a:ln>
        </p:spPr>
      </p:sp>
      <p:sp>
        <p:nvSpPr>
          <p:cNvPr id="40" name="Text 38"/>
          <p:cNvSpPr/>
          <p:nvPr/>
        </p:nvSpPr>
        <p:spPr>
          <a:xfrm>
            <a:off x="10844784" y="1952244"/>
            <a:ext cx="256032" cy="173736"/>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7</a:t>
            </a:r>
            <a:endParaRPr lang="en-US" sz="900" dirty="0"/>
          </a:p>
        </p:txBody>
      </p:sp>
      <p:sp>
        <p:nvSpPr>
          <p:cNvPr id="41" name="Text 39"/>
          <p:cNvSpPr/>
          <p:nvPr/>
        </p:nvSpPr>
        <p:spPr>
          <a:xfrm>
            <a:off x="10844784" y="2331720"/>
            <a:ext cx="1097280" cy="493776"/>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Validate file</a:t>
            </a:r>
            <a:endParaRPr lang="en-US" sz="1100" dirty="0"/>
          </a:p>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 line</a:t>
            </a:r>
            <a:endParaRPr lang="en-US" sz="1100" dirty="0"/>
          </a:p>
        </p:txBody>
      </p:sp>
      <p:sp>
        <p:nvSpPr>
          <p:cNvPr id="42" name="Shape 40"/>
          <p:cNvSpPr/>
          <p:nvPr/>
        </p:nvSpPr>
        <p:spPr>
          <a:xfrm>
            <a:off x="749808" y="3584448"/>
            <a:ext cx="6537960" cy="1298448"/>
          </a:xfrm>
          <a:prstGeom prst="roundRect">
            <a:avLst>
              <a:gd name="adj" fmla="val 5634"/>
            </a:avLst>
          </a:prstGeom>
          <a:solidFill>
            <a:srgbClr val="E7F0FC"/>
          </a:solidFill>
          <a:ln w="12700">
            <a:solidFill>
              <a:srgbClr val="E7F0FC">
                <a:alpha val="0"/>
              </a:srgbClr>
            </a:solidFill>
            <a:prstDash val="solid"/>
          </a:ln>
        </p:spPr>
      </p:sp>
      <p:sp>
        <p:nvSpPr>
          <p:cNvPr id="43" name="Text 41"/>
          <p:cNvSpPr/>
          <p:nvPr/>
        </p:nvSpPr>
        <p:spPr>
          <a:xfrm>
            <a:off x="1005840" y="3840480"/>
            <a:ext cx="1828800" cy="182880"/>
          </a:xfrm>
          <a:prstGeom prst="rect">
            <a:avLst/>
          </a:prstGeom>
          <a:noFill/>
          <a:ln/>
        </p:spPr>
        <p:txBody>
          <a:bodyPr wrap="square" lIns="0" tIns="0" rIns="0" bIns="0" rtlCol="0" anchor="ctr">
            <a:normAutofit/>
          </a:bodyPr>
          <a:lstStyle/>
          <a:p>
            <a:pPr algn="l" indent="0" marL="0">
              <a:lnSpc>
                <a:spcPct val="100000"/>
              </a:lnSpc>
              <a:buNone/>
            </a:pPr>
            <a:r>
              <a:rPr lang="en-US" sz="900" b="1" spc="70" kern="0" dirty="0">
                <a:solidFill>
                  <a:srgbClr val="0969DA"/>
                </a:solidFill>
                <a:latin typeface="Aptos" pitchFamily="34" charset="0"/>
                <a:ea typeface="Aptos" pitchFamily="34" charset="-122"/>
                <a:cs typeface="Aptos" pitchFamily="34" charset="-120"/>
              </a:rPr>
              <a:t>LOCATION SAFETY</a:t>
            </a:r>
            <a:endParaRPr lang="en-US" sz="900" dirty="0"/>
          </a:p>
        </p:txBody>
      </p:sp>
      <p:sp>
        <p:nvSpPr>
          <p:cNvPr id="44" name="Text 42"/>
          <p:cNvSpPr/>
          <p:nvPr/>
        </p:nvSpPr>
        <p:spPr>
          <a:xfrm>
            <a:off x="1005840" y="4178808"/>
            <a:ext cx="5943600" cy="438912"/>
          </a:xfrm>
          <a:prstGeom prst="rect">
            <a:avLst/>
          </a:prstGeom>
          <a:noFill/>
          <a:ln/>
        </p:spPr>
        <p:txBody>
          <a:bodyPr wrap="square" lIns="0" tIns="0" rIns="0" bIns="0" rtlCol="0" anchor="t">
            <a:normAutofit/>
          </a:bodyPr>
          <a:lstStyle/>
          <a:p>
            <a:pPr algn="l" indent="0" marL="0">
              <a:lnSpc>
                <a:spcPct val="100000"/>
              </a:lnSpc>
              <a:buNone/>
            </a:pPr>
            <a:r>
              <a:rPr lang="en-US" sz="1400" b="1" dirty="0">
                <a:solidFill>
                  <a:srgbClr val="13233D"/>
                </a:solidFill>
                <a:latin typeface="Aptos" pitchFamily="34" charset="0"/>
                <a:ea typeface="Aptos" pitchFamily="34" charset="-122"/>
                <a:cs typeface="Aptos" pitchFamily="34" charset="-120"/>
              </a:rPr>
              <a:t>The model may propose a file and line; the application independently checks both against the deterministic added-line map.</a:t>
            </a:r>
            <a:endParaRPr lang="en-US" sz="1400" dirty="0"/>
          </a:p>
        </p:txBody>
      </p:sp>
      <p:sp>
        <p:nvSpPr>
          <p:cNvPr id="45" name="Shape 43"/>
          <p:cNvSpPr/>
          <p:nvPr/>
        </p:nvSpPr>
        <p:spPr>
          <a:xfrm>
            <a:off x="7626096" y="3584448"/>
            <a:ext cx="3730752" cy="1298448"/>
          </a:xfrm>
          <a:prstGeom prst="roundRect">
            <a:avLst>
              <a:gd name="adj" fmla="val 5634"/>
            </a:avLst>
          </a:prstGeom>
          <a:solidFill>
            <a:srgbClr val="FFFFFF"/>
          </a:solidFill>
          <a:ln w="12700">
            <a:solidFill>
              <a:srgbClr val="D4DEEA"/>
            </a:solidFill>
            <a:prstDash val="solid"/>
          </a:ln>
        </p:spPr>
      </p:sp>
      <p:sp>
        <p:nvSpPr>
          <p:cNvPr id="46" name="Text 44"/>
          <p:cNvSpPr/>
          <p:nvPr/>
        </p:nvSpPr>
        <p:spPr>
          <a:xfrm>
            <a:off x="7882128" y="3840480"/>
            <a:ext cx="3154680" cy="182880"/>
          </a:xfrm>
          <a:prstGeom prst="rect">
            <a:avLst/>
          </a:prstGeom>
          <a:noFill/>
          <a:ln/>
        </p:spPr>
        <p:txBody>
          <a:bodyPr wrap="square" lIns="0" tIns="0" rIns="0" bIns="0" rtlCol="0" anchor="ctr">
            <a:normAutofit/>
          </a:bodyPr>
          <a:lstStyle/>
          <a:p>
            <a:pPr algn="l" indent="0" marL="0">
              <a:lnSpc>
                <a:spcPct val="100000"/>
              </a:lnSpc>
              <a:buNone/>
            </a:pPr>
            <a:r>
              <a:rPr lang="en-US" sz="900" b="1" spc="40" kern="0" dirty="0">
                <a:solidFill>
                  <a:srgbClr val="B66A00"/>
                </a:solidFill>
                <a:latin typeface="Aptos" pitchFamily="34" charset="0"/>
                <a:ea typeface="Aptos" pitchFamily="34" charset="-122"/>
                <a:cs typeface="Aptos" pitchFamily="34" charset="-120"/>
              </a:rPr>
              <a:t>IF LOCATION DOES NOT MATCH</a:t>
            </a:r>
            <a:endParaRPr lang="en-US" sz="900" dirty="0"/>
          </a:p>
        </p:txBody>
      </p:sp>
      <p:sp>
        <p:nvSpPr>
          <p:cNvPr id="47" name="Text 45"/>
          <p:cNvSpPr/>
          <p:nvPr/>
        </p:nvSpPr>
        <p:spPr>
          <a:xfrm>
            <a:off x="7882128" y="4133088"/>
            <a:ext cx="3145536" cy="493776"/>
          </a:xfrm>
          <a:prstGeom prst="rect">
            <a:avLst/>
          </a:prstGeom>
          <a:noFill/>
          <a:ln/>
        </p:spPr>
        <p:txBody>
          <a:bodyPr wrap="square" lIns="0" tIns="0" rIns="0" bIns="0" rtlCol="0" anchor="t">
            <a:normAutofit/>
          </a:bodyPr>
          <a:lstStyle/>
          <a:p>
            <a:pPr algn="l" indent="0" marL="0">
              <a:lnSpc>
                <a:spcPct val="100000"/>
              </a:lnSpc>
              <a:buNone/>
            </a:pPr>
            <a:r>
              <a:rPr lang="en-US" sz="1200" b="1" dirty="0">
                <a:solidFill>
                  <a:srgbClr val="13233D"/>
                </a:solidFill>
                <a:latin typeface="Aptos" pitchFamily="34" charset="0"/>
                <a:ea typeface="Aptos" pitchFamily="34" charset="-122"/>
                <a:cs typeface="Aptos" pitchFamily="34" charset="-120"/>
              </a:rPr>
              <a:t>line → null</a:t>
            </a:r>
            <a:endParaRPr lang="en-US" sz="1200" dirty="0"/>
          </a:p>
          <a:p>
            <a:pPr algn="l" indent="0" marL="0">
              <a:lnSpc>
                <a:spcPct val="100000"/>
              </a:lnSpc>
              <a:buNone/>
            </a:pPr>
            <a:r>
              <a:rPr lang="en-US" sz="1200" b="1" dirty="0">
                <a:solidFill>
                  <a:srgbClr val="13233D"/>
                </a:solidFill>
                <a:latin typeface="Aptos" pitchFamily="34" charset="0"/>
                <a:ea typeface="Aptos" pitchFamily="34" charset="-122"/>
                <a:cs typeface="Aptos" pitchFamily="34" charset="-120"/>
              </a:rPr>
              <a:t>summary only · no inline comment</a:t>
            </a:r>
            <a:endParaRPr lang="en-US" sz="1200" dirty="0"/>
          </a:p>
        </p:txBody>
      </p:sp>
      <p:sp>
        <p:nvSpPr>
          <p:cNvPr id="48" name="Text 46"/>
          <p:cNvSpPr/>
          <p:nvPr/>
        </p:nvSpPr>
        <p:spPr>
          <a:xfrm>
            <a:off x="786384" y="5468112"/>
            <a:ext cx="10515600" cy="292608"/>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53647B"/>
                </a:solidFill>
                <a:latin typeface="Aptos" pitchFamily="34" charset="0"/>
                <a:ea typeface="Aptos" pitchFamily="34" charset="-122"/>
                <a:cs typeface="Aptos" pitchFamily="34" charset="-120"/>
              </a:rPr>
              <a:t>No whole-repository upload  ·  No guessed line numbers  ·  Human approval remains required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969DA"/>
          </a:solidFill>
          <a:ln w="12700">
            <a:solidFill>
              <a:srgbClr val="0969DA">
                <a:alpha val="0"/>
              </a:srgbClr>
            </a:solidFill>
            <a:prstDash val="solid"/>
          </a:ln>
        </p:spPr>
      </p:sp>
      <p:sp>
        <p:nvSpPr>
          <p:cNvPr id="3" name="Text 1"/>
          <p:cNvSpPr/>
          <p:nvPr/>
        </p:nvSpPr>
        <p:spPr>
          <a:xfrm>
            <a:off x="566928" y="283464"/>
            <a:ext cx="7132320" cy="173736"/>
          </a:xfrm>
          <a:prstGeom prst="rect">
            <a:avLst/>
          </a:prstGeom>
          <a:noFill/>
          <a:ln/>
        </p:spPr>
        <p:txBody>
          <a:bodyPr wrap="square" lIns="0" tIns="0" rIns="0" bIns="0" rtlCol="0" anchor="ctr">
            <a:normAutofit/>
          </a:bodyPr>
          <a:lstStyle/>
          <a:p>
            <a:pPr algn="l" indent="0" marL="0">
              <a:lnSpc>
                <a:spcPct val="100000"/>
              </a:lnSpc>
              <a:buNone/>
            </a:pPr>
            <a:r>
              <a:rPr lang="en-US" sz="900" b="1" spc="90" kern="0" dirty="0">
                <a:solidFill>
                  <a:srgbClr val="0969DA"/>
                </a:solidFill>
                <a:latin typeface="Aptos" pitchFamily="34" charset="0"/>
                <a:ea typeface="Aptos" pitchFamily="34" charset="-122"/>
                <a:cs typeface="Aptos" pitchFamily="34" charset="-120"/>
              </a:rPr>
              <a:t>ONE REVIEW, TWO USEFUL VIEWS</a:t>
            </a:r>
            <a:endParaRPr lang="en-US" sz="900" dirty="0"/>
          </a:p>
        </p:txBody>
      </p:sp>
      <p:sp>
        <p:nvSpPr>
          <p:cNvPr id="4" name="Text 2"/>
          <p:cNvSpPr/>
          <p:nvPr/>
        </p:nvSpPr>
        <p:spPr>
          <a:xfrm>
            <a:off x="566928" y="603504"/>
            <a:ext cx="10972800"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33D"/>
                </a:solidFill>
                <a:latin typeface="Aptos Display" pitchFamily="34" charset="0"/>
                <a:ea typeface="Aptos Display" pitchFamily="34" charset="-122"/>
                <a:cs typeface="Aptos Display" pitchFamily="34" charset="-120"/>
              </a:rPr>
              <a:t>Enterprise Review Output</a:t>
            </a:r>
            <a:endParaRPr lang="en-US" sz="2700" dirty="0"/>
          </a:p>
        </p:txBody>
      </p:sp>
      <p:sp>
        <p:nvSpPr>
          <p:cNvPr id="5" name="Shape 3"/>
          <p:cNvSpPr/>
          <p:nvPr/>
        </p:nvSpPr>
        <p:spPr>
          <a:xfrm>
            <a:off x="566928" y="1207008"/>
            <a:ext cx="11064240" cy="0"/>
          </a:xfrm>
          <a:prstGeom prst="line">
            <a:avLst/>
          </a:prstGeom>
          <a:noFill/>
          <a:ln w="11430">
            <a:solidFill>
              <a:srgbClr val="D4DEEA"/>
            </a:solidFill>
            <a:prstDash val="solid"/>
            <a:tailEnd type="none"/>
          </a:ln>
        </p:spPr>
      </p:sp>
      <p:sp>
        <p:nvSpPr>
          <p:cNvPr id="6" name="Text 4"/>
          <p:cNvSpPr/>
          <p:nvPr/>
        </p:nvSpPr>
        <p:spPr>
          <a:xfrm>
            <a:off x="566928" y="6537960"/>
            <a:ext cx="5669280" cy="137160"/>
          </a:xfrm>
          <a:prstGeom prst="rect">
            <a:avLst/>
          </a:prstGeom>
          <a:noFill/>
          <a:ln/>
        </p:spPr>
        <p:txBody>
          <a:bodyPr wrap="square" lIns="0" tIns="0" rIns="0" bIns="0" rtlCol="0" anchor="ctr">
            <a:normAutofit/>
          </a:bodyPr>
          <a:lstStyle/>
          <a:p>
            <a:pPr algn="l" indent="0" marL="0">
              <a:lnSpc>
                <a:spcPct val="100000"/>
              </a:lnSpc>
              <a:buNone/>
            </a:pPr>
            <a:r>
              <a:rPr lang="en-US" sz="800" b="1" spc="40" kern="0" dirty="0">
                <a:solidFill>
                  <a:srgbClr val="8492A6"/>
                </a:solidFill>
                <a:latin typeface="Aptos" pitchFamily="34" charset="0"/>
                <a:ea typeface="Aptos" pitchFamily="34" charset="-122"/>
                <a:cs typeface="Aptos" pitchFamily="34" charset="-120"/>
              </a:rPr>
              <a:t>AI CODE REVIEW AGENT  /  P1 + P2</a:t>
            </a:r>
            <a:endParaRPr lang="en-US" sz="800" dirty="0"/>
          </a:p>
        </p:txBody>
      </p:sp>
      <p:sp>
        <p:nvSpPr>
          <p:cNvPr id="7" name="Text 5"/>
          <p:cNvSpPr/>
          <p:nvPr/>
        </p:nvSpPr>
        <p:spPr>
          <a:xfrm>
            <a:off x="11018520" y="6510528"/>
            <a:ext cx="530352" cy="164592"/>
          </a:xfrm>
          <a:prstGeom prst="rect">
            <a:avLst/>
          </a:prstGeom>
          <a:noFill/>
          <a:ln/>
        </p:spPr>
        <p:txBody>
          <a:bodyPr wrap="square" lIns="0" tIns="0" rIns="0" bIns="0" rtlCol="0" anchor="ctr">
            <a:normAutofit/>
          </a:bodyPr>
          <a:lstStyle/>
          <a:p>
            <a:pPr algn="r" indent="0" marL="0">
              <a:lnSpc>
                <a:spcPct val="100000"/>
              </a:lnSpc>
              <a:buNone/>
            </a:pPr>
            <a:r>
              <a:rPr lang="en-US" sz="900" b="1" dirty="0">
                <a:solidFill>
                  <a:srgbClr val="0969DA"/>
                </a:solidFill>
                <a:latin typeface="Aptos" pitchFamily="34" charset="0"/>
                <a:ea typeface="Aptos" pitchFamily="34" charset="-122"/>
                <a:cs typeface="Aptos" pitchFamily="34" charset="-120"/>
              </a:rPr>
              <a:t>05</a:t>
            </a:r>
            <a:endParaRPr lang="en-US" sz="900" dirty="0"/>
          </a:p>
        </p:txBody>
      </p:sp>
      <p:sp>
        <p:nvSpPr>
          <p:cNvPr id="8" name="Text 6"/>
          <p:cNvSpPr/>
          <p:nvPr/>
        </p:nvSpPr>
        <p:spPr>
          <a:xfrm>
            <a:off x="749808" y="1517904"/>
            <a:ext cx="2286000" cy="182880"/>
          </a:xfrm>
          <a:prstGeom prst="rect">
            <a:avLst/>
          </a:prstGeom>
          <a:noFill/>
          <a:ln/>
        </p:spPr>
        <p:txBody>
          <a:bodyPr wrap="square" lIns="0" tIns="0" rIns="0" bIns="0" rtlCol="0" anchor="ctr">
            <a:normAutofit/>
          </a:bodyPr>
          <a:lstStyle/>
          <a:p>
            <a:pPr algn="l" indent="0" marL="0">
              <a:lnSpc>
                <a:spcPct val="100000"/>
              </a:lnSpc>
              <a:buNone/>
            </a:pPr>
            <a:r>
              <a:rPr lang="en-US" sz="900" b="1" spc="80" kern="0" dirty="0">
                <a:solidFill>
                  <a:srgbClr val="0969DA"/>
                </a:solidFill>
                <a:latin typeface="Aptos" pitchFamily="34" charset="0"/>
                <a:ea typeface="Aptos" pitchFamily="34" charset="-122"/>
                <a:cs typeface="Aptos" pitchFamily="34" charset="-120"/>
              </a:rPr>
              <a:t>REVIEW STRUCTURE</a:t>
            </a:r>
            <a:endParaRPr lang="en-US" sz="900" dirty="0"/>
          </a:p>
        </p:txBody>
      </p:sp>
      <p:sp>
        <p:nvSpPr>
          <p:cNvPr id="9" name="Text 7"/>
          <p:cNvSpPr/>
          <p:nvPr/>
        </p:nvSpPr>
        <p:spPr>
          <a:xfrm>
            <a:off x="749808" y="1847088"/>
            <a:ext cx="4800600" cy="658368"/>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13233D"/>
                </a:solidFill>
                <a:latin typeface="Aptos Display" pitchFamily="34" charset="0"/>
                <a:ea typeface="Aptos Display" pitchFamily="34" charset="-122"/>
                <a:cs typeface="Aptos Display" pitchFamily="34" charset="-120"/>
              </a:rPr>
              <a:t>Summary and validated line-level feedback travel together.</a:t>
            </a:r>
            <a:endParaRPr lang="en-US" sz="2300" dirty="0"/>
          </a:p>
        </p:txBody>
      </p:sp>
      <p:sp>
        <p:nvSpPr>
          <p:cNvPr id="10" name="Text 8"/>
          <p:cNvSpPr/>
          <p:nvPr/>
        </p:nvSpPr>
        <p:spPr>
          <a:xfrm>
            <a:off x="768096" y="2633472"/>
            <a:ext cx="4572000" cy="301752"/>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53647B"/>
                </a:solidFill>
                <a:latin typeface="Aptos" pitchFamily="34" charset="0"/>
                <a:ea typeface="Aptos" pitchFamily="34" charset="-122"/>
                <a:cs typeface="Aptos" pitchFamily="34" charset="-120"/>
              </a:rPr>
              <a:t>The panel shows the output contract, not a captured PR screenshot.</a:t>
            </a:r>
            <a:endParaRPr lang="en-US" sz="1100" dirty="0"/>
          </a:p>
        </p:txBody>
      </p:sp>
      <p:sp>
        <p:nvSpPr>
          <p:cNvPr id="11" name="Shape 9"/>
          <p:cNvSpPr/>
          <p:nvPr/>
        </p:nvSpPr>
        <p:spPr>
          <a:xfrm>
            <a:off x="768096" y="3218688"/>
            <a:ext cx="2157984" cy="530352"/>
          </a:xfrm>
          <a:prstGeom prst="roundRect">
            <a:avLst>
              <a:gd name="adj" fmla="val 10345"/>
            </a:avLst>
          </a:prstGeom>
          <a:solidFill>
            <a:srgbClr val="FFFFFF"/>
          </a:solidFill>
          <a:ln w="12700">
            <a:solidFill>
              <a:srgbClr val="D4DEEA"/>
            </a:solidFill>
            <a:prstDash val="solid"/>
          </a:ln>
        </p:spPr>
      </p:sp>
      <p:sp>
        <p:nvSpPr>
          <p:cNvPr id="12" name="Text 10"/>
          <p:cNvSpPr/>
          <p:nvPr/>
        </p:nvSpPr>
        <p:spPr>
          <a:xfrm>
            <a:off x="886968" y="3310128"/>
            <a:ext cx="1920240"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969DA"/>
                </a:solidFill>
                <a:latin typeface="Aptos" pitchFamily="34" charset="0"/>
                <a:ea typeface="Aptos" pitchFamily="34" charset="-122"/>
                <a:cs typeface="Aptos" pitchFamily="34" charset="-120"/>
              </a:rPr>
              <a:t>Overall risk</a:t>
            </a:r>
            <a:endParaRPr lang="en-US" sz="1000" dirty="0"/>
          </a:p>
        </p:txBody>
      </p:sp>
      <p:sp>
        <p:nvSpPr>
          <p:cNvPr id="13" name="Text 11"/>
          <p:cNvSpPr/>
          <p:nvPr/>
        </p:nvSpPr>
        <p:spPr>
          <a:xfrm>
            <a:off x="886968" y="3502152"/>
            <a:ext cx="1920240" cy="155448"/>
          </a:xfrm>
          <a:prstGeom prst="rect">
            <a:avLst/>
          </a:prstGeom>
          <a:noFill/>
          <a:ln/>
        </p:spPr>
        <p:txBody>
          <a:bodyPr wrap="square" lIns="0" tIns="0" rIns="0" bIns="0" rtlCol="0" anchor="ctr">
            <a:normAutofit/>
          </a:bodyPr>
          <a:lstStyle/>
          <a:p>
            <a:pPr algn="l" indent="0" marL="0">
              <a:lnSpc>
                <a:spcPct val="100000"/>
              </a:lnSpc>
              <a:buNone/>
            </a:pPr>
            <a:r>
              <a:rPr lang="en-US" sz="800" dirty="0">
                <a:solidFill>
                  <a:srgbClr val="53647B"/>
                </a:solidFill>
                <a:latin typeface="Aptos" pitchFamily="34" charset="0"/>
                <a:ea typeface="Aptos" pitchFamily="34" charset="-122"/>
                <a:cs typeface="Aptos" pitchFamily="34" charset="-120"/>
              </a:rPr>
              <a:t>Assessment + severity counts</a:t>
            </a:r>
            <a:endParaRPr lang="en-US" sz="800" dirty="0"/>
          </a:p>
        </p:txBody>
      </p:sp>
      <p:sp>
        <p:nvSpPr>
          <p:cNvPr id="14" name="Shape 12"/>
          <p:cNvSpPr/>
          <p:nvPr/>
        </p:nvSpPr>
        <p:spPr>
          <a:xfrm>
            <a:off x="3163824" y="3218688"/>
            <a:ext cx="2157984" cy="530352"/>
          </a:xfrm>
          <a:prstGeom prst="roundRect">
            <a:avLst>
              <a:gd name="adj" fmla="val 10345"/>
            </a:avLst>
          </a:prstGeom>
          <a:solidFill>
            <a:srgbClr val="FFFFFF"/>
          </a:solidFill>
          <a:ln w="12700">
            <a:solidFill>
              <a:srgbClr val="D4DEEA"/>
            </a:solidFill>
            <a:prstDash val="solid"/>
          </a:ln>
        </p:spPr>
      </p:sp>
      <p:sp>
        <p:nvSpPr>
          <p:cNvPr id="15" name="Text 13"/>
          <p:cNvSpPr/>
          <p:nvPr/>
        </p:nvSpPr>
        <p:spPr>
          <a:xfrm>
            <a:off x="3282696" y="3310128"/>
            <a:ext cx="1920240"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969DA"/>
                </a:solidFill>
                <a:latin typeface="Aptos" pitchFamily="34" charset="0"/>
                <a:ea typeface="Aptos" pitchFamily="34" charset="-122"/>
                <a:cs typeface="Aptos" pitchFamily="34" charset="-120"/>
              </a:rPr>
              <a:t>Finding</a:t>
            </a:r>
            <a:endParaRPr lang="en-US" sz="1000" dirty="0"/>
          </a:p>
        </p:txBody>
      </p:sp>
      <p:sp>
        <p:nvSpPr>
          <p:cNvPr id="16" name="Text 14"/>
          <p:cNvSpPr/>
          <p:nvPr/>
        </p:nvSpPr>
        <p:spPr>
          <a:xfrm>
            <a:off x="3282696" y="3502152"/>
            <a:ext cx="1920240" cy="155448"/>
          </a:xfrm>
          <a:prstGeom prst="rect">
            <a:avLst/>
          </a:prstGeom>
          <a:noFill/>
          <a:ln/>
        </p:spPr>
        <p:txBody>
          <a:bodyPr wrap="square" lIns="0" tIns="0" rIns="0" bIns="0" rtlCol="0" anchor="ctr">
            <a:normAutofit/>
          </a:bodyPr>
          <a:lstStyle/>
          <a:p>
            <a:pPr algn="l" indent="0" marL="0">
              <a:lnSpc>
                <a:spcPct val="100000"/>
              </a:lnSpc>
              <a:buNone/>
            </a:pPr>
            <a:r>
              <a:rPr lang="en-US" sz="800" dirty="0">
                <a:solidFill>
                  <a:srgbClr val="53647B"/>
                </a:solidFill>
                <a:latin typeface="Aptos" pitchFamily="34" charset="0"/>
                <a:ea typeface="Aptos" pitchFamily="34" charset="-122"/>
                <a:cs typeface="Aptos" pitchFamily="34" charset="-120"/>
              </a:rPr>
              <a:t>Category · title · issue</a:t>
            </a:r>
            <a:endParaRPr lang="en-US" sz="800" dirty="0"/>
          </a:p>
        </p:txBody>
      </p:sp>
      <p:sp>
        <p:nvSpPr>
          <p:cNvPr id="17" name="Shape 15"/>
          <p:cNvSpPr/>
          <p:nvPr/>
        </p:nvSpPr>
        <p:spPr>
          <a:xfrm>
            <a:off x="768096" y="3904488"/>
            <a:ext cx="2157984" cy="530352"/>
          </a:xfrm>
          <a:prstGeom prst="roundRect">
            <a:avLst>
              <a:gd name="adj" fmla="val 10345"/>
            </a:avLst>
          </a:prstGeom>
          <a:solidFill>
            <a:srgbClr val="FFFFFF"/>
          </a:solidFill>
          <a:ln w="12700">
            <a:solidFill>
              <a:srgbClr val="D4DEEA"/>
            </a:solidFill>
            <a:prstDash val="solid"/>
          </a:ln>
        </p:spPr>
      </p:sp>
      <p:sp>
        <p:nvSpPr>
          <p:cNvPr id="18" name="Text 16"/>
          <p:cNvSpPr/>
          <p:nvPr/>
        </p:nvSpPr>
        <p:spPr>
          <a:xfrm>
            <a:off x="886968" y="3995928"/>
            <a:ext cx="1920240"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969DA"/>
                </a:solidFill>
                <a:latin typeface="Aptos" pitchFamily="34" charset="0"/>
                <a:ea typeface="Aptos" pitchFamily="34" charset="-122"/>
                <a:cs typeface="Aptos" pitchFamily="34" charset="-120"/>
              </a:rPr>
              <a:t>Recommendation</a:t>
            </a:r>
            <a:endParaRPr lang="en-US" sz="1000" dirty="0"/>
          </a:p>
        </p:txBody>
      </p:sp>
      <p:sp>
        <p:nvSpPr>
          <p:cNvPr id="19" name="Text 17"/>
          <p:cNvSpPr/>
          <p:nvPr/>
        </p:nvSpPr>
        <p:spPr>
          <a:xfrm>
            <a:off x="886968" y="4187952"/>
            <a:ext cx="1920240" cy="155448"/>
          </a:xfrm>
          <a:prstGeom prst="rect">
            <a:avLst/>
          </a:prstGeom>
          <a:noFill/>
          <a:ln/>
        </p:spPr>
        <p:txBody>
          <a:bodyPr wrap="square" lIns="0" tIns="0" rIns="0" bIns="0" rtlCol="0" anchor="ctr">
            <a:normAutofit/>
          </a:bodyPr>
          <a:lstStyle/>
          <a:p>
            <a:pPr algn="l" indent="0" marL="0">
              <a:lnSpc>
                <a:spcPct val="100000"/>
              </a:lnSpc>
              <a:buNone/>
            </a:pPr>
            <a:r>
              <a:rPr lang="en-US" sz="800" dirty="0">
                <a:solidFill>
                  <a:srgbClr val="53647B"/>
                </a:solidFill>
                <a:latin typeface="Aptos" pitchFamily="34" charset="0"/>
                <a:ea typeface="Aptos" pitchFamily="34" charset="-122"/>
                <a:cs typeface="Aptos" pitchFamily="34" charset="-120"/>
              </a:rPr>
              <a:t>Actionable next step</a:t>
            </a:r>
            <a:endParaRPr lang="en-US" sz="800" dirty="0"/>
          </a:p>
        </p:txBody>
      </p:sp>
      <p:sp>
        <p:nvSpPr>
          <p:cNvPr id="20" name="Shape 18"/>
          <p:cNvSpPr/>
          <p:nvPr/>
        </p:nvSpPr>
        <p:spPr>
          <a:xfrm>
            <a:off x="3163824" y="3904488"/>
            <a:ext cx="2157984" cy="530352"/>
          </a:xfrm>
          <a:prstGeom prst="roundRect">
            <a:avLst>
              <a:gd name="adj" fmla="val 10345"/>
            </a:avLst>
          </a:prstGeom>
          <a:solidFill>
            <a:srgbClr val="FFFFFF"/>
          </a:solidFill>
          <a:ln w="12700">
            <a:solidFill>
              <a:srgbClr val="D4DEEA"/>
            </a:solidFill>
            <a:prstDash val="solid"/>
          </a:ln>
        </p:spPr>
      </p:sp>
      <p:sp>
        <p:nvSpPr>
          <p:cNvPr id="21" name="Text 19"/>
          <p:cNvSpPr/>
          <p:nvPr/>
        </p:nvSpPr>
        <p:spPr>
          <a:xfrm>
            <a:off x="3282696" y="3995928"/>
            <a:ext cx="1920240"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969DA"/>
                </a:solidFill>
                <a:latin typeface="Aptos" pitchFamily="34" charset="0"/>
                <a:ea typeface="Aptos" pitchFamily="34" charset="-122"/>
                <a:cs typeface="Aptos" pitchFamily="34" charset="-120"/>
              </a:rPr>
              <a:t>Suggested fix</a:t>
            </a:r>
            <a:endParaRPr lang="en-US" sz="1000" dirty="0"/>
          </a:p>
        </p:txBody>
      </p:sp>
      <p:sp>
        <p:nvSpPr>
          <p:cNvPr id="22" name="Text 20"/>
          <p:cNvSpPr/>
          <p:nvPr/>
        </p:nvSpPr>
        <p:spPr>
          <a:xfrm>
            <a:off x="3282696" y="4187952"/>
            <a:ext cx="1920240" cy="155448"/>
          </a:xfrm>
          <a:prstGeom prst="rect">
            <a:avLst/>
          </a:prstGeom>
          <a:noFill/>
          <a:ln/>
        </p:spPr>
        <p:txBody>
          <a:bodyPr wrap="square" lIns="0" tIns="0" rIns="0" bIns="0" rtlCol="0" anchor="ctr">
            <a:normAutofit/>
          </a:bodyPr>
          <a:lstStyle/>
          <a:p>
            <a:pPr algn="l" indent="0" marL="0">
              <a:lnSpc>
                <a:spcPct val="100000"/>
              </a:lnSpc>
              <a:buNone/>
            </a:pPr>
            <a:r>
              <a:rPr lang="en-US" sz="800" dirty="0">
                <a:solidFill>
                  <a:srgbClr val="53647B"/>
                </a:solidFill>
                <a:latin typeface="Aptos" pitchFamily="34" charset="0"/>
                <a:ea typeface="Aptos" pitchFamily="34" charset="-122"/>
                <a:cs typeface="Aptos" pitchFamily="34" charset="-120"/>
              </a:rPr>
              <a:t>When a safe suggestion exists</a:t>
            </a:r>
            <a:endParaRPr lang="en-US" sz="800" dirty="0"/>
          </a:p>
        </p:txBody>
      </p:sp>
      <p:sp>
        <p:nvSpPr>
          <p:cNvPr id="23" name="Shape 21"/>
          <p:cNvSpPr/>
          <p:nvPr/>
        </p:nvSpPr>
        <p:spPr>
          <a:xfrm>
            <a:off x="768096" y="4590288"/>
            <a:ext cx="2157984" cy="530352"/>
          </a:xfrm>
          <a:prstGeom prst="roundRect">
            <a:avLst>
              <a:gd name="adj" fmla="val 10345"/>
            </a:avLst>
          </a:prstGeom>
          <a:solidFill>
            <a:srgbClr val="FFFFFF"/>
          </a:solidFill>
          <a:ln w="12700">
            <a:solidFill>
              <a:srgbClr val="D4DEEA"/>
            </a:solidFill>
            <a:prstDash val="solid"/>
          </a:ln>
        </p:spPr>
      </p:sp>
      <p:sp>
        <p:nvSpPr>
          <p:cNvPr id="24" name="Text 22"/>
          <p:cNvSpPr/>
          <p:nvPr/>
        </p:nvSpPr>
        <p:spPr>
          <a:xfrm>
            <a:off x="886968" y="4681728"/>
            <a:ext cx="1920240"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969DA"/>
                </a:solidFill>
                <a:latin typeface="Aptos" pitchFamily="34" charset="0"/>
                <a:ea typeface="Aptos" pitchFamily="34" charset="-122"/>
                <a:cs typeface="Aptos" pitchFamily="34" charset="-120"/>
              </a:rPr>
              <a:t>File + line</a:t>
            </a:r>
            <a:endParaRPr lang="en-US" sz="1000" dirty="0"/>
          </a:p>
        </p:txBody>
      </p:sp>
      <p:sp>
        <p:nvSpPr>
          <p:cNvPr id="25" name="Text 23"/>
          <p:cNvSpPr/>
          <p:nvPr/>
        </p:nvSpPr>
        <p:spPr>
          <a:xfrm>
            <a:off x="886968" y="4873752"/>
            <a:ext cx="1920240" cy="155448"/>
          </a:xfrm>
          <a:prstGeom prst="rect">
            <a:avLst/>
          </a:prstGeom>
          <a:noFill/>
          <a:ln/>
        </p:spPr>
        <p:txBody>
          <a:bodyPr wrap="square" lIns="0" tIns="0" rIns="0" bIns="0" rtlCol="0" anchor="ctr">
            <a:normAutofit/>
          </a:bodyPr>
          <a:lstStyle/>
          <a:p>
            <a:pPr algn="l" indent="0" marL="0">
              <a:lnSpc>
                <a:spcPct val="100000"/>
              </a:lnSpc>
              <a:buNone/>
            </a:pPr>
            <a:r>
              <a:rPr lang="en-US" sz="800" dirty="0">
                <a:solidFill>
                  <a:srgbClr val="53647B"/>
                </a:solidFill>
                <a:latin typeface="Aptos" pitchFamily="34" charset="0"/>
                <a:ea typeface="Aptos" pitchFamily="34" charset="-122"/>
                <a:cs typeface="Aptos" pitchFamily="34" charset="-120"/>
              </a:rPr>
              <a:t>Only if deterministically validated</a:t>
            </a:r>
            <a:endParaRPr lang="en-US" sz="800" dirty="0"/>
          </a:p>
        </p:txBody>
      </p:sp>
      <p:sp>
        <p:nvSpPr>
          <p:cNvPr id="26" name="Shape 24"/>
          <p:cNvSpPr/>
          <p:nvPr/>
        </p:nvSpPr>
        <p:spPr>
          <a:xfrm>
            <a:off x="3163824" y="4590288"/>
            <a:ext cx="2157984" cy="530352"/>
          </a:xfrm>
          <a:prstGeom prst="roundRect">
            <a:avLst>
              <a:gd name="adj" fmla="val 10345"/>
            </a:avLst>
          </a:prstGeom>
          <a:solidFill>
            <a:srgbClr val="FFFFFF"/>
          </a:solidFill>
          <a:ln w="12700">
            <a:solidFill>
              <a:srgbClr val="D4DEEA"/>
            </a:solidFill>
            <a:prstDash val="solid"/>
          </a:ln>
        </p:spPr>
      </p:sp>
      <p:sp>
        <p:nvSpPr>
          <p:cNvPr id="27" name="Text 25"/>
          <p:cNvSpPr/>
          <p:nvPr/>
        </p:nvSpPr>
        <p:spPr>
          <a:xfrm>
            <a:off x="3282696" y="4681728"/>
            <a:ext cx="1920240"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969DA"/>
                </a:solidFill>
                <a:latin typeface="Aptos" pitchFamily="34" charset="0"/>
                <a:ea typeface="Aptos" pitchFamily="34" charset="-122"/>
                <a:cs typeface="Aptos" pitchFamily="34" charset="-120"/>
              </a:rPr>
              <a:t>Merge guidance</a:t>
            </a:r>
            <a:endParaRPr lang="en-US" sz="1000" dirty="0"/>
          </a:p>
        </p:txBody>
      </p:sp>
      <p:sp>
        <p:nvSpPr>
          <p:cNvPr id="28" name="Text 26"/>
          <p:cNvSpPr/>
          <p:nvPr/>
        </p:nvSpPr>
        <p:spPr>
          <a:xfrm>
            <a:off x="3282696" y="4873752"/>
            <a:ext cx="1920240" cy="155448"/>
          </a:xfrm>
          <a:prstGeom prst="rect">
            <a:avLst/>
          </a:prstGeom>
          <a:noFill/>
          <a:ln/>
        </p:spPr>
        <p:txBody>
          <a:bodyPr wrap="square" lIns="0" tIns="0" rIns="0" bIns="0" rtlCol="0" anchor="ctr">
            <a:normAutofit/>
          </a:bodyPr>
          <a:lstStyle/>
          <a:p>
            <a:pPr algn="l" indent="0" marL="0">
              <a:lnSpc>
                <a:spcPct val="100000"/>
              </a:lnSpc>
              <a:buNone/>
            </a:pPr>
            <a:r>
              <a:rPr lang="en-US" sz="800" dirty="0">
                <a:solidFill>
                  <a:srgbClr val="53647B"/>
                </a:solidFill>
                <a:latin typeface="Aptos" pitchFamily="34" charset="0"/>
                <a:ea typeface="Aptos" pitchFamily="34" charset="-122"/>
                <a:cs typeface="Aptos" pitchFamily="34" charset="-120"/>
              </a:rPr>
              <a:t>Advisory; human review required</a:t>
            </a:r>
            <a:endParaRPr lang="en-US" sz="800" dirty="0"/>
          </a:p>
        </p:txBody>
      </p:sp>
      <p:sp>
        <p:nvSpPr>
          <p:cNvPr id="29" name="Shape 27"/>
          <p:cNvSpPr/>
          <p:nvPr/>
        </p:nvSpPr>
        <p:spPr>
          <a:xfrm>
            <a:off x="5715000" y="1600200"/>
            <a:ext cx="5614416" cy="4242816"/>
          </a:xfrm>
          <a:prstGeom prst="roundRect">
            <a:avLst>
              <a:gd name="adj" fmla="val 1940"/>
            </a:avLst>
          </a:prstGeom>
          <a:solidFill>
            <a:srgbClr val="0B1730"/>
          </a:solidFill>
          <a:ln w="12700">
            <a:solidFill>
              <a:srgbClr val="0B1730">
                <a:alpha val="0"/>
              </a:srgbClr>
            </a:solidFill>
            <a:prstDash val="solid"/>
          </a:ln>
        </p:spPr>
      </p:sp>
      <p:sp>
        <p:nvSpPr>
          <p:cNvPr id="30" name="Text 28"/>
          <p:cNvSpPr/>
          <p:nvPr/>
        </p:nvSpPr>
        <p:spPr>
          <a:xfrm>
            <a:off x="6053328" y="1901952"/>
            <a:ext cx="2926080" cy="182880"/>
          </a:xfrm>
          <a:prstGeom prst="rect">
            <a:avLst/>
          </a:prstGeom>
          <a:noFill/>
          <a:ln/>
        </p:spPr>
        <p:txBody>
          <a:bodyPr wrap="square" lIns="0" tIns="0" rIns="0" bIns="0" rtlCol="0" anchor="ctr">
            <a:normAutofit/>
          </a:bodyPr>
          <a:lstStyle/>
          <a:p>
            <a:pPr algn="l" indent="0" marL="0">
              <a:lnSpc>
                <a:spcPct val="100000"/>
              </a:lnSpc>
              <a:buNone/>
            </a:pPr>
            <a:r>
              <a:rPr lang="en-US" sz="900" b="1" spc="70" kern="0" dirty="0">
                <a:solidFill>
                  <a:srgbClr val="54A6FF"/>
                </a:solidFill>
                <a:latin typeface="Aptos" pitchFamily="34" charset="0"/>
                <a:ea typeface="Aptos" pitchFamily="34" charset="-122"/>
                <a:cs typeface="Aptos" pitchFamily="34" charset="-120"/>
              </a:rPr>
              <a:t>PULL REQUEST REVIEW</a:t>
            </a:r>
            <a:endParaRPr lang="en-US" sz="900" dirty="0"/>
          </a:p>
        </p:txBody>
      </p:sp>
      <p:sp>
        <p:nvSpPr>
          <p:cNvPr id="31" name="Text 29"/>
          <p:cNvSpPr/>
          <p:nvPr/>
        </p:nvSpPr>
        <p:spPr>
          <a:xfrm>
            <a:off x="6053328" y="2267712"/>
            <a:ext cx="4754880" cy="310896"/>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Aptos Display" pitchFamily="34" charset="0"/>
                <a:ea typeface="Aptos Display" pitchFamily="34" charset="-122"/>
                <a:cs typeface="Aptos Display" pitchFamily="34" charset="-120"/>
              </a:rPr>
              <a:t>Enterprise Markdown summary</a:t>
            </a:r>
            <a:endParaRPr lang="en-US" sz="1900" dirty="0"/>
          </a:p>
        </p:txBody>
      </p:sp>
      <p:sp>
        <p:nvSpPr>
          <p:cNvPr id="32" name="Shape 30"/>
          <p:cNvSpPr/>
          <p:nvPr/>
        </p:nvSpPr>
        <p:spPr>
          <a:xfrm>
            <a:off x="6053328" y="2779776"/>
            <a:ext cx="4901184" cy="0"/>
          </a:xfrm>
          <a:prstGeom prst="line">
            <a:avLst/>
          </a:prstGeom>
          <a:noFill/>
          <a:ln w="11430">
            <a:solidFill>
              <a:srgbClr val="345173"/>
            </a:solidFill>
            <a:prstDash val="solid"/>
            <a:tailEnd type="none"/>
          </a:ln>
        </p:spPr>
      </p:sp>
      <p:sp>
        <p:nvSpPr>
          <p:cNvPr id="33" name="Shape 31"/>
          <p:cNvSpPr/>
          <p:nvPr/>
        </p:nvSpPr>
        <p:spPr>
          <a:xfrm>
            <a:off x="6071616" y="3044952"/>
            <a:ext cx="960120" cy="310896"/>
          </a:xfrm>
          <a:prstGeom prst="roundRect">
            <a:avLst>
              <a:gd name="adj" fmla="val 17647"/>
            </a:avLst>
          </a:prstGeom>
          <a:solidFill>
            <a:srgbClr val="1B3458"/>
          </a:solidFill>
          <a:ln w="12700">
            <a:solidFill>
              <a:srgbClr val="1B3458">
                <a:alpha val="0"/>
              </a:srgbClr>
            </a:solidFill>
            <a:prstDash val="solid"/>
          </a:ln>
        </p:spPr>
      </p:sp>
      <p:sp>
        <p:nvSpPr>
          <p:cNvPr id="34" name="Text 32"/>
          <p:cNvSpPr/>
          <p:nvPr/>
        </p:nvSpPr>
        <p:spPr>
          <a:xfrm>
            <a:off x="6163056" y="3076956"/>
            <a:ext cx="777240"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54A6FF"/>
                </a:solidFill>
                <a:latin typeface="Aptos" pitchFamily="34" charset="0"/>
                <a:ea typeface="Aptos" pitchFamily="34" charset="-122"/>
                <a:cs typeface="Aptos" pitchFamily="34" charset="-120"/>
              </a:rPr>
              <a:t>Assessment</a:t>
            </a:r>
            <a:endParaRPr lang="en-US" sz="900" dirty="0"/>
          </a:p>
        </p:txBody>
      </p:sp>
      <p:sp>
        <p:nvSpPr>
          <p:cNvPr id="35" name="Text 33"/>
          <p:cNvSpPr/>
          <p:nvPr/>
        </p:nvSpPr>
        <p:spPr>
          <a:xfrm>
            <a:off x="7260336" y="3063240"/>
            <a:ext cx="3538728" cy="228600"/>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D4E0F1"/>
                </a:solidFill>
                <a:latin typeface="Aptos" pitchFamily="34" charset="0"/>
                <a:ea typeface="Aptos" pitchFamily="34" charset="-122"/>
                <a:cs typeface="Aptos" pitchFamily="34" charset="-120"/>
              </a:rPr>
              <a:t>Risk level + severity counts</a:t>
            </a:r>
            <a:endParaRPr lang="en-US" sz="1100" dirty="0"/>
          </a:p>
        </p:txBody>
      </p:sp>
      <p:sp>
        <p:nvSpPr>
          <p:cNvPr id="36" name="Shape 34"/>
          <p:cNvSpPr/>
          <p:nvPr/>
        </p:nvSpPr>
        <p:spPr>
          <a:xfrm>
            <a:off x="6071616" y="3529584"/>
            <a:ext cx="960120" cy="310896"/>
          </a:xfrm>
          <a:prstGeom prst="roundRect">
            <a:avLst>
              <a:gd name="adj" fmla="val 17647"/>
            </a:avLst>
          </a:prstGeom>
          <a:solidFill>
            <a:srgbClr val="1B3458"/>
          </a:solidFill>
          <a:ln w="12700">
            <a:solidFill>
              <a:srgbClr val="1B3458">
                <a:alpha val="0"/>
              </a:srgbClr>
            </a:solidFill>
            <a:prstDash val="solid"/>
          </a:ln>
        </p:spPr>
      </p:sp>
      <p:sp>
        <p:nvSpPr>
          <p:cNvPr id="37" name="Text 35"/>
          <p:cNvSpPr/>
          <p:nvPr/>
        </p:nvSpPr>
        <p:spPr>
          <a:xfrm>
            <a:off x="6163056" y="3561588"/>
            <a:ext cx="777240"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54A6FF"/>
                </a:solidFill>
                <a:latin typeface="Aptos" pitchFamily="34" charset="0"/>
                <a:ea typeface="Aptos" pitchFamily="34" charset="-122"/>
                <a:cs typeface="Aptos" pitchFamily="34" charset="-120"/>
              </a:rPr>
              <a:t>Evidence</a:t>
            </a:r>
            <a:endParaRPr lang="en-US" sz="900" dirty="0"/>
          </a:p>
        </p:txBody>
      </p:sp>
      <p:sp>
        <p:nvSpPr>
          <p:cNvPr id="38" name="Text 36"/>
          <p:cNvSpPr/>
          <p:nvPr/>
        </p:nvSpPr>
        <p:spPr>
          <a:xfrm>
            <a:off x="7260336" y="3547872"/>
            <a:ext cx="3538728" cy="228600"/>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D4E0F1"/>
                </a:solidFill>
                <a:latin typeface="Aptos" pitchFamily="34" charset="0"/>
                <a:ea typeface="Aptos" pitchFamily="34" charset="-122"/>
                <a:cs typeface="Aptos" pitchFamily="34" charset="-120"/>
              </a:rPr>
              <a:t>Issue and finding context</a:t>
            </a:r>
            <a:endParaRPr lang="en-US" sz="1100" dirty="0"/>
          </a:p>
        </p:txBody>
      </p:sp>
      <p:sp>
        <p:nvSpPr>
          <p:cNvPr id="39" name="Shape 37"/>
          <p:cNvSpPr/>
          <p:nvPr/>
        </p:nvSpPr>
        <p:spPr>
          <a:xfrm>
            <a:off x="6071616" y="4014216"/>
            <a:ext cx="960120" cy="310896"/>
          </a:xfrm>
          <a:prstGeom prst="roundRect">
            <a:avLst>
              <a:gd name="adj" fmla="val 17647"/>
            </a:avLst>
          </a:prstGeom>
          <a:solidFill>
            <a:srgbClr val="1B3458"/>
          </a:solidFill>
          <a:ln w="12700">
            <a:solidFill>
              <a:srgbClr val="1B3458">
                <a:alpha val="0"/>
              </a:srgbClr>
            </a:solidFill>
            <a:prstDash val="solid"/>
          </a:ln>
        </p:spPr>
      </p:sp>
      <p:sp>
        <p:nvSpPr>
          <p:cNvPr id="40" name="Text 38"/>
          <p:cNvSpPr/>
          <p:nvPr/>
        </p:nvSpPr>
        <p:spPr>
          <a:xfrm>
            <a:off x="6163056" y="4046220"/>
            <a:ext cx="777240"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54A6FF"/>
                </a:solidFill>
                <a:latin typeface="Aptos" pitchFamily="34" charset="0"/>
                <a:ea typeface="Aptos" pitchFamily="34" charset="-122"/>
                <a:cs typeface="Aptos" pitchFamily="34" charset="-120"/>
              </a:rPr>
              <a:t>Action</a:t>
            </a:r>
            <a:endParaRPr lang="en-US" sz="900" dirty="0"/>
          </a:p>
        </p:txBody>
      </p:sp>
      <p:sp>
        <p:nvSpPr>
          <p:cNvPr id="41" name="Text 39"/>
          <p:cNvSpPr/>
          <p:nvPr/>
        </p:nvSpPr>
        <p:spPr>
          <a:xfrm>
            <a:off x="7260336" y="4032504"/>
            <a:ext cx="3538728" cy="228600"/>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D4E0F1"/>
                </a:solidFill>
                <a:latin typeface="Aptos" pitchFamily="34" charset="0"/>
                <a:ea typeface="Aptos" pitchFamily="34" charset="-122"/>
                <a:cs typeface="Aptos" pitchFamily="34" charset="-120"/>
              </a:rPr>
              <a:t>Recommendation + suggested fix</a:t>
            </a:r>
            <a:endParaRPr lang="en-US" sz="1100" dirty="0"/>
          </a:p>
        </p:txBody>
      </p:sp>
      <p:sp>
        <p:nvSpPr>
          <p:cNvPr id="42" name="Shape 40"/>
          <p:cNvSpPr/>
          <p:nvPr/>
        </p:nvSpPr>
        <p:spPr>
          <a:xfrm>
            <a:off x="6071616" y="4498848"/>
            <a:ext cx="960120" cy="310896"/>
          </a:xfrm>
          <a:prstGeom prst="roundRect">
            <a:avLst>
              <a:gd name="adj" fmla="val 17647"/>
            </a:avLst>
          </a:prstGeom>
          <a:solidFill>
            <a:srgbClr val="173754"/>
          </a:solidFill>
          <a:ln w="12700">
            <a:solidFill>
              <a:srgbClr val="173754">
                <a:alpha val="0"/>
              </a:srgbClr>
            </a:solidFill>
            <a:prstDash val="solid"/>
          </a:ln>
        </p:spPr>
      </p:sp>
      <p:sp>
        <p:nvSpPr>
          <p:cNvPr id="43" name="Text 41"/>
          <p:cNvSpPr/>
          <p:nvPr/>
        </p:nvSpPr>
        <p:spPr>
          <a:xfrm>
            <a:off x="6163056" y="4530852"/>
            <a:ext cx="777240"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30C7D9"/>
                </a:solidFill>
                <a:latin typeface="Aptos" pitchFamily="34" charset="0"/>
                <a:ea typeface="Aptos" pitchFamily="34" charset="-122"/>
                <a:cs typeface="Aptos" pitchFamily="34" charset="-120"/>
              </a:rPr>
              <a:t>Inline</a:t>
            </a:r>
            <a:endParaRPr lang="en-US" sz="900" dirty="0"/>
          </a:p>
        </p:txBody>
      </p:sp>
      <p:sp>
        <p:nvSpPr>
          <p:cNvPr id="44" name="Text 42"/>
          <p:cNvSpPr/>
          <p:nvPr/>
        </p:nvSpPr>
        <p:spPr>
          <a:xfrm>
            <a:off x="7260336" y="4517136"/>
            <a:ext cx="3538728" cy="228600"/>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D4E0F1"/>
                </a:solidFill>
                <a:latin typeface="Aptos" pitchFamily="34" charset="0"/>
                <a:ea typeface="Aptos" pitchFamily="34" charset="-122"/>
                <a:cs typeface="Aptos" pitchFamily="34" charset="-120"/>
              </a:rPr>
              <a:t>Validated RIGHT-side added line</a:t>
            </a:r>
            <a:endParaRPr lang="en-US" sz="1100" dirty="0"/>
          </a:p>
        </p:txBody>
      </p:sp>
      <p:sp>
        <p:nvSpPr>
          <p:cNvPr id="45" name="Text 43"/>
          <p:cNvSpPr/>
          <p:nvPr/>
        </p:nvSpPr>
        <p:spPr>
          <a:xfrm>
            <a:off x="6071616" y="5248656"/>
            <a:ext cx="4828032" cy="228600"/>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COMMENT review  /  human validation remains required</a:t>
            </a:r>
            <a:endParaRPr lang="en-US" sz="1000" dirty="0"/>
          </a:p>
        </p:txBody>
      </p:sp>
    </p:spTree>
  </p:cSld>
  <p:clrMapOvr>
    <a:masterClrMapping/>
  </p:clrMapOvr>
</p:sld>
</file>

<file path=ppt/slides/slide6.xml><?xml version="1.0" encoding="utf-8"?>
<p:sld xmlns:a="http://schemas.openxmlformats.org/drawingml/2006/main"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969DA"/>
          </a:solidFill>
          <a:ln w="12700">
            <a:solidFill>
              <a:srgbClr val="0969DA">
                <a:alpha val="0"/>
              </a:srgbClr>
            </a:solidFill>
            <a:prstDash val="solid"/>
          </a:ln>
        </p:spPr>
      </p:sp>
      <p:sp>
        <p:nvSpPr>
          <p:cNvPr id="3" name="Text 1"/>
          <p:cNvSpPr/>
          <p:nvPr/>
        </p:nvSpPr>
        <p:spPr>
          <a:xfrm>
            <a:off x="566928" y="283464"/>
            <a:ext cx="7132320" cy="173736"/>
          </a:xfrm>
          <a:prstGeom prst="rect">
            <a:avLst/>
          </a:prstGeom>
          <a:noFill/>
          <a:ln/>
        </p:spPr>
        <p:txBody>
          <a:bodyPr wrap="square" lIns="0" tIns="0" rIns="0" bIns="0" rtlCol="0" anchor="ctr">
            <a:normAutofit/>
          </a:bodyPr>
          <a:lstStyle/>
          <a:p>
            <a:pPr algn="l" indent="0" marL="0">
              <a:lnSpc>
                <a:spcPct val="100000"/>
              </a:lnSpc>
              <a:buNone/>
            </a:pPr>
            <a:r>
              <a:rPr lang="en-US" sz="900" b="1" spc="90" kern="0" dirty="0">
                <a:solidFill>
                  <a:srgbClr val="0969DA"/>
                </a:solidFill>
                <a:latin typeface="Aptos" pitchFamily="34" charset="0"/>
                <a:ea typeface="Aptos" pitchFamily="34" charset="-122"/>
                <a:cs typeface="Aptos" pitchFamily="34" charset="-120"/>
              </a:rPr>
              <a:t>LIVE-INTEGRATION EVIDENCE</a:t>
            </a:r>
            <a:endParaRPr lang="en-US" sz="900" dirty="0"/>
          </a:p>
        </p:txBody>
      </p:sp>
      <p:sp>
        <p:nvSpPr>
          <p:cNvPr id="4" name="Text 2"/>
          <p:cNvSpPr/>
          <p:nvPr/>
        </p:nvSpPr>
        <p:spPr>
          <a:xfrm>
            <a:off x="566928" y="603504"/>
            <a:ext cx="10972800"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33D"/>
                </a:solidFill>
                <a:latin typeface="Aptos Display" pitchFamily="34" charset="0"/>
                <a:ea typeface="Aptos Display" pitchFamily="34" charset="-122"/>
                <a:cs typeface="Aptos Display" pitchFamily="34" charset="-120"/>
              </a:rPr>
              <a:t>Validation Results</a:t>
            </a:r>
            <a:endParaRPr lang="en-US" sz="2700" dirty="0"/>
          </a:p>
        </p:txBody>
      </p:sp>
      <p:sp>
        <p:nvSpPr>
          <p:cNvPr id="5" name="Shape 3"/>
          <p:cNvSpPr/>
          <p:nvPr/>
        </p:nvSpPr>
        <p:spPr>
          <a:xfrm>
            <a:off x="566928" y="1207008"/>
            <a:ext cx="11064240" cy="0"/>
          </a:xfrm>
          <a:prstGeom prst="line">
            <a:avLst/>
          </a:prstGeom>
          <a:noFill/>
          <a:ln w="11430">
            <a:solidFill>
              <a:srgbClr val="D4DEEA"/>
            </a:solidFill>
            <a:prstDash val="solid"/>
            <a:tailEnd type="none"/>
          </a:ln>
        </p:spPr>
      </p:sp>
      <p:sp>
        <p:nvSpPr>
          <p:cNvPr id="6" name="Text 4"/>
          <p:cNvSpPr/>
          <p:nvPr/>
        </p:nvSpPr>
        <p:spPr>
          <a:xfrm>
            <a:off x="566928" y="6537960"/>
            <a:ext cx="5669280" cy="137160"/>
          </a:xfrm>
          <a:prstGeom prst="rect">
            <a:avLst/>
          </a:prstGeom>
          <a:noFill/>
          <a:ln/>
        </p:spPr>
        <p:txBody>
          <a:bodyPr wrap="square" lIns="0" tIns="0" rIns="0" bIns="0" rtlCol="0" anchor="ctr">
            <a:normAutofit/>
          </a:bodyPr>
          <a:lstStyle/>
          <a:p>
            <a:pPr algn="l" indent="0" marL="0">
              <a:lnSpc>
                <a:spcPct val="100000"/>
              </a:lnSpc>
              <a:buNone/>
            </a:pPr>
            <a:r>
              <a:rPr lang="en-US" sz="800" b="1" spc="40" kern="0" dirty="0">
                <a:solidFill>
                  <a:srgbClr val="8492A6"/>
                </a:solidFill>
                <a:latin typeface="Aptos" pitchFamily="34" charset="0"/>
                <a:ea typeface="Aptos" pitchFamily="34" charset="-122"/>
                <a:cs typeface="Aptos" pitchFamily="34" charset="-120"/>
              </a:rPr>
              <a:t>AI CODE REVIEW AGENT  /  P1 + P2</a:t>
            </a:r>
            <a:endParaRPr lang="en-US" sz="800" dirty="0"/>
          </a:p>
        </p:txBody>
      </p:sp>
      <p:sp>
        <p:nvSpPr>
          <p:cNvPr id="7" name="Text 5"/>
          <p:cNvSpPr/>
          <p:nvPr/>
        </p:nvSpPr>
        <p:spPr>
          <a:xfrm>
            <a:off x="11018520" y="6510528"/>
            <a:ext cx="530352" cy="164592"/>
          </a:xfrm>
          <a:prstGeom prst="rect">
            <a:avLst/>
          </a:prstGeom>
          <a:noFill/>
          <a:ln/>
        </p:spPr>
        <p:txBody>
          <a:bodyPr wrap="square" lIns="0" tIns="0" rIns="0" bIns="0" rtlCol="0" anchor="ctr">
            <a:normAutofit/>
          </a:bodyPr>
          <a:lstStyle/>
          <a:p>
            <a:pPr algn="r" indent="0" marL="0">
              <a:lnSpc>
                <a:spcPct val="100000"/>
              </a:lnSpc>
              <a:buNone/>
            </a:pPr>
            <a:r>
              <a:rPr lang="en-US" sz="900" b="1" dirty="0">
                <a:solidFill>
                  <a:srgbClr val="0969DA"/>
                </a:solidFill>
                <a:latin typeface="Aptos" pitchFamily="34" charset="0"/>
                <a:ea typeface="Aptos" pitchFamily="34" charset="-122"/>
                <a:cs typeface="Aptos" pitchFamily="34" charset="-120"/>
              </a:rPr>
              <a:t>06</a:t>
            </a:r>
            <a:endParaRPr lang="en-US" sz="900" dirty="0"/>
          </a:p>
        </p:txBody>
      </p:sp>
      <p:sp>
        <p:nvSpPr>
          <p:cNvPr id="8" name="Shape 6"/>
          <p:cNvSpPr/>
          <p:nvPr/>
        </p:nvSpPr>
        <p:spPr>
          <a:xfrm>
            <a:off x="713232" y="1572768"/>
            <a:ext cx="2788920" cy="4507992"/>
          </a:xfrm>
          <a:prstGeom prst="roundRect">
            <a:avLst>
              <a:gd name="adj" fmla="val 2623"/>
            </a:avLst>
          </a:prstGeom>
          <a:solidFill>
            <a:srgbClr val="0B1730"/>
          </a:solidFill>
          <a:ln w="12700">
            <a:solidFill>
              <a:srgbClr val="0B1730">
                <a:alpha val="0"/>
              </a:srgbClr>
            </a:solidFill>
            <a:prstDash val="solid"/>
          </a:ln>
        </p:spPr>
      </p:sp>
      <p:sp>
        <p:nvSpPr>
          <p:cNvPr id="9" name="Text 7"/>
          <p:cNvSpPr/>
          <p:nvPr/>
        </p:nvSpPr>
        <p:spPr>
          <a:xfrm>
            <a:off x="1005840" y="1883664"/>
            <a:ext cx="2011680" cy="182880"/>
          </a:xfrm>
          <a:prstGeom prst="rect">
            <a:avLst/>
          </a:prstGeom>
          <a:noFill/>
          <a:ln/>
        </p:spPr>
        <p:txBody>
          <a:bodyPr wrap="square" lIns="0" tIns="0" rIns="0" bIns="0" rtlCol="0" anchor="ctr">
            <a:normAutofit/>
          </a:bodyPr>
          <a:lstStyle/>
          <a:p>
            <a:pPr algn="l" indent="0" marL="0">
              <a:lnSpc>
                <a:spcPct val="100000"/>
              </a:lnSpc>
              <a:buNone/>
            </a:pPr>
            <a:r>
              <a:rPr lang="en-US" sz="900" b="1" spc="70" kern="0" dirty="0">
                <a:solidFill>
                  <a:srgbClr val="54A6FF"/>
                </a:solidFill>
                <a:latin typeface="Aptos" pitchFamily="34" charset="0"/>
                <a:ea typeface="Aptos" pitchFamily="34" charset="-122"/>
                <a:cs typeface="Aptos" pitchFamily="34" charset="-120"/>
              </a:rPr>
              <a:t>REPOSITORIES</a:t>
            </a:r>
            <a:endParaRPr lang="en-US" sz="900" dirty="0"/>
          </a:p>
        </p:txBody>
      </p:sp>
      <p:sp>
        <p:nvSpPr>
          <p:cNvPr id="10" name="Text 8"/>
          <p:cNvSpPr/>
          <p:nvPr/>
        </p:nvSpPr>
        <p:spPr>
          <a:xfrm>
            <a:off x="1005840" y="2331720"/>
            <a:ext cx="2148840" cy="29260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FFFFFF"/>
                </a:solidFill>
                <a:latin typeface="Aptos" pitchFamily="34" charset="0"/>
                <a:ea typeface="Aptos" pitchFamily="34" charset="-122"/>
                <a:cs typeface="Aptos" pitchFamily="34" charset="-120"/>
              </a:rPr>
              <a:t>ai-code-review-demo</a:t>
            </a:r>
            <a:endParaRPr lang="en-US" sz="1500" dirty="0"/>
          </a:p>
        </p:txBody>
      </p:sp>
      <p:sp>
        <p:nvSpPr>
          <p:cNvPr id="11" name="Shape 9"/>
          <p:cNvSpPr/>
          <p:nvPr/>
        </p:nvSpPr>
        <p:spPr>
          <a:xfrm>
            <a:off x="1005840" y="2770632"/>
            <a:ext cx="2148840" cy="0"/>
          </a:xfrm>
          <a:prstGeom prst="line">
            <a:avLst/>
          </a:prstGeom>
          <a:noFill/>
          <a:ln w="12700">
            <a:solidFill>
              <a:srgbClr val="345173"/>
            </a:solidFill>
            <a:prstDash val="solid"/>
            <a:tailEnd type="none"/>
          </a:ln>
        </p:spPr>
      </p:sp>
      <p:sp>
        <p:nvSpPr>
          <p:cNvPr id="12" name="Text 10"/>
          <p:cNvSpPr/>
          <p:nvPr/>
        </p:nvSpPr>
        <p:spPr>
          <a:xfrm>
            <a:off x="1005840" y="3017520"/>
            <a:ext cx="2148840" cy="29260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FFFFFF"/>
                </a:solidFill>
                <a:latin typeface="Aptos" pitchFamily="34" charset="0"/>
                <a:ea typeface="Aptos" pitchFamily="34" charset="-122"/>
                <a:cs typeface="Aptos" pitchFamily="34" charset="-120"/>
              </a:rPr>
              <a:t>Spring-petclinic</a:t>
            </a:r>
            <a:endParaRPr lang="en-US" sz="1500" dirty="0"/>
          </a:p>
        </p:txBody>
      </p:sp>
      <p:sp>
        <p:nvSpPr>
          <p:cNvPr id="13" name="Text 11"/>
          <p:cNvSpPr/>
          <p:nvPr/>
        </p:nvSpPr>
        <p:spPr>
          <a:xfrm>
            <a:off x="1005840" y="3657600"/>
            <a:ext cx="2084832" cy="585216"/>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D4E0F1"/>
                </a:solidFill>
                <a:latin typeface="Aptos" pitchFamily="34" charset="0"/>
                <a:ea typeface="Aptos" pitchFamily="34" charset="-122"/>
                <a:cs typeface="Aptos" pitchFamily="34" charset="-120"/>
              </a:rPr>
              <a:t>Reusable workflow</a:t>
            </a:r>
            <a:endParaRPr lang="en-US" sz="1100" dirty="0"/>
          </a:p>
          <a:p>
            <a:pPr algn="l" indent="0" marL="0">
              <a:lnSpc>
                <a:spcPct val="100000"/>
              </a:lnSpc>
              <a:buNone/>
            </a:pPr>
            <a:r>
              <a:rPr lang="en-US" sz="1100" dirty="0">
                <a:solidFill>
                  <a:srgbClr val="D4E0F1"/>
                </a:solidFill>
                <a:latin typeface="Aptos" pitchFamily="34" charset="0"/>
                <a:ea typeface="Aptos" pitchFamily="34" charset="-122"/>
                <a:cs typeface="Aptos" pitchFamily="34" charset="-120"/>
              </a:rPr>
              <a:t>multiple consumers</a:t>
            </a:r>
            <a:endParaRPr lang="en-US" sz="1100" dirty="0"/>
          </a:p>
        </p:txBody>
      </p:sp>
      <p:sp>
        <p:nvSpPr>
          <p:cNvPr id="14" name="Text 12"/>
          <p:cNvSpPr/>
          <p:nvPr/>
        </p:nvSpPr>
        <p:spPr>
          <a:xfrm>
            <a:off x="1005840" y="4572000"/>
            <a:ext cx="2011680" cy="182880"/>
          </a:xfrm>
          <a:prstGeom prst="rect">
            <a:avLst/>
          </a:prstGeom>
          <a:noFill/>
          <a:ln/>
        </p:spPr>
        <p:txBody>
          <a:bodyPr wrap="square" lIns="0" tIns="0" rIns="0" bIns="0" rtlCol="0" anchor="ctr">
            <a:normAutofit/>
          </a:bodyPr>
          <a:lstStyle/>
          <a:p>
            <a:pPr algn="l" indent="0" marL="0">
              <a:lnSpc>
                <a:spcPct val="100000"/>
              </a:lnSpc>
              <a:buNone/>
            </a:pPr>
            <a:r>
              <a:rPr lang="en-US" sz="900" b="1" spc="70" kern="0" dirty="0">
                <a:solidFill>
                  <a:srgbClr val="54A6FF"/>
                </a:solidFill>
                <a:latin typeface="Aptos" pitchFamily="34" charset="0"/>
                <a:ea typeface="Aptos" pitchFamily="34" charset="-122"/>
                <a:cs typeface="Aptos" pitchFamily="34" charset="-120"/>
              </a:rPr>
              <a:t>LANGUAGES</a:t>
            </a:r>
            <a:endParaRPr lang="en-US" sz="900" dirty="0"/>
          </a:p>
        </p:txBody>
      </p:sp>
      <p:sp>
        <p:nvSpPr>
          <p:cNvPr id="15" name="Shape 13"/>
          <p:cNvSpPr/>
          <p:nvPr/>
        </p:nvSpPr>
        <p:spPr>
          <a:xfrm>
            <a:off x="1005840" y="4956048"/>
            <a:ext cx="749808" cy="310896"/>
          </a:xfrm>
          <a:prstGeom prst="roundRect">
            <a:avLst>
              <a:gd name="adj" fmla="val 17647"/>
            </a:avLst>
          </a:prstGeom>
          <a:solidFill>
            <a:srgbClr val="1B3458"/>
          </a:solidFill>
          <a:ln w="12700">
            <a:solidFill>
              <a:srgbClr val="1B3458">
                <a:alpha val="0"/>
              </a:srgbClr>
            </a:solidFill>
            <a:prstDash val="solid"/>
          </a:ln>
        </p:spPr>
      </p:sp>
      <p:sp>
        <p:nvSpPr>
          <p:cNvPr id="16" name="Text 14"/>
          <p:cNvSpPr/>
          <p:nvPr/>
        </p:nvSpPr>
        <p:spPr>
          <a:xfrm>
            <a:off x="1097280" y="4988052"/>
            <a:ext cx="566928"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Python</a:t>
            </a:r>
            <a:endParaRPr lang="en-US" sz="900" dirty="0"/>
          </a:p>
        </p:txBody>
      </p:sp>
      <p:sp>
        <p:nvSpPr>
          <p:cNvPr id="17" name="Shape 15"/>
          <p:cNvSpPr/>
          <p:nvPr/>
        </p:nvSpPr>
        <p:spPr>
          <a:xfrm>
            <a:off x="1865376" y="4956048"/>
            <a:ext cx="658368" cy="310896"/>
          </a:xfrm>
          <a:prstGeom prst="roundRect">
            <a:avLst>
              <a:gd name="adj" fmla="val 17647"/>
            </a:avLst>
          </a:prstGeom>
          <a:solidFill>
            <a:srgbClr val="1B3458"/>
          </a:solidFill>
          <a:ln w="12700">
            <a:solidFill>
              <a:srgbClr val="1B3458">
                <a:alpha val="0"/>
              </a:srgbClr>
            </a:solidFill>
            <a:prstDash val="solid"/>
          </a:ln>
        </p:spPr>
      </p:sp>
      <p:sp>
        <p:nvSpPr>
          <p:cNvPr id="18" name="Text 16"/>
          <p:cNvSpPr/>
          <p:nvPr/>
        </p:nvSpPr>
        <p:spPr>
          <a:xfrm>
            <a:off x="1956816" y="4988052"/>
            <a:ext cx="475488"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Java</a:t>
            </a:r>
            <a:endParaRPr lang="en-US" sz="900" dirty="0"/>
          </a:p>
        </p:txBody>
      </p:sp>
      <p:sp>
        <p:nvSpPr>
          <p:cNvPr id="19" name="Shape 17"/>
          <p:cNvSpPr/>
          <p:nvPr/>
        </p:nvSpPr>
        <p:spPr>
          <a:xfrm>
            <a:off x="2633472" y="4956048"/>
            <a:ext cx="731520" cy="310896"/>
          </a:xfrm>
          <a:prstGeom prst="roundRect">
            <a:avLst>
              <a:gd name="adj" fmla="val 17647"/>
            </a:avLst>
          </a:prstGeom>
          <a:solidFill>
            <a:srgbClr val="1B3458"/>
          </a:solidFill>
          <a:ln w="12700">
            <a:solidFill>
              <a:srgbClr val="1B3458">
                <a:alpha val="0"/>
              </a:srgbClr>
            </a:solidFill>
            <a:prstDash val="solid"/>
          </a:ln>
        </p:spPr>
      </p:sp>
      <p:sp>
        <p:nvSpPr>
          <p:cNvPr id="20" name="Text 18"/>
          <p:cNvSpPr/>
          <p:nvPr/>
        </p:nvSpPr>
        <p:spPr>
          <a:xfrm>
            <a:off x="2724912" y="4988052"/>
            <a:ext cx="548640"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JavaScript</a:t>
            </a:r>
            <a:endParaRPr lang="en-US" sz="900" dirty="0"/>
          </a:p>
        </p:txBody>
      </p:sp>
      <p:sp>
        <p:nvSpPr>
          <p:cNvPr id="21" name="Text 19"/>
          <p:cNvSpPr/>
          <p:nvPr/>
        </p:nvSpPr>
        <p:spPr>
          <a:xfrm>
            <a:off x="1005840" y="5486400"/>
            <a:ext cx="2103120" cy="356616"/>
          </a:xfrm>
          <a:prstGeom prst="rect">
            <a:avLst/>
          </a:prstGeom>
          <a:noFill/>
          <a:ln/>
        </p:spPr>
        <p:txBody>
          <a:bodyPr wrap="square" lIns="0" tIns="0" rIns="0" bIns="0" rtlCol="0" anchor="t">
            <a:normAutofit/>
          </a:bodyPr>
          <a:lstStyle/>
          <a:p>
            <a:pPr algn="l" indent="0" marL="0">
              <a:lnSpc>
                <a:spcPct val="100000"/>
              </a:lnSpc>
              <a:buNone/>
            </a:pPr>
            <a:r>
              <a:rPr lang="en-US" sz="800" dirty="0">
                <a:solidFill>
                  <a:srgbClr val="B9C9DE"/>
                </a:solidFill>
                <a:latin typeface="Aptos" pitchFamily="34" charset="0"/>
                <a:ea typeface="Aptos" pitchFamily="34" charset="-122"/>
                <a:cs typeface="Aptos" pitchFamily="34" charset="-120"/>
              </a:rPr>
              <a:t>Generic diff review; no language toolchain execution</a:t>
            </a:r>
            <a:endParaRPr lang="en-US" sz="800" dirty="0"/>
          </a:p>
        </p:txBody>
      </p:sp>
      <p:sp>
        <p:nvSpPr>
          <p:cNvPr id="22" name="Text 20"/>
          <p:cNvSpPr/>
          <p:nvPr/>
        </p:nvSpPr>
        <p:spPr>
          <a:xfrm>
            <a:off x="3986784" y="1673352"/>
            <a:ext cx="2743200" cy="182880"/>
          </a:xfrm>
          <a:prstGeom prst="rect">
            <a:avLst/>
          </a:prstGeom>
          <a:noFill/>
          <a:ln/>
        </p:spPr>
        <p:txBody>
          <a:bodyPr wrap="square" lIns="0" tIns="0" rIns="0" bIns="0" rtlCol="0" anchor="ctr">
            <a:normAutofit/>
          </a:bodyPr>
          <a:lstStyle/>
          <a:p>
            <a:pPr algn="l" indent="0" marL="0">
              <a:lnSpc>
                <a:spcPct val="100000"/>
              </a:lnSpc>
              <a:buNone/>
            </a:pPr>
            <a:r>
              <a:rPr lang="en-US" sz="900" b="1" spc="70" kern="0" dirty="0">
                <a:solidFill>
                  <a:srgbClr val="0969DA"/>
                </a:solidFill>
                <a:latin typeface="Aptos" pitchFamily="34" charset="0"/>
                <a:ea typeface="Aptos" pitchFamily="34" charset="-122"/>
                <a:cs typeface="Aptos" pitchFamily="34" charset="-120"/>
              </a:rPr>
              <a:t>VALIDATED SCENARIOS</a:t>
            </a:r>
            <a:endParaRPr lang="en-US" sz="900" dirty="0"/>
          </a:p>
        </p:txBody>
      </p:sp>
      <p:sp>
        <p:nvSpPr>
          <p:cNvPr id="23" name="Shape 21"/>
          <p:cNvSpPr/>
          <p:nvPr/>
        </p:nvSpPr>
        <p:spPr>
          <a:xfrm>
            <a:off x="4023360" y="2112264"/>
            <a:ext cx="182880" cy="182880"/>
          </a:xfrm>
          <a:prstGeom prst="ellipse">
            <a:avLst/>
          </a:prstGeom>
          <a:solidFill>
            <a:srgbClr val="0969DA"/>
          </a:solidFill>
          <a:ln w="12700">
            <a:solidFill>
              <a:srgbClr val="0969DA">
                <a:alpha val="0"/>
              </a:srgbClr>
            </a:solidFill>
            <a:prstDash val="solid"/>
          </a:ln>
        </p:spPr>
      </p:sp>
      <p:sp>
        <p:nvSpPr>
          <p:cNvPr id="24" name="Text 22"/>
          <p:cNvSpPr/>
          <p:nvPr/>
        </p:nvSpPr>
        <p:spPr>
          <a:xfrm>
            <a:off x="4023360" y="2116836"/>
            <a:ext cx="182880" cy="14630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25" name="Text 23"/>
          <p:cNvSpPr/>
          <p:nvPr/>
        </p:nvSpPr>
        <p:spPr>
          <a:xfrm>
            <a:off x="4352544" y="2066544"/>
            <a:ext cx="2148840" cy="21031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33D"/>
                </a:solidFill>
                <a:latin typeface="Aptos" pitchFamily="34" charset="0"/>
                <a:ea typeface="Aptos" pitchFamily="34" charset="-122"/>
                <a:cs typeface="Aptos" pitchFamily="34" charset="-120"/>
              </a:rPr>
              <a:t>Source changes</a:t>
            </a:r>
            <a:endParaRPr lang="en-US" sz="1200" dirty="0"/>
          </a:p>
        </p:txBody>
      </p:sp>
      <p:sp>
        <p:nvSpPr>
          <p:cNvPr id="26" name="Text 24"/>
          <p:cNvSpPr/>
          <p:nvPr/>
        </p:nvSpPr>
        <p:spPr>
          <a:xfrm>
            <a:off x="6492240" y="2075688"/>
            <a:ext cx="4389120" cy="219456"/>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53647B"/>
                </a:solidFill>
                <a:latin typeface="Aptos" pitchFamily="34" charset="0"/>
                <a:ea typeface="Aptos" pitchFamily="34" charset="-122"/>
                <a:cs typeface="Aptos" pitchFamily="34" charset="-120"/>
              </a:rPr>
              <a:t>multiple files · bounded diff</a:t>
            </a:r>
            <a:endParaRPr lang="en-US" sz="1000" dirty="0"/>
          </a:p>
        </p:txBody>
      </p:sp>
      <p:sp>
        <p:nvSpPr>
          <p:cNvPr id="27" name="Shape 25"/>
          <p:cNvSpPr/>
          <p:nvPr/>
        </p:nvSpPr>
        <p:spPr>
          <a:xfrm>
            <a:off x="4352544" y="2459736"/>
            <a:ext cx="6620256" cy="0"/>
          </a:xfrm>
          <a:prstGeom prst="line">
            <a:avLst/>
          </a:prstGeom>
          <a:noFill/>
          <a:ln w="7620">
            <a:solidFill>
              <a:srgbClr val="D4DEEA"/>
            </a:solidFill>
            <a:prstDash val="solid"/>
            <a:tailEnd type="none"/>
          </a:ln>
        </p:spPr>
      </p:sp>
      <p:sp>
        <p:nvSpPr>
          <p:cNvPr id="28" name="Shape 26"/>
          <p:cNvSpPr/>
          <p:nvPr/>
        </p:nvSpPr>
        <p:spPr>
          <a:xfrm>
            <a:off x="4023360" y="2706624"/>
            <a:ext cx="182880" cy="182880"/>
          </a:xfrm>
          <a:prstGeom prst="ellipse">
            <a:avLst/>
          </a:prstGeom>
          <a:solidFill>
            <a:srgbClr val="0969DA"/>
          </a:solidFill>
          <a:ln w="12700">
            <a:solidFill>
              <a:srgbClr val="0969DA">
                <a:alpha val="0"/>
              </a:srgbClr>
            </a:solidFill>
            <a:prstDash val="solid"/>
          </a:ln>
        </p:spPr>
      </p:sp>
      <p:sp>
        <p:nvSpPr>
          <p:cNvPr id="29" name="Text 27"/>
          <p:cNvSpPr/>
          <p:nvPr/>
        </p:nvSpPr>
        <p:spPr>
          <a:xfrm>
            <a:off x="4023360" y="2711196"/>
            <a:ext cx="182880" cy="14630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30" name="Text 28"/>
          <p:cNvSpPr/>
          <p:nvPr/>
        </p:nvSpPr>
        <p:spPr>
          <a:xfrm>
            <a:off x="4352544" y="2660904"/>
            <a:ext cx="2148840" cy="21031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33D"/>
                </a:solidFill>
                <a:latin typeface="Aptos" pitchFamily="34" charset="0"/>
                <a:ea typeface="Aptos" pitchFamily="34" charset="-122"/>
                <a:cs typeface="Aptos" pitchFamily="34" charset="-120"/>
              </a:rPr>
              <a:t>Review output</a:t>
            </a:r>
            <a:endParaRPr lang="en-US" sz="1200" dirty="0"/>
          </a:p>
        </p:txBody>
      </p:sp>
      <p:sp>
        <p:nvSpPr>
          <p:cNvPr id="31" name="Text 29"/>
          <p:cNvSpPr/>
          <p:nvPr/>
        </p:nvSpPr>
        <p:spPr>
          <a:xfrm>
            <a:off x="6492240" y="2670048"/>
            <a:ext cx="4389120" cy="219456"/>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53647B"/>
                </a:solidFill>
                <a:latin typeface="Aptos" pitchFamily="34" charset="0"/>
                <a:ea typeface="Aptos" pitchFamily="34" charset="-122"/>
                <a:cs typeface="Aptos" pitchFamily="34" charset="-120"/>
              </a:rPr>
              <a:t>enterprise summary · inline comments</a:t>
            </a:r>
            <a:endParaRPr lang="en-US" sz="1000" dirty="0"/>
          </a:p>
        </p:txBody>
      </p:sp>
      <p:sp>
        <p:nvSpPr>
          <p:cNvPr id="32" name="Shape 30"/>
          <p:cNvSpPr/>
          <p:nvPr/>
        </p:nvSpPr>
        <p:spPr>
          <a:xfrm>
            <a:off x="4352544" y="3054096"/>
            <a:ext cx="6620256" cy="0"/>
          </a:xfrm>
          <a:prstGeom prst="line">
            <a:avLst/>
          </a:prstGeom>
          <a:noFill/>
          <a:ln w="7620">
            <a:solidFill>
              <a:srgbClr val="D4DEEA"/>
            </a:solidFill>
            <a:prstDash val="solid"/>
            <a:tailEnd type="none"/>
          </a:ln>
        </p:spPr>
      </p:sp>
      <p:sp>
        <p:nvSpPr>
          <p:cNvPr id="33" name="Shape 31"/>
          <p:cNvSpPr/>
          <p:nvPr/>
        </p:nvSpPr>
        <p:spPr>
          <a:xfrm>
            <a:off x="4023360" y="3300984"/>
            <a:ext cx="182880" cy="182880"/>
          </a:xfrm>
          <a:prstGeom prst="ellipse">
            <a:avLst/>
          </a:prstGeom>
          <a:solidFill>
            <a:srgbClr val="0969DA"/>
          </a:solidFill>
          <a:ln w="12700">
            <a:solidFill>
              <a:srgbClr val="0969DA">
                <a:alpha val="0"/>
              </a:srgbClr>
            </a:solidFill>
            <a:prstDash val="solid"/>
          </a:ln>
        </p:spPr>
      </p:sp>
      <p:sp>
        <p:nvSpPr>
          <p:cNvPr id="34" name="Text 32"/>
          <p:cNvSpPr/>
          <p:nvPr/>
        </p:nvSpPr>
        <p:spPr>
          <a:xfrm>
            <a:off x="4023360" y="3305556"/>
            <a:ext cx="182880" cy="14630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35" name="Text 33"/>
          <p:cNvSpPr/>
          <p:nvPr/>
        </p:nvSpPr>
        <p:spPr>
          <a:xfrm>
            <a:off x="4352544" y="3255264"/>
            <a:ext cx="2148840" cy="21031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33D"/>
                </a:solidFill>
                <a:latin typeface="Aptos" pitchFamily="34" charset="0"/>
                <a:ea typeface="Aptos" pitchFamily="34" charset="-122"/>
                <a:cs typeface="Aptos" pitchFamily="34" charset="-120"/>
              </a:rPr>
              <a:t>Location safety</a:t>
            </a:r>
            <a:endParaRPr lang="en-US" sz="1200" dirty="0"/>
          </a:p>
        </p:txBody>
      </p:sp>
      <p:sp>
        <p:nvSpPr>
          <p:cNvPr id="36" name="Text 34"/>
          <p:cNvSpPr/>
          <p:nvPr/>
        </p:nvSpPr>
        <p:spPr>
          <a:xfrm>
            <a:off x="6492240" y="3264408"/>
            <a:ext cx="4389120" cy="219456"/>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53647B"/>
                </a:solidFill>
                <a:latin typeface="Aptos" pitchFamily="34" charset="0"/>
                <a:ea typeface="Aptos" pitchFamily="34" charset="-122"/>
                <a:cs typeface="Aptos" pitchFamily="34" charset="-120"/>
              </a:rPr>
              <a:t>exact RIGHT-side added lines</a:t>
            </a:r>
            <a:endParaRPr lang="en-US" sz="1000" dirty="0"/>
          </a:p>
        </p:txBody>
      </p:sp>
      <p:sp>
        <p:nvSpPr>
          <p:cNvPr id="37" name="Shape 35"/>
          <p:cNvSpPr/>
          <p:nvPr/>
        </p:nvSpPr>
        <p:spPr>
          <a:xfrm>
            <a:off x="4352544" y="3648456"/>
            <a:ext cx="6620256" cy="0"/>
          </a:xfrm>
          <a:prstGeom prst="line">
            <a:avLst/>
          </a:prstGeom>
          <a:noFill/>
          <a:ln w="7620">
            <a:solidFill>
              <a:srgbClr val="D4DEEA"/>
            </a:solidFill>
            <a:prstDash val="solid"/>
            <a:tailEnd type="none"/>
          </a:ln>
        </p:spPr>
      </p:sp>
      <p:sp>
        <p:nvSpPr>
          <p:cNvPr id="38" name="Shape 36"/>
          <p:cNvSpPr/>
          <p:nvPr/>
        </p:nvSpPr>
        <p:spPr>
          <a:xfrm>
            <a:off x="4023360" y="3895344"/>
            <a:ext cx="182880" cy="182880"/>
          </a:xfrm>
          <a:prstGeom prst="ellipse">
            <a:avLst/>
          </a:prstGeom>
          <a:solidFill>
            <a:srgbClr val="0969DA"/>
          </a:solidFill>
          <a:ln w="12700">
            <a:solidFill>
              <a:srgbClr val="0969DA">
                <a:alpha val="0"/>
              </a:srgbClr>
            </a:solidFill>
            <a:prstDash val="solid"/>
          </a:ln>
        </p:spPr>
      </p:sp>
      <p:sp>
        <p:nvSpPr>
          <p:cNvPr id="39" name="Text 37"/>
          <p:cNvSpPr/>
          <p:nvPr/>
        </p:nvSpPr>
        <p:spPr>
          <a:xfrm>
            <a:off x="4023360" y="3899916"/>
            <a:ext cx="182880" cy="14630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40" name="Text 38"/>
          <p:cNvSpPr/>
          <p:nvPr/>
        </p:nvSpPr>
        <p:spPr>
          <a:xfrm>
            <a:off x="4352544" y="3849624"/>
            <a:ext cx="2148840" cy="21031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33D"/>
                </a:solidFill>
                <a:latin typeface="Aptos" pitchFamily="34" charset="0"/>
                <a:ea typeface="Aptos" pitchFamily="34" charset="-122"/>
                <a:cs typeface="Aptos" pitchFamily="34" charset="-120"/>
              </a:rPr>
              <a:t>Read fallback</a:t>
            </a:r>
            <a:endParaRPr lang="en-US" sz="1200" dirty="0"/>
          </a:p>
        </p:txBody>
      </p:sp>
      <p:sp>
        <p:nvSpPr>
          <p:cNvPr id="41" name="Text 39"/>
          <p:cNvSpPr/>
          <p:nvPr/>
        </p:nvSpPr>
        <p:spPr>
          <a:xfrm>
            <a:off x="6492240" y="3858768"/>
            <a:ext cx="4389120" cy="219456"/>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53647B"/>
                </a:solidFill>
                <a:latin typeface="Aptos" pitchFamily="34" charset="0"/>
                <a:ea typeface="Aptos" pitchFamily="34" charset="-122"/>
                <a:cs typeface="Aptos" pitchFamily="34" charset="-120"/>
              </a:rPr>
              <a:t>get_files → get_diff when needed</a:t>
            </a:r>
            <a:endParaRPr lang="en-US" sz="1000" dirty="0"/>
          </a:p>
        </p:txBody>
      </p:sp>
      <p:sp>
        <p:nvSpPr>
          <p:cNvPr id="42" name="Shape 40"/>
          <p:cNvSpPr/>
          <p:nvPr/>
        </p:nvSpPr>
        <p:spPr>
          <a:xfrm>
            <a:off x="4352544" y="4242816"/>
            <a:ext cx="6620256" cy="0"/>
          </a:xfrm>
          <a:prstGeom prst="line">
            <a:avLst/>
          </a:prstGeom>
          <a:noFill/>
          <a:ln w="7620">
            <a:solidFill>
              <a:srgbClr val="D4DEEA"/>
            </a:solidFill>
            <a:prstDash val="solid"/>
            <a:tailEnd type="none"/>
          </a:ln>
        </p:spPr>
      </p:sp>
      <p:sp>
        <p:nvSpPr>
          <p:cNvPr id="43" name="Shape 41"/>
          <p:cNvSpPr/>
          <p:nvPr/>
        </p:nvSpPr>
        <p:spPr>
          <a:xfrm>
            <a:off x="4023360" y="4489704"/>
            <a:ext cx="182880" cy="182880"/>
          </a:xfrm>
          <a:prstGeom prst="ellipse">
            <a:avLst/>
          </a:prstGeom>
          <a:solidFill>
            <a:srgbClr val="0969DA"/>
          </a:solidFill>
          <a:ln w="12700">
            <a:solidFill>
              <a:srgbClr val="0969DA">
                <a:alpha val="0"/>
              </a:srgbClr>
            </a:solidFill>
            <a:prstDash val="solid"/>
          </a:ln>
        </p:spPr>
      </p:sp>
      <p:sp>
        <p:nvSpPr>
          <p:cNvPr id="44" name="Text 42"/>
          <p:cNvSpPr/>
          <p:nvPr/>
        </p:nvSpPr>
        <p:spPr>
          <a:xfrm>
            <a:off x="4023360" y="4494276"/>
            <a:ext cx="182880" cy="14630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45" name="Text 43"/>
          <p:cNvSpPr/>
          <p:nvPr/>
        </p:nvSpPr>
        <p:spPr>
          <a:xfrm>
            <a:off x="4352544" y="4443984"/>
            <a:ext cx="2148840" cy="21031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33D"/>
                </a:solidFill>
                <a:latin typeface="Aptos" pitchFamily="34" charset="0"/>
                <a:ea typeface="Aptos" pitchFamily="34" charset="-122"/>
                <a:cs typeface="Aptos" pitchFamily="34" charset="-120"/>
              </a:rPr>
              <a:t>Metadata only</a:t>
            </a:r>
            <a:endParaRPr lang="en-US" sz="1200" dirty="0"/>
          </a:p>
        </p:txBody>
      </p:sp>
      <p:sp>
        <p:nvSpPr>
          <p:cNvPr id="46" name="Text 44"/>
          <p:cNvSpPr/>
          <p:nvPr/>
        </p:nvSpPr>
        <p:spPr>
          <a:xfrm>
            <a:off x="6492240" y="4453128"/>
            <a:ext cx="4389120" cy="219456"/>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53647B"/>
                </a:solidFill>
                <a:latin typeface="Aptos" pitchFamily="34" charset="0"/>
                <a:ea typeface="Aptos" pitchFamily="34" charset="-122"/>
                <a:cs typeface="Aptos" pitchFamily="34" charset="-120"/>
              </a:rPr>
              <a:t>rename-only · hunkless changes</a:t>
            </a:r>
            <a:endParaRPr lang="en-US" sz="1000" dirty="0"/>
          </a:p>
        </p:txBody>
      </p:sp>
      <p:sp>
        <p:nvSpPr>
          <p:cNvPr id="47" name="Shape 45"/>
          <p:cNvSpPr/>
          <p:nvPr/>
        </p:nvSpPr>
        <p:spPr>
          <a:xfrm>
            <a:off x="4352544" y="4837176"/>
            <a:ext cx="6620256" cy="0"/>
          </a:xfrm>
          <a:prstGeom prst="line">
            <a:avLst/>
          </a:prstGeom>
          <a:noFill/>
          <a:ln w="7620">
            <a:solidFill>
              <a:srgbClr val="D4DEEA"/>
            </a:solidFill>
            <a:prstDash val="solid"/>
            <a:tailEnd type="none"/>
          </a:ln>
        </p:spPr>
      </p:sp>
      <p:sp>
        <p:nvSpPr>
          <p:cNvPr id="48" name="Shape 46"/>
          <p:cNvSpPr/>
          <p:nvPr/>
        </p:nvSpPr>
        <p:spPr>
          <a:xfrm>
            <a:off x="4023360" y="5084064"/>
            <a:ext cx="182880" cy="182880"/>
          </a:xfrm>
          <a:prstGeom prst="ellipse">
            <a:avLst/>
          </a:prstGeom>
          <a:solidFill>
            <a:srgbClr val="1A7F58"/>
          </a:solidFill>
          <a:ln w="12700">
            <a:solidFill>
              <a:srgbClr val="1A7F58">
                <a:alpha val="0"/>
              </a:srgbClr>
            </a:solidFill>
            <a:prstDash val="solid"/>
          </a:ln>
        </p:spPr>
      </p:sp>
      <p:sp>
        <p:nvSpPr>
          <p:cNvPr id="49" name="Text 47"/>
          <p:cNvSpPr/>
          <p:nvPr/>
        </p:nvSpPr>
        <p:spPr>
          <a:xfrm>
            <a:off x="4023360" y="5088636"/>
            <a:ext cx="182880" cy="14630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50" name="Text 48"/>
          <p:cNvSpPr/>
          <p:nvPr/>
        </p:nvSpPr>
        <p:spPr>
          <a:xfrm>
            <a:off x="4352544" y="5038344"/>
            <a:ext cx="2148840" cy="21031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3233D"/>
                </a:solidFill>
                <a:latin typeface="Aptos" pitchFamily="34" charset="0"/>
                <a:ea typeface="Aptos" pitchFamily="34" charset="-122"/>
                <a:cs typeface="Aptos" pitchFamily="34" charset="-120"/>
              </a:rPr>
              <a:t>Revision lifecycle</a:t>
            </a:r>
            <a:endParaRPr lang="en-US" sz="1200" dirty="0"/>
          </a:p>
        </p:txBody>
      </p:sp>
      <p:sp>
        <p:nvSpPr>
          <p:cNvPr id="51" name="Text 49"/>
          <p:cNvSpPr/>
          <p:nvPr/>
        </p:nvSpPr>
        <p:spPr>
          <a:xfrm>
            <a:off x="6492240" y="5047488"/>
            <a:ext cx="4389120" cy="219456"/>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53647B"/>
                </a:solidFill>
                <a:latin typeface="Aptos" pitchFamily="34" charset="0"/>
                <a:ea typeface="Aptos" pitchFamily="34" charset="-122"/>
                <a:cs typeface="Aptos" pitchFamily="34" charset="-120"/>
              </a:rPr>
              <a:t>fix + synchronize · zero diff, GEP skipped</a:t>
            </a:r>
            <a:endParaRPr lang="en-US" sz="1000" dirty="0"/>
          </a:p>
        </p:txBody>
      </p:sp>
      <p:sp>
        <p:nvSpPr>
          <p:cNvPr id="52" name="Shape 50"/>
          <p:cNvSpPr/>
          <p:nvPr/>
        </p:nvSpPr>
        <p:spPr>
          <a:xfrm>
            <a:off x="4005072" y="5742432"/>
            <a:ext cx="7269480" cy="310896"/>
          </a:xfrm>
          <a:prstGeom prst="roundRect">
            <a:avLst>
              <a:gd name="adj" fmla="val 14706"/>
            </a:avLst>
          </a:prstGeom>
          <a:solidFill>
            <a:srgbClr val="E8F5EF"/>
          </a:solidFill>
          <a:ln w="12700">
            <a:solidFill>
              <a:srgbClr val="E8F5EF">
                <a:alpha val="0"/>
              </a:srgbClr>
            </a:solidFill>
            <a:prstDash val="solid"/>
          </a:ln>
        </p:spPr>
      </p:sp>
      <p:sp>
        <p:nvSpPr>
          <p:cNvPr id="53" name="Text 51"/>
          <p:cNvSpPr/>
          <p:nvPr/>
        </p:nvSpPr>
        <p:spPr>
          <a:xfrm>
            <a:off x="4178808" y="5797296"/>
            <a:ext cx="6912864" cy="18288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A7F58"/>
                </a:solidFill>
                <a:latin typeface="Aptos" pitchFamily="34" charset="0"/>
                <a:ea typeface="Aptos" pitchFamily="34" charset="-122"/>
                <a:cs typeface="Aptos" pitchFamily="34" charset="-120"/>
              </a:rPr>
              <a:t>Live validation proves integration for tested runs, not model accuracy or production certification.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969DA"/>
          </a:solidFill>
          <a:ln w="12700">
            <a:solidFill>
              <a:srgbClr val="0969DA">
                <a:alpha val="0"/>
              </a:srgbClr>
            </a:solidFill>
            <a:prstDash val="solid"/>
          </a:ln>
        </p:spPr>
      </p:sp>
      <p:sp>
        <p:nvSpPr>
          <p:cNvPr id="3" name="Text 1"/>
          <p:cNvSpPr/>
          <p:nvPr/>
        </p:nvSpPr>
        <p:spPr>
          <a:xfrm>
            <a:off x="566928" y="283464"/>
            <a:ext cx="7132320" cy="173736"/>
          </a:xfrm>
          <a:prstGeom prst="rect">
            <a:avLst/>
          </a:prstGeom>
          <a:noFill/>
          <a:ln/>
        </p:spPr>
        <p:txBody>
          <a:bodyPr wrap="square" lIns="0" tIns="0" rIns="0" bIns="0" rtlCol="0" anchor="ctr">
            <a:normAutofit/>
          </a:bodyPr>
          <a:lstStyle/>
          <a:p>
            <a:pPr algn="l" indent="0" marL="0">
              <a:lnSpc>
                <a:spcPct val="100000"/>
              </a:lnSpc>
              <a:buNone/>
            </a:pPr>
            <a:r>
              <a:rPr lang="en-US" sz="900" b="1" spc="90" kern="0" dirty="0">
                <a:solidFill>
                  <a:srgbClr val="0969DA"/>
                </a:solidFill>
                <a:latin typeface="Aptos" pitchFamily="34" charset="0"/>
                <a:ea typeface="Aptos" pitchFamily="34" charset="-122"/>
                <a:cs typeface="Aptos" pitchFamily="34" charset="-120"/>
              </a:rPr>
              <a:t>DELIVERY BOUNDARIES</a:t>
            </a:r>
            <a:endParaRPr lang="en-US" sz="900" dirty="0"/>
          </a:p>
        </p:txBody>
      </p:sp>
      <p:sp>
        <p:nvSpPr>
          <p:cNvPr id="4" name="Text 2"/>
          <p:cNvSpPr/>
          <p:nvPr/>
        </p:nvSpPr>
        <p:spPr>
          <a:xfrm>
            <a:off x="566928" y="603504"/>
            <a:ext cx="10972800"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3233D"/>
                </a:solidFill>
                <a:latin typeface="Aptos Display" pitchFamily="34" charset="0"/>
                <a:ea typeface="Aptos Display" pitchFamily="34" charset="-122"/>
                <a:cs typeface="Aptos Display" pitchFamily="34" charset="-120"/>
              </a:rPr>
              <a:t>P1 / P2 / P3 Status</a:t>
            </a:r>
            <a:endParaRPr lang="en-US" sz="2700" dirty="0"/>
          </a:p>
        </p:txBody>
      </p:sp>
      <p:sp>
        <p:nvSpPr>
          <p:cNvPr id="5" name="Shape 3"/>
          <p:cNvSpPr/>
          <p:nvPr/>
        </p:nvSpPr>
        <p:spPr>
          <a:xfrm>
            <a:off x="566928" y="1207008"/>
            <a:ext cx="11064240" cy="0"/>
          </a:xfrm>
          <a:prstGeom prst="line">
            <a:avLst/>
          </a:prstGeom>
          <a:noFill/>
          <a:ln w="11430">
            <a:solidFill>
              <a:srgbClr val="D4DEEA"/>
            </a:solidFill>
            <a:prstDash val="solid"/>
            <a:tailEnd type="none"/>
          </a:ln>
        </p:spPr>
      </p:sp>
      <p:sp>
        <p:nvSpPr>
          <p:cNvPr id="6" name="Text 4"/>
          <p:cNvSpPr/>
          <p:nvPr/>
        </p:nvSpPr>
        <p:spPr>
          <a:xfrm>
            <a:off x="566928" y="6537960"/>
            <a:ext cx="5669280" cy="137160"/>
          </a:xfrm>
          <a:prstGeom prst="rect">
            <a:avLst/>
          </a:prstGeom>
          <a:noFill/>
          <a:ln/>
        </p:spPr>
        <p:txBody>
          <a:bodyPr wrap="square" lIns="0" tIns="0" rIns="0" bIns="0" rtlCol="0" anchor="ctr">
            <a:normAutofit/>
          </a:bodyPr>
          <a:lstStyle/>
          <a:p>
            <a:pPr algn="l" indent="0" marL="0">
              <a:lnSpc>
                <a:spcPct val="100000"/>
              </a:lnSpc>
              <a:buNone/>
            </a:pPr>
            <a:r>
              <a:rPr lang="en-US" sz="800" b="1" spc="40" kern="0" dirty="0">
                <a:solidFill>
                  <a:srgbClr val="8492A6"/>
                </a:solidFill>
                <a:latin typeface="Aptos" pitchFamily="34" charset="0"/>
                <a:ea typeface="Aptos" pitchFamily="34" charset="-122"/>
                <a:cs typeface="Aptos" pitchFamily="34" charset="-120"/>
              </a:rPr>
              <a:t>AI CODE REVIEW AGENT  /  P1 + P2</a:t>
            </a:r>
            <a:endParaRPr lang="en-US" sz="800" dirty="0"/>
          </a:p>
        </p:txBody>
      </p:sp>
      <p:sp>
        <p:nvSpPr>
          <p:cNvPr id="7" name="Text 5"/>
          <p:cNvSpPr/>
          <p:nvPr/>
        </p:nvSpPr>
        <p:spPr>
          <a:xfrm>
            <a:off x="11018520" y="6510528"/>
            <a:ext cx="530352" cy="164592"/>
          </a:xfrm>
          <a:prstGeom prst="rect">
            <a:avLst/>
          </a:prstGeom>
          <a:noFill/>
          <a:ln/>
        </p:spPr>
        <p:txBody>
          <a:bodyPr wrap="square" lIns="0" tIns="0" rIns="0" bIns="0" rtlCol="0" anchor="ctr">
            <a:normAutofit/>
          </a:bodyPr>
          <a:lstStyle/>
          <a:p>
            <a:pPr algn="r" indent="0" marL="0">
              <a:lnSpc>
                <a:spcPct val="100000"/>
              </a:lnSpc>
              <a:buNone/>
            </a:pPr>
            <a:r>
              <a:rPr lang="en-US" sz="900" b="1" dirty="0">
                <a:solidFill>
                  <a:srgbClr val="0969DA"/>
                </a:solidFill>
                <a:latin typeface="Aptos" pitchFamily="34" charset="0"/>
                <a:ea typeface="Aptos" pitchFamily="34" charset="-122"/>
                <a:cs typeface="Aptos" pitchFamily="34" charset="-120"/>
              </a:rPr>
              <a:t>07</a:t>
            </a:r>
            <a:endParaRPr lang="en-US" sz="900" dirty="0"/>
          </a:p>
        </p:txBody>
      </p:sp>
      <p:sp>
        <p:nvSpPr>
          <p:cNvPr id="8" name="Shape 6"/>
          <p:cNvSpPr/>
          <p:nvPr/>
        </p:nvSpPr>
        <p:spPr>
          <a:xfrm>
            <a:off x="713232" y="1664208"/>
            <a:ext cx="3182112" cy="4389120"/>
          </a:xfrm>
          <a:prstGeom prst="roundRect">
            <a:avLst>
              <a:gd name="adj" fmla="val 2299"/>
            </a:avLst>
          </a:prstGeom>
          <a:solidFill>
            <a:srgbClr val="FFFFFF"/>
          </a:solidFill>
          <a:ln w="12700">
            <a:solidFill>
              <a:srgbClr val="D4DEEA"/>
            </a:solidFill>
            <a:prstDash val="solid"/>
          </a:ln>
        </p:spPr>
      </p:sp>
      <p:sp>
        <p:nvSpPr>
          <p:cNvPr id="9" name="Text 7"/>
          <p:cNvSpPr/>
          <p:nvPr/>
        </p:nvSpPr>
        <p:spPr>
          <a:xfrm>
            <a:off x="969264" y="1956816"/>
            <a:ext cx="777240" cy="493776"/>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1A7F58"/>
                </a:solidFill>
                <a:latin typeface="Aptos Display" pitchFamily="34" charset="0"/>
                <a:ea typeface="Aptos Display" pitchFamily="34" charset="-122"/>
                <a:cs typeface="Aptos Display" pitchFamily="34" charset="-120"/>
              </a:rPr>
              <a:t>P1</a:t>
            </a:r>
            <a:endParaRPr lang="en-US" sz="3200" dirty="0"/>
          </a:p>
        </p:txBody>
      </p:sp>
      <p:sp>
        <p:nvSpPr>
          <p:cNvPr id="10" name="Shape 8"/>
          <p:cNvSpPr/>
          <p:nvPr/>
        </p:nvSpPr>
        <p:spPr>
          <a:xfrm>
            <a:off x="2048256" y="2039112"/>
            <a:ext cx="1408176" cy="310896"/>
          </a:xfrm>
          <a:prstGeom prst="roundRect">
            <a:avLst>
              <a:gd name="adj" fmla="val 17647"/>
            </a:avLst>
          </a:prstGeom>
          <a:solidFill>
            <a:srgbClr val="E8F5EF"/>
          </a:solidFill>
          <a:ln w="12700">
            <a:solidFill>
              <a:srgbClr val="E8F5EF">
                <a:alpha val="0"/>
              </a:srgbClr>
            </a:solidFill>
            <a:prstDash val="solid"/>
          </a:ln>
        </p:spPr>
      </p:sp>
      <p:sp>
        <p:nvSpPr>
          <p:cNvPr id="11" name="Text 9"/>
          <p:cNvSpPr/>
          <p:nvPr/>
        </p:nvSpPr>
        <p:spPr>
          <a:xfrm>
            <a:off x="2139696" y="2071116"/>
            <a:ext cx="1225296"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1A7F58"/>
                </a:solidFill>
                <a:latin typeface="Aptos" pitchFamily="34" charset="0"/>
                <a:ea typeface="Aptos" pitchFamily="34" charset="-122"/>
                <a:cs typeface="Aptos" pitchFamily="34" charset="-120"/>
              </a:rPr>
              <a:t>COMPLETE</a:t>
            </a:r>
            <a:endParaRPr lang="en-US" sz="900" dirty="0"/>
          </a:p>
        </p:txBody>
      </p:sp>
      <p:sp>
        <p:nvSpPr>
          <p:cNvPr id="12" name="Shape 10"/>
          <p:cNvSpPr/>
          <p:nvPr/>
        </p:nvSpPr>
        <p:spPr>
          <a:xfrm>
            <a:off x="969264" y="2670048"/>
            <a:ext cx="2651760" cy="0"/>
          </a:xfrm>
          <a:prstGeom prst="line">
            <a:avLst/>
          </a:prstGeom>
          <a:noFill/>
          <a:ln w="10160">
            <a:solidFill>
              <a:srgbClr val="D4DEEA"/>
            </a:solidFill>
            <a:prstDash val="solid"/>
            <a:tailEnd type="none"/>
          </a:ln>
        </p:spPr>
      </p:sp>
      <p:sp>
        <p:nvSpPr>
          <p:cNvPr id="13" name="Shape 11"/>
          <p:cNvSpPr/>
          <p:nvPr/>
        </p:nvSpPr>
        <p:spPr>
          <a:xfrm>
            <a:off x="996696" y="2980944"/>
            <a:ext cx="118872" cy="118872"/>
          </a:xfrm>
          <a:prstGeom prst="ellipse">
            <a:avLst/>
          </a:prstGeom>
          <a:solidFill>
            <a:srgbClr val="1A7F58"/>
          </a:solidFill>
          <a:ln w="12700">
            <a:solidFill>
              <a:srgbClr val="1A7F58">
                <a:alpha val="0"/>
              </a:srgbClr>
            </a:solidFill>
            <a:prstDash val="solid"/>
          </a:ln>
        </p:spPr>
      </p:sp>
      <p:sp>
        <p:nvSpPr>
          <p:cNvPr id="14" name="Text 12"/>
          <p:cNvSpPr/>
          <p:nvPr/>
        </p:nvSpPr>
        <p:spPr>
          <a:xfrm>
            <a:off x="1234440" y="2944368"/>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3233D"/>
                </a:solidFill>
                <a:latin typeface="Aptos" pitchFamily="34" charset="0"/>
                <a:ea typeface="Aptos" pitchFamily="34" charset="-122"/>
                <a:cs typeface="Aptos" pitchFamily="34" charset="-120"/>
              </a:rPr>
              <a:t>GitHub Actions runtime</a:t>
            </a:r>
            <a:endParaRPr lang="en-US" sz="1100" dirty="0"/>
          </a:p>
        </p:txBody>
      </p:sp>
      <p:sp>
        <p:nvSpPr>
          <p:cNvPr id="15" name="Shape 13"/>
          <p:cNvSpPr/>
          <p:nvPr/>
        </p:nvSpPr>
        <p:spPr>
          <a:xfrm>
            <a:off x="996696" y="3502152"/>
            <a:ext cx="118872" cy="118872"/>
          </a:xfrm>
          <a:prstGeom prst="ellipse">
            <a:avLst/>
          </a:prstGeom>
          <a:solidFill>
            <a:srgbClr val="1A7F58"/>
          </a:solidFill>
          <a:ln w="12700">
            <a:solidFill>
              <a:srgbClr val="1A7F58">
                <a:alpha val="0"/>
              </a:srgbClr>
            </a:solidFill>
            <a:prstDash val="solid"/>
          </a:ln>
        </p:spPr>
      </p:sp>
      <p:sp>
        <p:nvSpPr>
          <p:cNvPr id="16" name="Text 14"/>
          <p:cNvSpPr/>
          <p:nvPr/>
        </p:nvSpPr>
        <p:spPr>
          <a:xfrm>
            <a:off x="1234440" y="3465576"/>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Reusable multi-repo workflow</a:t>
            </a:r>
            <a:endParaRPr lang="en-US" sz="1100" dirty="0"/>
          </a:p>
        </p:txBody>
      </p:sp>
      <p:sp>
        <p:nvSpPr>
          <p:cNvPr id="17" name="Shape 15"/>
          <p:cNvSpPr/>
          <p:nvPr/>
        </p:nvSpPr>
        <p:spPr>
          <a:xfrm>
            <a:off x="996696" y="4023360"/>
            <a:ext cx="118872" cy="118872"/>
          </a:xfrm>
          <a:prstGeom prst="ellipse">
            <a:avLst/>
          </a:prstGeom>
          <a:solidFill>
            <a:srgbClr val="1A7F58"/>
          </a:solidFill>
          <a:ln w="12700">
            <a:solidFill>
              <a:srgbClr val="1A7F58">
                <a:alpha val="0"/>
              </a:srgbClr>
            </a:solidFill>
            <a:prstDash val="solid"/>
          </a:ln>
        </p:spPr>
      </p:sp>
      <p:sp>
        <p:nvSpPr>
          <p:cNvPr id="18" name="Text 16"/>
          <p:cNvSpPr/>
          <p:nvPr/>
        </p:nvSpPr>
        <p:spPr>
          <a:xfrm>
            <a:off x="1234440" y="3986784"/>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opened / reopened / synchronize</a:t>
            </a:r>
            <a:endParaRPr lang="en-US" sz="1100" dirty="0"/>
          </a:p>
        </p:txBody>
      </p:sp>
      <p:sp>
        <p:nvSpPr>
          <p:cNvPr id="19" name="Shape 17"/>
          <p:cNvSpPr/>
          <p:nvPr/>
        </p:nvSpPr>
        <p:spPr>
          <a:xfrm>
            <a:off x="996696" y="4544568"/>
            <a:ext cx="118872" cy="118872"/>
          </a:xfrm>
          <a:prstGeom prst="ellipse">
            <a:avLst/>
          </a:prstGeom>
          <a:solidFill>
            <a:srgbClr val="1A7F58"/>
          </a:solidFill>
          <a:ln w="12700">
            <a:solidFill>
              <a:srgbClr val="1A7F58">
                <a:alpha val="0"/>
              </a:srgbClr>
            </a:solidFill>
            <a:prstDash val="solid"/>
          </a:ln>
        </p:spPr>
      </p:sp>
      <p:sp>
        <p:nvSpPr>
          <p:cNvPr id="20" name="Text 18"/>
          <p:cNvSpPr/>
          <p:nvPr/>
        </p:nvSpPr>
        <p:spPr>
          <a:xfrm>
            <a:off x="1234440" y="4507992"/>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External configuration</a:t>
            </a:r>
            <a:endParaRPr lang="en-US" sz="1100" dirty="0"/>
          </a:p>
        </p:txBody>
      </p:sp>
      <p:sp>
        <p:nvSpPr>
          <p:cNvPr id="21" name="Shape 19"/>
          <p:cNvSpPr/>
          <p:nvPr/>
        </p:nvSpPr>
        <p:spPr>
          <a:xfrm>
            <a:off x="996696" y="5065776"/>
            <a:ext cx="118872" cy="118872"/>
          </a:xfrm>
          <a:prstGeom prst="ellipse">
            <a:avLst/>
          </a:prstGeom>
          <a:solidFill>
            <a:srgbClr val="1A7F58"/>
          </a:solidFill>
          <a:ln w="12700">
            <a:solidFill>
              <a:srgbClr val="1A7F58">
                <a:alpha val="0"/>
              </a:srgbClr>
            </a:solidFill>
            <a:prstDash val="solid"/>
          </a:ln>
        </p:spPr>
      </p:sp>
      <p:sp>
        <p:nvSpPr>
          <p:cNvPr id="22" name="Text 20"/>
          <p:cNvSpPr/>
          <p:nvPr/>
        </p:nvSpPr>
        <p:spPr>
          <a:xfrm>
            <a:off x="1234440" y="5029200"/>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MCP Pull Request reads</a:t>
            </a:r>
            <a:endParaRPr lang="en-US" sz="1100" dirty="0"/>
          </a:p>
        </p:txBody>
      </p:sp>
      <p:sp>
        <p:nvSpPr>
          <p:cNvPr id="23" name="Shape 21"/>
          <p:cNvSpPr/>
          <p:nvPr/>
        </p:nvSpPr>
        <p:spPr>
          <a:xfrm>
            <a:off x="4151376" y="1664208"/>
            <a:ext cx="3182112" cy="4389120"/>
          </a:xfrm>
          <a:prstGeom prst="roundRect">
            <a:avLst>
              <a:gd name="adj" fmla="val 2299"/>
            </a:avLst>
          </a:prstGeom>
          <a:solidFill>
            <a:srgbClr val="FFFFFF"/>
          </a:solidFill>
          <a:ln w="12700">
            <a:solidFill>
              <a:srgbClr val="D4DEEA"/>
            </a:solidFill>
            <a:prstDash val="solid"/>
          </a:ln>
        </p:spPr>
      </p:sp>
      <p:sp>
        <p:nvSpPr>
          <p:cNvPr id="24" name="Text 22"/>
          <p:cNvSpPr/>
          <p:nvPr/>
        </p:nvSpPr>
        <p:spPr>
          <a:xfrm>
            <a:off x="4407408" y="1956816"/>
            <a:ext cx="777240" cy="493776"/>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0969DA"/>
                </a:solidFill>
                <a:latin typeface="Aptos Display" pitchFamily="34" charset="0"/>
                <a:ea typeface="Aptos Display" pitchFamily="34" charset="-122"/>
                <a:cs typeface="Aptos Display" pitchFamily="34" charset="-120"/>
              </a:rPr>
              <a:t>P2</a:t>
            </a:r>
            <a:endParaRPr lang="en-US" sz="3200" dirty="0"/>
          </a:p>
        </p:txBody>
      </p:sp>
      <p:sp>
        <p:nvSpPr>
          <p:cNvPr id="25" name="Shape 23"/>
          <p:cNvSpPr/>
          <p:nvPr/>
        </p:nvSpPr>
        <p:spPr>
          <a:xfrm>
            <a:off x="5486400" y="2039112"/>
            <a:ext cx="1408176" cy="310896"/>
          </a:xfrm>
          <a:prstGeom prst="roundRect">
            <a:avLst>
              <a:gd name="adj" fmla="val 17647"/>
            </a:avLst>
          </a:prstGeom>
          <a:solidFill>
            <a:srgbClr val="E7F0FC"/>
          </a:solidFill>
          <a:ln w="12700">
            <a:solidFill>
              <a:srgbClr val="E7F0FC">
                <a:alpha val="0"/>
              </a:srgbClr>
            </a:solidFill>
            <a:prstDash val="solid"/>
          </a:ln>
        </p:spPr>
      </p:sp>
      <p:sp>
        <p:nvSpPr>
          <p:cNvPr id="26" name="Text 24"/>
          <p:cNvSpPr/>
          <p:nvPr/>
        </p:nvSpPr>
        <p:spPr>
          <a:xfrm>
            <a:off x="5577840" y="2071116"/>
            <a:ext cx="1225296"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0969DA"/>
                </a:solidFill>
                <a:latin typeface="Aptos" pitchFamily="34" charset="0"/>
                <a:ea typeface="Aptos" pitchFamily="34" charset="-122"/>
                <a:cs typeface="Aptos" pitchFamily="34" charset="-120"/>
              </a:rPr>
              <a:t>COMPLETE</a:t>
            </a:r>
            <a:endParaRPr lang="en-US" sz="900" dirty="0"/>
          </a:p>
        </p:txBody>
      </p:sp>
      <p:sp>
        <p:nvSpPr>
          <p:cNvPr id="27" name="Shape 25"/>
          <p:cNvSpPr/>
          <p:nvPr/>
        </p:nvSpPr>
        <p:spPr>
          <a:xfrm>
            <a:off x="4407408" y="2670048"/>
            <a:ext cx="2651760" cy="0"/>
          </a:xfrm>
          <a:prstGeom prst="line">
            <a:avLst/>
          </a:prstGeom>
          <a:noFill/>
          <a:ln w="10160">
            <a:solidFill>
              <a:srgbClr val="D4DEEA"/>
            </a:solidFill>
            <a:prstDash val="solid"/>
            <a:tailEnd type="none"/>
          </a:ln>
        </p:spPr>
      </p:sp>
      <p:sp>
        <p:nvSpPr>
          <p:cNvPr id="28" name="Shape 26"/>
          <p:cNvSpPr/>
          <p:nvPr/>
        </p:nvSpPr>
        <p:spPr>
          <a:xfrm>
            <a:off x="4434840" y="2980944"/>
            <a:ext cx="118872" cy="118872"/>
          </a:xfrm>
          <a:prstGeom prst="ellipse">
            <a:avLst/>
          </a:prstGeom>
          <a:solidFill>
            <a:srgbClr val="0969DA"/>
          </a:solidFill>
          <a:ln w="12700">
            <a:solidFill>
              <a:srgbClr val="0969DA">
                <a:alpha val="0"/>
              </a:srgbClr>
            </a:solidFill>
            <a:prstDash val="solid"/>
          </a:ln>
        </p:spPr>
      </p:sp>
      <p:sp>
        <p:nvSpPr>
          <p:cNvPr id="29" name="Text 27"/>
          <p:cNvSpPr/>
          <p:nvPr/>
        </p:nvSpPr>
        <p:spPr>
          <a:xfrm>
            <a:off x="4672584" y="2944368"/>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3233D"/>
                </a:solidFill>
                <a:latin typeface="Aptos" pitchFamily="34" charset="0"/>
                <a:ea typeface="Aptos" pitchFamily="34" charset="-122"/>
                <a:cs typeface="Aptos" pitchFamily="34" charset="-120"/>
              </a:rPr>
              <a:t>Enterprise PR summary</a:t>
            </a:r>
            <a:endParaRPr lang="en-US" sz="1100" dirty="0"/>
          </a:p>
        </p:txBody>
      </p:sp>
      <p:sp>
        <p:nvSpPr>
          <p:cNvPr id="30" name="Shape 28"/>
          <p:cNvSpPr/>
          <p:nvPr/>
        </p:nvSpPr>
        <p:spPr>
          <a:xfrm>
            <a:off x="4434840" y="3502152"/>
            <a:ext cx="118872" cy="118872"/>
          </a:xfrm>
          <a:prstGeom prst="ellipse">
            <a:avLst/>
          </a:prstGeom>
          <a:solidFill>
            <a:srgbClr val="0969DA"/>
          </a:solidFill>
          <a:ln w="12700">
            <a:solidFill>
              <a:srgbClr val="0969DA">
                <a:alpha val="0"/>
              </a:srgbClr>
            </a:solidFill>
            <a:prstDash val="solid"/>
          </a:ln>
        </p:spPr>
      </p:sp>
      <p:sp>
        <p:nvSpPr>
          <p:cNvPr id="31" name="Text 29"/>
          <p:cNvSpPr/>
          <p:nvPr/>
        </p:nvSpPr>
        <p:spPr>
          <a:xfrm>
            <a:off x="4672584" y="3465576"/>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Deterministic added-line map</a:t>
            </a:r>
            <a:endParaRPr lang="en-US" sz="1100" dirty="0"/>
          </a:p>
        </p:txBody>
      </p:sp>
      <p:sp>
        <p:nvSpPr>
          <p:cNvPr id="32" name="Shape 30"/>
          <p:cNvSpPr/>
          <p:nvPr/>
        </p:nvSpPr>
        <p:spPr>
          <a:xfrm>
            <a:off x="4434840" y="4023360"/>
            <a:ext cx="118872" cy="118872"/>
          </a:xfrm>
          <a:prstGeom prst="ellipse">
            <a:avLst/>
          </a:prstGeom>
          <a:solidFill>
            <a:srgbClr val="0969DA"/>
          </a:solidFill>
          <a:ln w="12700">
            <a:solidFill>
              <a:srgbClr val="0969DA">
                <a:alpha val="0"/>
              </a:srgbClr>
            </a:solidFill>
            <a:prstDash val="solid"/>
          </a:ln>
        </p:spPr>
      </p:sp>
      <p:sp>
        <p:nvSpPr>
          <p:cNvPr id="33" name="Text 31"/>
          <p:cNvSpPr/>
          <p:nvPr/>
        </p:nvSpPr>
        <p:spPr>
          <a:xfrm>
            <a:off x="4672584" y="3986784"/>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Validated inline comments</a:t>
            </a:r>
            <a:endParaRPr lang="en-US" sz="1100" dirty="0"/>
          </a:p>
        </p:txBody>
      </p:sp>
      <p:sp>
        <p:nvSpPr>
          <p:cNvPr id="34" name="Shape 32"/>
          <p:cNvSpPr/>
          <p:nvPr/>
        </p:nvSpPr>
        <p:spPr>
          <a:xfrm>
            <a:off x="4434840" y="4544568"/>
            <a:ext cx="118872" cy="118872"/>
          </a:xfrm>
          <a:prstGeom prst="ellipse">
            <a:avLst/>
          </a:prstGeom>
          <a:solidFill>
            <a:srgbClr val="0969DA"/>
          </a:solidFill>
          <a:ln w="12700">
            <a:solidFill>
              <a:srgbClr val="0969DA">
                <a:alpha val="0"/>
              </a:srgbClr>
            </a:solidFill>
            <a:prstDash val="solid"/>
          </a:ln>
        </p:spPr>
      </p:sp>
      <p:sp>
        <p:nvSpPr>
          <p:cNvPr id="35" name="Text 33"/>
          <p:cNvSpPr/>
          <p:nvPr/>
        </p:nvSpPr>
        <p:spPr>
          <a:xfrm>
            <a:off x="4672584" y="4507992"/>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MCP pending review</a:t>
            </a:r>
            <a:endParaRPr lang="en-US" sz="1100" dirty="0"/>
          </a:p>
        </p:txBody>
      </p:sp>
      <p:sp>
        <p:nvSpPr>
          <p:cNvPr id="36" name="Shape 34"/>
          <p:cNvSpPr/>
          <p:nvPr/>
        </p:nvSpPr>
        <p:spPr>
          <a:xfrm>
            <a:off x="4434840" y="5065776"/>
            <a:ext cx="118872" cy="118872"/>
          </a:xfrm>
          <a:prstGeom prst="ellipse">
            <a:avLst/>
          </a:prstGeom>
          <a:solidFill>
            <a:srgbClr val="0969DA"/>
          </a:solidFill>
          <a:ln w="12700">
            <a:solidFill>
              <a:srgbClr val="0969DA">
                <a:alpha val="0"/>
              </a:srgbClr>
            </a:solidFill>
            <a:prstDash val="solid"/>
          </a:ln>
        </p:spPr>
      </p:sp>
      <p:sp>
        <p:nvSpPr>
          <p:cNvPr id="37" name="Text 35"/>
          <p:cNvSpPr/>
          <p:nvPr/>
        </p:nvSpPr>
        <p:spPr>
          <a:xfrm>
            <a:off x="4672584" y="5029200"/>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MCP COMMENT submission</a:t>
            </a:r>
            <a:endParaRPr lang="en-US" sz="1100" dirty="0"/>
          </a:p>
        </p:txBody>
      </p:sp>
      <p:sp>
        <p:nvSpPr>
          <p:cNvPr id="38" name="Shape 36"/>
          <p:cNvSpPr/>
          <p:nvPr/>
        </p:nvSpPr>
        <p:spPr>
          <a:xfrm>
            <a:off x="7589520" y="1664208"/>
            <a:ext cx="3182112" cy="4389120"/>
          </a:xfrm>
          <a:prstGeom prst="roundRect">
            <a:avLst>
              <a:gd name="adj" fmla="val 2299"/>
            </a:avLst>
          </a:prstGeom>
          <a:solidFill>
            <a:srgbClr val="FFFFFF"/>
          </a:solidFill>
          <a:ln w="12700">
            <a:solidFill>
              <a:srgbClr val="D4DEEA"/>
            </a:solidFill>
            <a:prstDash val="solid"/>
          </a:ln>
        </p:spPr>
      </p:sp>
      <p:sp>
        <p:nvSpPr>
          <p:cNvPr id="39" name="Text 37"/>
          <p:cNvSpPr/>
          <p:nvPr/>
        </p:nvSpPr>
        <p:spPr>
          <a:xfrm>
            <a:off x="7845552" y="1956816"/>
            <a:ext cx="777240" cy="493776"/>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B66A00"/>
                </a:solidFill>
                <a:latin typeface="Aptos Display" pitchFamily="34" charset="0"/>
                <a:ea typeface="Aptos Display" pitchFamily="34" charset="-122"/>
                <a:cs typeface="Aptos Display" pitchFamily="34" charset="-120"/>
              </a:rPr>
              <a:t>P3</a:t>
            </a:r>
            <a:endParaRPr lang="en-US" sz="3200" dirty="0"/>
          </a:p>
        </p:txBody>
      </p:sp>
      <p:sp>
        <p:nvSpPr>
          <p:cNvPr id="40" name="Shape 38"/>
          <p:cNvSpPr/>
          <p:nvPr/>
        </p:nvSpPr>
        <p:spPr>
          <a:xfrm>
            <a:off x="8924544" y="2039112"/>
            <a:ext cx="1408176" cy="310896"/>
          </a:xfrm>
          <a:prstGeom prst="roundRect">
            <a:avLst>
              <a:gd name="adj" fmla="val 17647"/>
            </a:avLst>
          </a:prstGeom>
          <a:solidFill>
            <a:srgbClr val="FFF3D6"/>
          </a:solidFill>
          <a:ln w="12700">
            <a:solidFill>
              <a:srgbClr val="FFF3D6">
                <a:alpha val="0"/>
              </a:srgbClr>
            </a:solidFill>
            <a:prstDash val="solid"/>
          </a:ln>
        </p:spPr>
      </p:sp>
      <p:sp>
        <p:nvSpPr>
          <p:cNvPr id="41" name="Text 39"/>
          <p:cNvSpPr/>
          <p:nvPr/>
        </p:nvSpPr>
        <p:spPr>
          <a:xfrm>
            <a:off x="9015984" y="2071116"/>
            <a:ext cx="1225296" cy="23774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B66A00"/>
                </a:solidFill>
                <a:latin typeface="Aptos" pitchFamily="34" charset="0"/>
                <a:ea typeface="Aptos" pitchFamily="34" charset="-122"/>
                <a:cs typeface="Aptos" pitchFamily="34" charset="-120"/>
              </a:rPr>
              <a:t>ROADMAP</a:t>
            </a:r>
            <a:endParaRPr lang="en-US" sz="900" dirty="0"/>
          </a:p>
        </p:txBody>
      </p:sp>
      <p:sp>
        <p:nvSpPr>
          <p:cNvPr id="42" name="Shape 40"/>
          <p:cNvSpPr/>
          <p:nvPr/>
        </p:nvSpPr>
        <p:spPr>
          <a:xfrm>
            <a:off x="7845552" y="2670048"/>
            <a:ext cx="2651760" cy="0"/>
          </a:xfrm>
          <a:prstGeom prst="line">
            <a:avLst/>
          </a:prstGeom>
          <a:noFill/>
          <a:ln w="10160">
            <a:solidFill>
              <a:srgbClr val="D4DEEA"/>
            </a:solidFill>
            <a:prstDash val="solid"/>
            <a:tailEnd type="none"/>
          </a:ln>
        </p:spPr>
      </p:sp>
      <p:sp>
        <p:nvSpPr>
          <p:cNvPr id="43" name="Shape 41"/>
          <p:cNvSpPr/>
          <p:nvPr/>
        </p:nvSpPr>
        <p:spPr>
          <a:xfrm>
            <a:off x="7872984" y="2980944"/>
            <a:ext cx="118872" cy="118872"/>
          </a:xfrm>
          <a:prstGeom prst="ellipse">
            <a:avLst/>
          </a:prstGeom>
          <a:solidFill>
            <a:srgbClr val="B66A00"/>
          </a:solidFill>
          <a:ln w="12700">
            <a:solidFill>
              <a:srgbClr val="B66A00">
                <a:alpha val="0"/>
              </a:srgbClr>
            </a:solidFill>
            <a:prstDash val="solid"/>
          </a:ln>
        </p:spPr>
      </p:sp>
      <p:sp>
        <p:nvSpPr>
          <p:cNvPr id="44" name="Text 42"/>
          <p:cNvSpPr/>
          <p:nvPr/>
        </p:nvSpPr>
        <p:spPr>
          <a:xfrm>
            <a:off x="8110728" y="2944368"/>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13233D"/>
                </a:solidFill>
                <a:latin typeface="Aptos" pitchFamily="34" charset="0"/>
                <a:ea typeface="Aptos" pitchFamily="34" charset="-122"/>
                <a:cs typeface="Aptos" pitchFamily="34" charset="-120"/>
              </a:rPr>
              <a:t>Stable finding identity</a:t>
            </a:r>
            <a:endParaRPr lang="en-US" sz="1100" dirty="0"/>
          </a:p>
        </p:txBody>
      </p:sp>
      <p:sp>
        <p:nvSpPr>
          <p:cNvPr id="45" name="Shape 43"/>
          <p:cNvSpPr/>
          <p:nvPr/>
        </p:nvSpPr>
        <p:spPr>
          <a:xfrm>
            <a:off x="7872984" y="3502152"/>
            <a:ext cx="118872" cy="118872"/>
          </a:xfrm>
          <a:prstGeom prst="ellipse">
            <a:avLst/>
          </a:prstGeom>
          <a:solidFill>
            <a:srgbClr val="B66A00"/>
          </a:solidFill>
          <a:ln w="12700">
            <a:solidFill>
              <a:srgbClr val="B66A00">
                <a:alpha val="0"/>
              </a:srgbClr>
            </a:solidFill>
            <a:prstDash val="solid"/>
          </a:ln>
        </p:spPr>
      </p:sp>
      <p:sp>
        <p:nvSpPr>
          <p:cNvPr id="46" name="Text 44"/>
          <p:cNvSpPr/>
          <p:nvPr/>
        </p:nvSpPr>
        <p:spPr>
          <a:xfrm>
            <a:off x="8110728" y="3465576"/>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Duplicate suppression</a:t>
            </a:r>
            <a:endParaRPr lang="en-US" sz="1100" dirty="0"/>
          </a:p>
        </p:txBody>
      </p:sp>
      <p:sp>
        <p:nvSpPr>
          <p:cNvPr id="47" name="Shape 45"/>
          <p:cNvSpPr/>
          <p:nvPr/>
        </p:nvSpPr>
        <p:spPr>
          <a:xfrm>
            <a:off x="7872984" y="4023360"/>
            <a:ext cx="118872" cy="118872"/>
          </a:xfrm>
          <a:prstGeom prst="ellipse">
            <a:avLst/>
          </a:prstGeom>
          <a:solidFill>
            <a:srgbClr val="B66A00"/>
          </a:solidFill>
          <a:ln w="12700">
            <a:solidFill>
              <a:srgbClr val="B66A00">
                <a:alpha val="0"/>
              </a:srgbClr>
            </a:solidFill>
            <a:prstDash val="solid"/>
          </a:ln>
        </p:spPr>
      </p:sp>
      <p:sp>
        <p:nvSpPr>
          <p:cNvPr id="48" name="Text 46"/>
          <p:cNvSpPr/>
          <p:nvPr/>
        </p:nvSpPr>
        <p:spPr>
          <a:xfrm>
            <a:off x="8110728" y="3986784"/>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Cross-commit comparison</a:t>
            </a:r>
            <a:endParaRPr lang="en-US" sz="1100" dirty="0"/>
          </a:p>
        </p:txBody>
      </p:sp>
      <p:sp>
        <p:nvSpPr>
          <p:cNvPr id="49" name="Shape 47"/>
          <p:cNvSpPr/>
          <p:nvPr/>
        </p:nvSpPr>
        <p:spPr>
          <a:xfrm>
            <a:off x="7872984" y="4544568"/>
            <a:ext cx="118872" cy="118872"/>
          </a:xfrm>
          <a:prstGeom prst="ellipse">
            <a:avLst/>
          </a:prstGeom>
          <a:solidFill>
            <a:srgbClr val="B66A00"/>
          </a:solidFill>
          <a:ln w="12700">
            <a:solidFill>
              <a:srgbClr val="B66A00">
                <a:alpha val="0"/>
              </a:srgbClr>
            </a:solidFill>
            <a:prstDash val="solid"/>
          </a:ln>
        </p:spPr>
      </p:sp>
      <p:sp>
        <p:nvSpPr>
          <p:cNvPr id="50" name="Text 48"/>
          <p:cNvSpPr/>
          <p:nvPr/>
        </p:nvSpPr>
        <p:spPr>
          <a:xfrm>
            <a:off x="8110728" y="4507992"/>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Resolved finding detection</a:t>
            </a:r>
            <a:endParaRPr lang="en-US" sz="1100" dirty="0"/>
          </a:p>
        </p:txBody>
      </p:sp>
      <p:sp>
        <p:nvSpPr>
          <p:cNvPr id="51" name="Shape 49"/>
          <p:cNvSpPr/>
          <p:nvPr/>
        </p:nvSpPr>
        <p:spPr>
          <a:xfrm>
            <a:off x="7872984" y="5065776"/>
            <a:ext cx="118872" cy="118872"/>
          </a:xfrm>
          <a:prstGeom prst="ellipse">
            <a:avLst/>
          </a:prstGeom>
          <a:solidFill>
            <a:srgbClr val="B66A00"/>
          </a:solidFill>
          <a:ln w="12700">
            <a:solidFill>
              <a:srgbClr val="B66A00">
                <a:alpha val="0"/>
              </a:srgbClr>
            </a:solidFill>
            <a:prstDash val="solid"/>
          </a:ln>
        </p:spPr>
      </p:sp>
      <p:sp>
        <p:nvSpPr>
          <p:cNvPr id="52" name="Text 50"/>
          <p:cNvSpPr/>
          <p:nvPr/>
        </p:nvSpPr>
        <p:spPr>
          <a:xfrm>
            <a:off x="8110728" y="5029200"/>
            <a:ext cx="2331720" cy="292608"/>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13233D"/>
                </a:solidFill>
                <a:latin typeface="Aptos" pitchFamily="34" charset="0"/>
                <a:ea typeface="Aptos" pitchFamily="34" charset="-122"/>
                <a:cs typeface="Aptos" pitchFamily="34" charset="-120"/>
              </a:rPr>
              <a:t>Thread lifecycle / resolution</a:t>
            </a:r>
            <a:endParaRPr lang="en-US" sz="1100" dirty="0"/>
          </a:p>
        </p:txBody>
      </p:sp>
      <p:sp>
        <p:nvSpPr>
          <p:cNvPr id="53" name="Text 51"/>
          <p:cNvSpPr/>
          <p:nvPr/>
        </p:nvSpPr>
        <p:spPr>
          <a:xfrm>
            <a:off x="914400" y="6199632"/>
            <a:ext cx="10332720" cy="201168"/>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53647B"/>
                </a:solidFill>
                <a:latin typeface="Aptos" pitchFamily="34" charset="0"/>
                <a:ea typeface="Aptos" pitchFamily="34" charset="-122"/>
                <a:cs typeface="Aptos" pitchFamily="34" charset="-120"/>
              </a:rPr>
              <a:t>P3 is not implemented. No duplicate or thread-resolution behavior is claimed.</a:t>
            </a:r>
            <a:endParaRPr lang="en-US" sz="1100" dirty="0"/>
          </a:p>
        </p:txBody>
      </p:sp>
    </p:spTree>
  </p:cSld>
  <p:clrMapOvr>
    <a:masterClrMapping/>
  </p:clrMapOvr>
</p:sld>
</file>

<file path=ppt/slides/slide8.xml><?xml version="1.0" encoding="utf-8"?>
<p:sld xmlns:a="http://schemas.openxmlformats.org/drawingml/2006/main" xmlns:p="http://schemas.openxmlformats.org/presentationml/2006/main">
  <p:cSld name="Slide 8">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730"/>
          </a:solidFill>
          <a:ln w="12700">
            <a:solidFill>
              <a:srgbClr val="0B1730">
                <a:alpha val="0"/>
              </a:srgbClr>
            </a:solidFill>
            <a:prstDash val="solid"/>
          </a:ln>
        </p:spPr>
      </p:sp>
      <p:sp>
        <p:nvSpPr>
          <p:cNvPr id="3" name="Text 1"/>
          <p:cNvSpPr/>
          <p:nvPr/>
        </p:nvSpPr>
        <p:spPr>
          <a:xfrm>
            <a:off x="566928" y="274320"/>
            <a:ext cx="7315200" cy="164592"/>
          </a:xfrm>
          <a:prstGeom prst="rect">
            <a:avLst/>
          </a:prstGeom>
          <a:noFill/>
          <a:ln/>
        </p:spPr>
        <p:txBody>
          <a:bodyPr wrap="square" lIns="0" tIns="0" rIns="0" bIns="0" rtlCol="0" anchor="ctr">
            <a:normAutofit/>
          </a:bodyPr>
          <a:lstStyle/>
          <a:p>
            <a:pPr algn="l" indent="0" marL="0">
              <a:lnSpc>
                <a:spcPct val="100000"/>
              </a:lnSpc>
              <a:buNone/>
            </a:pPr>
            <a:r>
              <a:rPr lang="en-US" sz="900" b="1" spc="80" kern="0" dirty="0">
                <a:solidFill>
                  <a:srgbClr val="54A6FF"/>
                </a:solidFill>
                <a:latin typeface="Aptos" pitchFamily="34" charset="0"/>
                <a:ea typeface="Aptos" pitchFamily="34" charset="-122"/>
                <a:cs typeface="Aptos" pitchFamily="34" charset="-120"/>
              </a:rPr>
              <a:t>DEMO FLOW  /  NEXT STEPS</a:t>
            </a:r>
            <a:endParaRPr lang="en-US" sz="900" dirty="0"/>
          </a:p>
        </p:txBody>
      </p:sp>
      <p:sp>
        <p:nvSpPr>
          <p:cNvPr id="4" name="Text 2"/>
          <p:cNvSpPr/>
          <p:nvPr/>
        </p:nvSpPr>
        <p:spPr>
          <a:xfrm>
            <a:off x="566928" y="585216"/>
            <a:ext cx="10972800" cy="475488"/>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FFFFFF"/>
                </a:solidFill>
                <a:latin typeface="Aptos Display" pitchFamily="34" charset="0"/>
                <a:ea typeface="Aptos Display" pitchFamily="34" charset="-122"/>
                <a:cs typeface="Aptos Display" pitchFamily="34" charset="-120"/>
              </a:rPr>
              <a:t>Outcome &amp; Roadmap</a:t>
            </a:r>
            <a:endParaRPr lang="en-US" sz="2700" dirty="0"/>
          </a:p>
        </p:txBody>
      </p:sp>
      <p:sp>
        <p:nvSpPr>
          <p:cNvPr id="5" name="Shape 3"/>
          <p:cNvSpPr/>
          <p:nvPr/>
        </p:nvSpPr>
        <p:spPr>
          <a:xfrm>
            <a:off x="566928" y="1216152"/>
            <a:ext cx="11064240" cy="0"/>
          </a:xfrm>
          <a:prstGeom prst="line">
            <a:avLst/>
          </a:prstGeom>
          <a:noFill/>
          <a:ln w="11430">
            <a:solidFill>
              <a:srgbClr val="294263"/>
            </a:solidFill>
            <a:prstDash val="solid"/>
            <a:tailEnd type="none"/>
          </a:ln>
        </p:spPr>
      </p:sp>
      <p:sp>
        <p:nvSpPr>
          <p:cNvPr id="6" name="Text 4"/>
          <p:cNvSpPr/>
          <p:nvPr/>
        </p:nvSpPr>
        <p:spPr>
          <a:xfrm>
            <a:off x="566928" y="6537960"/>
            <a:ext cx="5669280" cy="137160"/>
          </a:xfrm>
          <a:prstGeom prst="rect">
            <a:avLst/>
          </a:prstGeom>
          <a:noFill/>
          <a:ln/>
        </p:spPr>
        <p:txBody>
          <a:bodyPr wrap="square" lIns="0" tIns="0" rIns="0" bIns="0" rtlCol="0" anchor="ctr">
            <a:normAutofit/>
          </a:bodyPr>
          <a:lstStyle/>
          <a:p>
            <a:pPr algn="l" indent="0" marL="0">
              <a:lnSpc>
                <a:spcPct val="100000"/>
              </a:lnSpc>
              <a:buNone/>
            </a:pPr>
            <a:r>
              <a:rPr lang="en-US" sz="800" b="1" spc="40" kern="0" dirty="0">
                <a:solidFill>
                  <a:srgbClr val="99AAC0"/>
                </a:solidFill>
                <a:latin typeface="Aptos" pitchFamily="34" charset="0"/>
                <a:ea typeface="Aptos" pitchFamily="34" charset="-122"/>
                <a:cs typeface="Aptos" pitchFamily="34" charset="-120"/>
              </a:rPr>
              <a:t>AI CODE REVIEW AGENT  /  P1 + P2</a:t>
            </a:r>
            <a:endParaRPr lang="en-US" sz="800" dirty="0"/>
          </a:p>
        </p:txBody>
      </p:sp>
      <p:sp>
        <p:nvSpPr>
          <p:cNvPr id="7" name="Text 5"/>
          <p:cNvSpPr/>
          <p:nvPr/>
        </p:nvSpPr>
        <p:spPr>
          <a:xfrm>
            <a:off x="11018520" y="6510528"/>
            <a:ext cx="530352" cy="164592"/>
          </a:xfrm>
          <a:prstGeom prst="rect">
            <a:avLst/>
          </a:prstGeom>
          <a:noFill/>
          <a:ln/>
        </p:spPr>
        <p:txBody>
          <a:bodyPr wrap="square" lIns="0" tIns="0" rIns="0" bIns="0" rtlCol="0" anchor="ctr">
            <a:normAutofit/>
          </a:bodyPr>
          <a:lstStyle/>
          <a:p>
            <a:pPr algn="r" indent="0" marL="0">
              <a:lnSpc>
                <a:spcPct val="100000"/>
              </a:lnSpc>
              <a:buNone/>
            </a:pPr>
            <a:r>
              <a:rPr lang="en-US" sz="900" b="1" dirty="0">
                <a:solidFill>
                  <a:srgbClr val="54A6FF"/>
                </a:solidFill>
                <a:latin typeface="Aptos" pitchFamily="34" charset="0"/>
                <a:ea typeface="Aptos" pitchFamily="34" charset="-122"/>
                <a:cs typeface="Aptos" pitchFamily="34" charset="-120"/>
              </a:rPr>
              <a:t>08</a:t>
            </a:r>
            <a:endParaRPr lang="en-US" sz="900" dirty="0"/>
          </a:p>
        </p:txBody>
      </p:sp>
      <p:sp>
        <p:nvSpPr>
          <p:cNvPr id="8" name="Shape 6"/>
          <p:cNvSpPr/>
          <p:nvPr/>
        </p:nvSpPr>
        <p:spPr>
          <a:xfrm>
            <a:off x="704088" y="1554480"/>
            <a:ext cx="1965960" cy="749808"/>
          </a:xfrm>
          <a:prstGeom prst="roundRect">
            <a:avLst>
              <a:gd name="adj" fmla="val 8537"/>
            </a:avLst>
          </a:prstGeom>
          <a:solidFill>
            <a:srgbClr val="152846"/>
          </a:solidFill>
          <a:ln w="12700">
            <a:solidFill>
              <a:srgbClr val="345173"/>
            </a:solidFill>
            <a:prstDash val="solid"/>
          </a:ln>
        </p:spPr>
      </p:sp>
      <p:sp>
        <p:nvSpPr>
          <p:cNvPr id="9" name="Text 7"/>
          <p:cNvSpPr/>
          <p:nvPr/>
        </p:nvSpPr>
        <p:spPr>
          <a:xfrm>
            <a:off x="813816" y="1719072"/>
            <a:ext cx="1746504" cy="21031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Event-driven</a:t>
            </a:r>
            <a:endParaRPr lang="en-US" sz="1200" dirty="0"/>
          </a:p>
        </p:txBody>
      </p:sp>
      <p:sp>
        <p:nvSpPr>
          <p:cNvPr id="10" name="Text 8"/>
          <p:cNvSpPr/>
          <p:nvPr/>
        </p:nvSpPr>
        <p:spPr>
          <a:xfrm>
            <a:off x="813816" y="2011680"/>
            <a:ext cx="1746504" cy="146304"/>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54A6FF"/>
                </a:solidFill>
                <a:latin typeface="Aptos" pitchFamily="34" charset="0"/>
                <a:ea typeface="Aptos" pitchFamily="34" charset="-122"/>
                <a:cs typeface="Aptos" pitchFamily="34" charset="-120"/>
              </a:rPr>
              <a:t>Actions</a:t>
            </a:r>
            <a:endParaRPr lang="en-US" sz="800" dirty="0"/>
          </a:p>
        </p:txBody>
      </p:sp>
      <p:sp>
        <p:nvSpPr>
          <p:cNvPr id="11" name="Shape 9"/>
          <p:cNvSpPr/>
          <p:nvPr/>
        </p:nvSpPr>
        <p:spPr>
          <a:xfrm>
            <a:off x="2980944" y="1554480"/>
            <a:ext cx="1965960" cy="749808"/>
          </a:xfrm>
          <a:prstGeom prst="roundRect">
            <a:avLst>
              <a:gd name="adj" fmla="val 8537"/>
            </a:avLst>
          </a:prstGeom>
          <a:solidFill>
            <a:srgbClr val="152846"/>
          </a:solidFill>
          <a:ln w="12700">
            <a:solidFill>
              <a:srgbClr val="345173"/>
            </a:solidFill>
            <a:prstDash val="solid"/>
          </a:ln>
        </p:spPr>
      </p:sp>
      <p:sp>
        <p:nvSpPr>
          <p:cNvPr id="12" name="Text 10"/>
          <p:cNvSpPr/>
          <p:nvPr/>
        </p:nvSpPr>
        <p:spPr>
          <a:xfrm>
            <a:off x="3090672" y="1719072"/>
            <a:ext cx="1746504" cy="21031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Reusable</a:t>
            </a:r>
            <a:endParaRPr lang="en-US" sz="1200" dirty="0"/>
          </a:p>
        </p:txBody>
      </p:sp>
      <p:sp>
        <p:nvSpPr>
          <p:cNvPr id="13" name="Text 11"/>
          <p:cNvSpPr/>
          <p:nvPr/>
        </p:nvSpPr>
        <p:spPr>
          <a:xfrm>
            <a:off x="3090672" y="2011680"/>
            <a:ext cx="1746504" cy="146304"/>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54A6FF"/>
                </a:solidFill>
                <a:latin typeface="Aptos" pitchFamily="34" charset="0"/>
                <a:ea typeface="Aptos" pitchFamily="34" charset="-122"/>
                <a:cs typeface="Aptos" pitchFamily="34" charset="-120"/>
              </a:rPr>
              <a:t>Central workflow</a:t>
            </a:r>
            <a:endParaRPr lang="en-US" sz="800" dirty="0"/>
          </a:p>
        </p:txBody>
      </p:sp>
      <p:sp>
        <p:nvSpPr>
          <p:cNvPr id="14" name="Shape 12"/>
          <p:cNvSpPr/>
          <p:nvPr/>
        </p:nvSpPr>
        <p:spPr>
          <a:xfrm>
            <a:off x="5257800" y="1554480"/>
            <a:ext cx="1965960" cy="749808"/>
          </a:xfrm>
          <a:prstGeom prst="roundRect">
            <a:avLst>
              <a:gd name="adj" fmla="val 8537"/>
            </a:avLst>
          </a:prstGeom>
          <a:solidFill>
            <a:srgbClr val="152846"/>
          </a:solidFill>
          <a:ln w="12700">
            <a:solidFill>
              <a:srgbClr val="345173"/>
            </a:solidFill>
            <a:prstDash val="solid"/>
          </a:ln>
        </p:spPr>
      </p:sp>
      <p:sp>
        <p:nvSpPr>
          <p:cNvPr id="15" name="Text 13"/>
          <p:cNvSpPr/>
          <p:nvPr/>
        </p:nvSpPr>
        <p:spPr>
          <a:xfrm>
            <a:off x="5367528" y="1719072"/>
            <a:ext cx="1746504" cy="21031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MCP-based</a:t>
            </a:r>
            <a:endParaRPr lang="en-US" sz="1200" dirty="0"/>
          </a:p>
        </p:txBody>
      </p:sp>
      <p:sp>
        <p:nvSpPr>
          <p:cNvPr id="16" name="Text 14"/>
          <p:cNvSpPr/>
          <p:nvPr/>
        </p:nvSpPr>
        <p:spPr>
          <a:xfrm>
            <a:off x="5367528" y="2011680"/>
            <a:ext cx="1746504" cy="146304"/>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54A6FF"/>
                </a:solidFill>
                <a:latin typeface="Aptos" pitchFamily="34" charset="0"/>
                <a:ea typeface="Aptos" pitchFamily="34" charset="-122"/>
                <a:cs typeface="Aptos" pitchFamily="34" charset="-120"/>
              </a:rPr>
              <a:t>GitHub read + write</a:t>
            </a:r>
            <a:endParaRPr lang="en-US" sz="800" dirty="0"/>
          </a:p>
        </p:txBody>
      </p:sp>
      <p:sp>
        <p:nvSpPr>
          <p:cNvPr id="17" name="Shape 15"/>
          <p:cNvSpPr/>
          <p:nvPr/>
        </p:nvSpPr>
        <p:spPr>
          <a:xfrm>
            <a:off x="7534656" y="1554480"/>
            <a:ext cx="1965960" cy="749808"/>
          </a:xfrm>
          <a:prstGeom prst="roundRect">
            <a:avLst>
              <a:gd name="adj" fmla="val 8537"/>
            </a:avLst>
          </a:prstGeom>
          <a:solidFill>
            <a:srgbClr val="152846"/>
          </a:solidFill>
          <a:ln w="12700">
            <a:solidFill>
              <a:srgbClr val="345173"/>
            </a:solidFill>
            <a:prstDash val="solid"/>
          </a:ln>
        </p:spPr>
      </p:sp>
      <p:sp>
        <p:nvSpPr>
          <p:cNvPr id="18" name="Text 16"/>
          <p:cNvSpPr/>
          <p:nvPr/>
        </p:nvSpPr>
        <p:spPr>
          <a:xfrm>
            <a:off x="7644384" y="1719072"/>
            <a:ext cx="1746504" cy="21031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Multi-language</a:t>
            </a:r>
            <a:endParaRPr lang="en-US" sz="1200" dirty="0"/>
          </a:p>
        </p:txBody>
      </p:sp>
      <p:sp>
        <p:nvSpPr>
          <p:cNvPr id="19" name="Text 17"/>
          <p:cNvSpPr/>
          <p:nvPr/>
        </p:nvSpPr>
        <p:spPr>
          <a:xfrm>
            <a:off x="7644384" y="2011680"/>
            <a:ext cx="1746504" cy="146304"/>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54A6FF"/>
                </a:solidFill>
                <a:latin typeface="Aptos" pitchFamily="34" charset="0"/>
                <a:ea typeface="Aptos" pitchFamily="34" charset="-122"/>
                <a:cs typeface="Aptos" pitchFamily="34" charset="-120"/>
              </a:rPr>
              <a:t>Generic diff path</a:t>
            </a:r>
            <a:endParaRPr lang="en-US" sz="800" dirty="0"/>
          </a:p>
        </p:txBody>
      </p:sp>
      <p:sp>
        <p:nvSpPr>
          <p:cNvPr id="20" name="Shape 18"/>
          <p:cNvSpPr/>
          <p:nvPr/>
        </p:nvSpPr>
        <p:spPr>
          <a:xfrm>
            <a:off x="9811512" y="1554480"/>
            <a:ext cx="1965960" cy="749808"/>
          </a:xfrm>
          <a:prstGeom prst="roundRect">
            <a:avLst>
              <a:gd name="adj" fmla="val 8537"/>
            </a:avLst>
          </a:prstGeom>
          <a:solidFill>
            <a:srgbClr val="152846"/>
          </a:solidFill>
          <a:ln w="12700">
            <a:solidFill>
              <a:srgbClr val="345173"/>
            </a:solidFill>
            <a:prstDash val="solid"/>
          </a:ln>
        </p:spPr>
      </p:sp>
      <p:sp>
        <p:nvSpPr>
          <p:cNvPr id="21" name="Text 19"/>
          <p:cNvSpPr/>
          <p:nvPr/>
        </p:nvSpPr>
        <p:spPr>
          <a:xfrm>
            <a:off x="9921240" y="1719072"/>
            <a:ext cx="1746504" cy="21031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Human-controlled</a:t>
            </a:r>
            <a:endParaRPr lang="en-US" sz="1200" dirty="0"/>
          </a:p>
        </p:txBody>
      </p:sp>
      <p:sp>
        <p:nvSpPr>
          <p:cNvPr id="22" name="Text 20"/>
          <p:cNvSpPr/>
          <p:nvPr/>
        </p:nvSpPr>
        <p:spPr>
          <a:xfrm>
            <a:off x="9921240" y="2011680"/>
            <a:ext cx="1746504" cy="146304"/>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54A6FF"/>
                </a:solidFill>
                <a:latin typeface="Aptos" pitchFamily="34" charset="0"/>
                <a:ea typeface="Aptos" pitchFamily="34" charset="-122"/>
                <a:cs typeface="Aptos" pitchFamily="34" charset="-120"/>
              </a:rPr>
              <a:t>COMMENT only</a:t>
            </a:r>
            <a:endParaRPr lang="en-US" sz="800" dirty="0"/>
          </a:p>
        </p:txBody>
      </p:sp>
      <p:sp>
        <p:nvSpPr>
          <p:cNvPr id="23" name="Text 21"/>
          <p:cNvSpPr/>
          <p:nvPr/>
        </p:nvSpPr>
        <p:spPr>
          <a:xfrm>
            <a:off x="749808" y="2743200"/>
            <a:ext cx="1371600" cy="182880"/>
          </a:xfrm>
          <a:prstGeom prst="rect">
            <a:avLst/>
          </a:prstGeom>
          <a:noFill/>
          <a:ln/>
        </p:spPr>
        <p:txBody>
          <a:bodyPr wrap="square" lIns="0" tIns="0" rIns="0" bIns="0" rtlCol="0" anchor="ctr">
            <a:normAutofit/>
          </a:bodyPr>
          <a:lstStyle/>
          <a:p>
            <a:pPr algn="l" indent="0" marL="0">
              <a:lnSpc>
                <a:spcPct val="100000"/>
              </a:lnSpc>
              <a:buNone/>
            </a:pPr>
            <a:r>
              <a:rPr lang="en-US" sz="900" b="1" spc="80" kern="0" dirty="0">
                <a:solidFill>
                  <a:srgbClr val="54A6FF"/>
                </a:solidFill>
                <a:latin typeface="Aptos" pitchFamily="34" charset="0"/>
                <a:ea typeface="Aptos" pitchFamily="34" charset="-122"/>
                <a:cs typeface="Aptos" pitchFamily="34" charset="-120"/>
              </a:rPr>
              <a:t>LIVE DEMO</a:t>
            </a:r>
            <a:endParaRPr lang="en-US" sz="900" dirty="0"/>
          </a:p>
        </p:txBody>
      </p:sp>
      <p:sp>
        <p:nvSpPr>
          <p:cNvPr id="24" name="Shape 22"/>
          <p:cNvSpPr/>
          <p:nvPr/>
        </p:nvSpPr>
        <p:spPr>
          <a:xfrm>
            <a:off x="749808" y="3127248"/>
            <a:ext cx="2450592" cy="402336"/>
          </a:xfrm>
          <a:prstGeom prst="roundRect">
            <a:avLst>
              <a:gd name="adj" fmla="val 11364"/>
            </a:avLst>
          </a:prstGeom>
          <a:solidFill>
            <a:srgbClr val="1A3153"/>
          </a:solidFill>
          <a:ln w="10160">
            <a:solidFill>
              <a:srgbClr val="345173"/>
            </a:solidFill>
            <a:prstDash val="solid"/>
          </a:ln>
        </p:spPr>
      </p:sp>
      <p:sp>
        <p:nvSpPr>
          <p:cNvPr id="25" name="Text 23"/>
          <p:cNvSpPr/>
          <p:nvPr/>
        </p:nvSpPr>
        <p:spPr>
          <a:xfrm>
            <a:off x="859536" y="3218688"/>
            <a:ext cx="2231136"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1.  Show PR</a:t>
            </a:r>
            <a:endParaRPr lang="en-US" sz="1000" dirty="0"/>
          </a:p>
        </p:txBody>
      </p:sp>
      <p:sp>
        <p:nvSpPr>
          <p:cNvPr id="26" name="Shape 24"/>
          <p:cNvSpPr/>
          <p:nvPr/>
        </p:nvSpPr>
        <p:spPr>
          <a:xfrm>
            <a:off x="3529584" y="3127248"/>
            <a:ext cx="2450592" cy="402336"/>
          </a:xfrm>
          <a:prstGeom prst="roundRect">
            <a:avLst>
              <a:gd name="adj" fmla="val 11364"/>
            </a:avLst>
          </a:prstGeom>
          <a:solidFill>
            <a:srgbClr val="1A3153"/>
          </a:solidFill>
          <a:ln w="10160">
            <a:solidFill>
              <a:srgbClr val="345173"/>
            </a:solidFill>
            <a:prstDash val="solid"/>
          </a:ln>
        </p:spPr>
      </p:sp>
      <p:sp>
        <p:nvSpPr>
          <p:cNvPr id="27" name="Text 25"/>
          <p:cNvSpPr/>
          <p:nvPr/>
        </p:nvSpPr>
        <p:spPr>
          <a:xfrm>
            <a:off x="3639312" y="3218688"/>
            <a:ext cx="2231136"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2.  Push commit</a:t>
            </a:r>
            <a:endParaRPr lang="en-US" sz="1000" dirty="0"/>
          </a:p>
        </p:txBody>
      </p:sp>
      <p:sp>
        <p:nvSpPr>
          <p:cNvPr id="28" name="Shape 26"/>
          <p:cNvSpPr/>
          <p:nvPr/>
        </p:nvSpPr>
        <p:spPr>
          <a:xfrm>
            <a:off x="6309360" y="3127248"/>
            <a:ext cx="2450592" cy="402336"/>
          </a:xfrm>
          <a:prstGeom prst="roundRect">
            <a:avLst>
              <a:gd name="adj" fmla="val 11364"/>
            </a:avLst>
          </a:prstGeom>
          <a:solidFill>
            <a:srgbClr val="1A3153"/>
          </a:solidFill>
          <a:ln w="10160">
            <a:solidFill>
              <a:srgbClr val="345173"/>
            </a:solidFill>
            <a:prstDash val="solid"/>
          </a:ln>
        </p:spPr>
      </p:sp>
      <p:sp>
        <p:nvSpPr>
          <p:cNvPr id="29" name="Text 27"/>
          <p:cNvSpPr/>
          <p:nvPr/>
        </p:nvSpPr>
        <p:spPr>
          <a:xfrm>
            <a:off x="6419088" y="3218688"/>
            <a:ext cx="2231136"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3.  Actions starts</a:t>
            </a:r>
            <a:endParaRPr lang="en-US" sz="1000" dirty="0"/>
          </a:p>
        </p:txBody>
      </p:sp>
      <p:sp>
        <p:nvSpPr>
          <p:cNvPr id="30" name="Shape 28"/>
          <p:cNvSpPr/>
          <p:nvPr/>
        </p:nvSpPr>
        <p:spPr>
          <a:xfrm>
            <a:off x="9089136" y="3127248"/>
            <a:ext cx="2450592" cy="402336"/>
          </a:xfrm>
          <a:prstGeom prst="roundRect">
            <a:avLst>
              <a:gd name="adj" fmla="val 11364"/>
            </a:avLst>
          </a:prstGeom>
          <a:solidFill>
            <a:srgbClr val="1A3153"/>
          </a:solidFill>
          <a:ln w="10160">
            <a:solidFill>
              <a:srgbClr val="345173"/>
            </a:solidFill>
            <a:prstDash val="solid"/>
          </a:ln>
        </p:spPr>
      </p:sp>
      <p:sp>
        <p:nvSpPr>
          <p:cNvPr id="31" name="Text 29"/>
          <p:cNvSpPr/>
          <p:nvPr/>
        </p:nvSpPr>
        <p:spPr>
          <a:xfrm>
            <a:off x="9198864" y="3218688"/>
            <a:ext cx="2231136"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4.  MCP reads</a:t>
            </a:r>
            <a:endParaRPr lang="en-US" sz="1000" dirty="0"/>
          </a:p>
        </p:txBody>
      </p:sp>
      <p:sp>
        <p:nvSpPr>
          <p:cNvPr id="32" name="Shape 30"/>
          <p:cNvSpPr/>
          <p:nvPr/>
        </p:nvSpPr>
        <p:spPr>
          <a:xfrm>
            <a:off x="749808" y="3749040"/>
            <a:ext cx="2450592" cy="402336"/>
          </a:xfrm>
          <a:prstGeom prst="roundRect">
            <a:avLst>
              <a:gd name="adj" fmla="val 11364"/>
            </a:avLst>
          </a:prstGeom>
          <a:solidFill>
            <a:srgbClr val="1A3153"/>
          </a:solidFill>
          <a:ln w="10160">
            <a:solidFill>
              <a:srgbClr val="345173"/>
            </a:solidFill>
            <a:prstDash val="solid"/>
          </a:ln>
        </p:spPr>
      </p:sp>
      <p:sp>
        <p:nvSpPr>
          <p:cNvPr id="33" name="Text 31"/>
          <p:cNvSpPr/>
          <p:nvPr/>
        </p:nvSpPr>
        <p:spPr>
          <a:xfrm>
            <a:off x="859536" y="3840480"/>
            <a:ext cx="2231136"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5.  GEP + validation</a:t>
            </a:r>
            <a:endParaRPr lang="en-US" sz="1000" dirty="0"/>
          </a:p>
        </p:txBody>
      </p:sp>
      <p:sp>
        <p:nvSpPr>
          <p:cNvPr id="34" name="Shape 32"/>
          <p:cNvSpPr/>
          <p:nvPr/>
        </p:nvSpPr>
        <p:spPr>
          <a:xfrm>
            <a:off x="3529584" y="3749040"/>
            <a:ext cx="2450592" cy="402336"/>
          </a:xfrm>
          <a:prstGeom prst="roundRect">
            <a:avLst>
              <a:gd name="adj" fmla="val 11364"/>
            </a:avLst>
          </a:prstGeom>
          <a:solidFill>
            <a:srgbClr val="1A3153"/>
          </a:solidFill>
          <a:ln w="10160">
            <a:solidFill>
              <a:srgbClr val="345173"/>
            </a:solidFill>
            <a:prstDash val="solid"/>
          </a:ln>
        </p:spPr>
      </p:sp>
      <p:sp>
        <p:nvSpPr>
          <p:cNvPr id="35" name="Text 33"/>
          <p:cNvSpPr/>
          <p:nvPr/>
        </p:nvSpPr>
        <p:spPr>
          <a:xfrm>
            <a:off x="3639312" y="3840480"/>
            <a:ext cx="2231136"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6.  MCP publishes</a:t>
            </a:r>
            <a:endParaRPr lang="en-US" sz="1000" dirty="0"/>
          </a:p>
        </p:txBody>
      </p:sp>
      <p:sp>
        <p:nvSpPr>
          <p:cNvPr id="36" name="Shape 34"/>
          <p:cNvSpPr/>
          <p:nvPr/>
        </p:nvSpPr>
        <p:spPr>
          <a:xfrm>
            <a:off x="6309360" y="3749040"/>
            <a:ext cx="2450592" cy="402336"/>
          </a:xfrm>
          <a:prstGeom prst="roundRect">
            <a:avLst>
              <a:gd name="adj" fmla="val 11364"/>
            </a:avLst>
          </a:prstGeom>
          <a:solidFill>
            <a:srgbClr val="1A3153"/>
          </a:solidFill>
          <a:ln w="10160">
            <a:solidFill>
              <a:srgbClr val="345173"/>
            </a:solidFill>
            <a:prstDash val="solid"/>
          </a:ln>
        </p:spPr>
      </p:sp>
      <p:sp>
        <p:nvSpPr>
          <p:cNvPr id="37" name="Text 35"/>
          <p:cNvSpPr/>
          <p:nvPr/>
        </p:nvSpPr>
        <p:spPr>
          <a:xfrm>
            <a:off x="6419088" y="3840480"/>
            <a:ext cx="2231136"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7.  Inspect review</a:t>
            </a:r>
            <a:endParaRPr lang="en-US" sz="1000" dirty="0"/>
          </a:p>
        </p:txBody>
      </p:sp>
      <p:sp>
        <p:nvSpPr>
          <p:cNvPr id="38" name="Shape 36"/>
          <p:cNvSpPr/>
          <p:nvPr/>
        </p:nvSpPr>
        <p:spPr>
          <a:xfrm>
            <a:off x="9089136" y="3749040"/>
            <a:ext cx="2450592" cy="402336"/>
          </a:xfrm>
          <a:prstGeom prst="roundRect">
            <a:avLst>
              <a:gd name="adj" fmla="val 11364"/>
            </a:avLst>
          </a:prstGeom>
          <a:solidFill>
            <a:srgbClr val="1A3153"/>
          </a:solidFill>
          <a:ln w="10160">
            <a:solidFill>
              <a:srgbClr val="345173"/>
            </a:solidFill>
            <a:prstDash val="solid"/>
          </a:ln>
        </p:spPr>
      </p:sp>
      <p:sp>
        <p:nvSpPr>
          <p:cNvPr id="39" name="Text 37"/>
          <p:cNvSpPr/>
          <p:nvPr/>
        </p:nvSpPr>
        <p:spPr>
          <a:xfrm>
            <a:off x="9198864" y="3840480"/>
            <a:ext cx="2231136"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ptos" pitchFamily="34" charset="0"/>
                <a:ea typeface="Aptos" pitchFamily="34" charset="-122"/>
                <a:cs typeface="Aptos" pitchFamily="34" charset="-120"/>
              </a:rPr>
              <a:t>8.  Fix + synchronize</a:t>
            </a:r>
            <a:endParaRPr lang="en-US" sz="1000" dirty="0"/>
          </a:p>
        </p:txBody>
      </p:sp>
      <p:sp>
        <p:nvSpPr>
          <p:cNvPr id="40" name="Text 38"/>
          <p:cNvSpPr/>
          <p:nvPr/>
        </p:nvSpPr>
        <p:spPr>
          <a:xfrm>
            <a:off x="758952" y="4736592"/>
            <a:ext cx="10652760"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C9D7E9"/>
                </a:solidFill>
                <a:latin typeface="Aptos" pitchFamily="34" charset="0"/>
                <a:ea typeface="Aptos" pitchFamily="34" charset="-122"/>
                <a:cs typeface="Aptos" pitchFamily="34" charset="-120"/>
              </a:rPr>
              <a:t>NEXT: P3 lifecycle  ·  retries/backoff  ·  observability  ·  cost telemetry  ·  repo policies  ·  Azure DevOps MCP</a:t>
            </a:r>
            <a:endParaRPr lang="en-US" sz="1000" dirty="0"/>
          </a:p>
        </p:txBody>
      </p:sp>
      <p:sp>
        <p:nvSpPr>
          <p:cNvPr id="41" name="Shape 39"/>
          <p:cNvSpPr/>
          <p:nvPr/>
        </p:nvSpPr>
        <p:spPr>
          <a:xfrm>
            <a:off x="960120" y="5367528"/>
            <a:ext cx="10259568" cy="594360"/>
          </a:xfrm>
          <a:prstGeom prst="roundRect">
            <a:avLst>
              <a:gd name="adj" fmla="val 12308"/>
            </a:avLst>
          </a:prstGeom>
          <a:solidFill>
            <a:srgbClr val="173754"/>
          </a:solidFill>
          <a:ln w="13970">
            <a:solidFill>
              <a:srgbClr val="2A728B"/>
            </a:solidFill>
            <a:prstDash val="solid"/>
          </a:ln>
        </p:spPr>
      </p:sp>
      <p:sp>
        <p:nvSpPr>
          <p:cNvPr id="42" name="Text 40"/>
          <p:cNvSpPr/>
          <p:nvPr/>
        </p:nvSpPr>
        <p:spPr>
          <a:xfrm>
            <a:off x="1197864" y="5541264"/>
            <a:ext cx="9784080" cy="228600"/>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FFFFFF"/>
                </a:solidFill>
                <a:latin typeface="Aptos" pitchFamily="34" charset="0"/>
                <a:ea typeface="Aptos" pitchFamily="34" charset="-122"/>
                <a:cs typeface="Aptos" pitchFamily="34" charset="-120"/>
              </a:rPr>
              <a:t>AI accelerates first-pass review. Human reviewers retain final engineering authority.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Code Review Agent</dc:title>
  <dc:subject>P1/P2 technical mentor demonstration</dc:subject>
  <dc:creator>AI Code Review Agent</dc:creator>
  <cp:lastModifiedBy>AI Code Review Agent</cp:lastModifiedBy>
  <cp:revision>1</cp:revision>
  <dcterms:created xsi:type="dcterms:W3CDTF">2026-10-08T13:32:35Z</dcterms:created>
  <dcterms:modified xsi:type="dcterms:W3CDTF">2026-10-08T13:32:35Z</dcterms:modified>
</cp:coreProperties>
</file>